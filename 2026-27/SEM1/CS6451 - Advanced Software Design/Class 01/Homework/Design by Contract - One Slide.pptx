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thesis: Meyer replaces vague assumptions and redundant defensive checks with explicit obligations between a client and supplier. Contracts are specifications, not just runtime checks.</a:t>
            </a:r>
          </a:p>
          <a:p/>
          <a:p>
            <a:r>
              <a:t>Explain the tree example: the caller supplies a non-void node. Given valid entry conditions, successful insertion sets its parent to the current node and increases the child count by one. The parent-child consistency invariant must hold after creation and at public operation boundaries; it may be temporarily broken during internal updates.</a:t>
            </a:r>
          </a:p>
          <a:p/>
          <a:p>
            <a:r>
              <a:t>A precondition violation identifies a caller bug; a postcondition violation identifies a supplier bug. Assertions can document interfaces and help detect bugs when runtime monitoring is enabled, but do not prove correctness.</a:t>
            </a:r>
          </a:p>
          <a:p/>
          <a:p>
            <a:r>
              <a:t>Inheritance is subcontracting: a subclass may weaken preconditions or strengthen postconditions, never the reverse; inherited invariants remain in force.</a:t>
            </a:r>
          </a:p>
          <a:p/>
          <a:p>
            <a:r>
              <a:t>On failure, restore a consistent state and retry if a viable strategy exists, or propagate failure. The paper also discusses rare false alarms from operating-system or hardware signals.</a:t>
            </a:r>
          </a:p>
          <a:p/>
          <a:p>
            <a:r>
              <a:t>Do not interpret the critique of defensive programming as permission to remove input validation at external trust boundaries.</a:t>
            </a:r>
          </a:p>
          <a:p/>
          <a:p>
            <a:r>
              <a:t>Source: Bertrand Meyer, Applying “Design by Contract”, Computer, October 1992, pp. 40–51. Brightspace: https://learn.ul.ie/d2l/le/lessons/91675/topics/1401836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1">
                <a:solidFill>
                  <a:srgbClr val="52645C"/>
                </a:solidFill>
                <a:latin typeface="Arial"/>
              </a:defRPr>
            </a:pPr>
            <a:r>
              <a:t>CS6451  /  ADVANCED SOFTWARE DESIGN                                      READING: BERTRAND MEYER, 1992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400" b="1">
                <a:solidFill>
                  <a:srgbClr val="18352C"/>
                </a:solidFill>
                <a:latin typeface="Arial"/>
              </a:defRPr>
            </a:pPr>
            <a:r>
              <a:t>Design by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0">
                <a:solidFill>
                  <a:srgbClr val="18352C"/>
                </a:solidFill>
                <a:latin typeface="Arial"/>
              </a:defRPr>
            </a:pPr>
            <a:r>
              <a:t>If the caller meets the requirements, the routine must deliver its promises.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4825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200" b="1">
                <a:solidFill>
                  <a:srgbClr val="256345"/>
                </a:solidFill>
                <a:latin typeface="Arial"/>
              </a:defRPr>
            </a:pPr>
            <a:r>
              <a:t>THE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482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200" b="1">
                <a:solidFill>
                  <a:srgbClr val="256345"/>
                </a:solidFill>
                <a:latin typeface="Arial"/>
              </a:defRPr>
            </a:pPr>
            <a:r>
              <a:t>EXAMPLE: ADD A CHILD TO A TREE NODE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11155680" cy="694944"/>
          </a:xfrm>
          <a:prstGeom prst="rect">
            <a:avLst/>
          </a:prstGeom>
          <a:solidFill>
            <a:srgbClr val="E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5511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6345"/>
                </a:solidFill>
                <a:latin typeface="Arial"/>
              </a:defRPr>
            </a:pPr>
            <a:r>
              <a:t>Precondition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57860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18352C"/>
                </a:solidFill>
                <a:latin typeface="Arial"/>
              </a:defRPr>
            </a:pPr>
            <a:r>
              <a:t>Caller must satisfy it before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18352C"/>
                </a:solidFill>
                <a:latin typeface="Arial"/>
              </a:defRPr>
            </a:pPr>
            <a:r>
              <a:t>the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51176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18352C"/>
                </a:solidFill>
                <a:latin typeface="Arial"/>
              </a:defRPr>
            </a:pPr>
            <a:r>
              <a:t>new refers to an existing node.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9544"/>
            <a:ext cx="11155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291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6345"/>
                </a:solidFill>
                <a:latin typeface="Arial"/>
              </a:defRPr>
            </a:pPr>
            <a:r>
              <a:t>Postcondition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31927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18352C"/>
                </a:solidFill>
                <a:latin typeface="Arial"/>
              </a:defRPr>
            </a:pPr>
            <a:r>
              <a:t>Routine guarantees it on successful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18352C"/>
                </a:solidFill>
                <a:latin typeface="Arial"/>
              </a:defRPr>
            </a:pPr>
            <a:r>
              <a:t>return.*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18352C"/>
                </a:solidFill>
                <a:latin typeface="Arial"/>
              </a:defRPr>
            </a:pPr>
            <a:r>
              <a:t>new.parent = current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18352C"/>
                </a:solidFill>
                <a:latin typeface="Arial"/>
              </a:defRPr>
            </a:pPr>
            <a:r>
              <a:t>child count = old child count + 1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11155680" cy="694944"/>
          </a:xfrm>
          <a:prstGeom prst="rect">
            <a:avLst/>
          </a:prstGeom>
          <a:solidFill>
            <a:srgbClr val="E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3250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6345"/>
                </a:solidFill>
                <a:latin typeface="Arial"/>
              </a:defRPr>
            </a:pPr>
            <a:r>
              <a:t>Class invariant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4059936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18352C"/>
                </a:solidFill>
                <a:latin typeface="Arial"/>
              </a:defRPr>
            </a:pPr>
            <a:r>
              <a:t>Class stays consistent at public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18352C"/>
                </a:solidFill>
                <a:latin typeface="Arial"/>
              </a:defRPr>
            </a:pPr>
            <a:r>
              <a:t>boundaries.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32504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18352C"/>
                </a:solidFill>
                <a:latin typeface="Arial"/>
              </a:defRPr>
            </a:pPr>
            <a:r>
              <a:t>Each existing child points back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18352C"/>
                </a:solidFill>
                <a:latin typeface="Arial"/>
              </a:defRPr>
            </a:pPr>
            <a:r>
              <a:t>to its parent node.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73659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52645C"/>
                </a:solidFill>
                <a:latin typeface="Arial"/>
              </a:defRPr>
            </a:pPr>
            <a:r>
              <a:t>*Given valid entry conditions. Invariants hold after creation and at public operation entry/exit, not every internal step.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02936"/>
            <a:ext cx="11155680" cy="18288"/>
          </a:xfrm>
          <a:prstGeom prst="rect">
            <a:avLst/>
          </a:prstGeom>
          <a:solidFill>
            <a:srgbClr val="D5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18352C"/>
                </a:solidFill>
                <a:latin typeface="Arial"/>
              </a:defRPr>
            </a:pPr>
            <a:r>
              <a:t>Subclasses: demand no more, promise no less; preserve inherited invariants.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33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18352C"/>
                </a:solidFill>
                <a:latin typeface="Arial"/>
              </a:defRPr>
            </a:pPr>
            <a:r>
              <a:t>Failure: restore consistency, then retry or report failure — never silently claim success.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52645C"/>
                </a:solidFill>
                <a:latin typeface="Arial"/>
              </a:defRPr>
            </a:pPr>
            <a:r>
              <a:t>Meyer, “Applying ‘Design by Contract’,” Computer, October 1992, pp. 40–51.  •  Clear contracts support reliable reuse.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by Contract</dc:title>
  <dc:subject>CS6451 — one-slide reading explanation</dc:subject>
  <dc:creator>Chirag Aggarwal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