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thesis: Meyer replaces vague assumptions and redundant defensive checks with explicit obligations between a client and supplier. Contracts are specifications, not just runtime checks.</a:t>
            </a:r>
          </a:p>
          <a:p/>
          <a:p>
            <a:r>
              <a:t>Explain the tree example: the caller supplies a non-void node. Given valid entry conditions, successful insertion sets its parent to the current node and increases the child count by one. The parent-child consistency invariant must hold after creation and at public operation boundaries; it may be temporarily broken during internal updates.</a:t>
            </a:r>
          </a:p>
          <a:p/>
          <a:p>
            <a:r>
              <a:t>A precondition violation identifies a caller bug; a postcondition violation identifies a supplier bug. Assertions can document interfaces and help detect bugs when runtime monitoring is enabled, but do not prove correctness.</a:t>
            </a:r>
          </a:p>
          <a:p/>
          <a:p>
            <a:r>
              <a:t>Inheritance is subcontracting: a subclass may weaken preconditions or strengthen postconditions, never the reverse; inherited invariants remain in force.</a:t>
            </a:r>
          </a:p>
          <a:p/>
          <a:p>
            <a:r>
              <a:t>On failure, restore a consistent state and retry if a viable strategy exists, or propagate failure. The paper also discusses rare false alarms from operating-system or hardware signals.</a:t>
            </a:r>
          </a:p>
          <a:p/>
          <a:p>
            <a:r>
              <a:t>Do not interpret the critique of defensive programming as permission to remove input validation at external trust boundaries.</a:t>
            </a:r>
          </a:p>
          <a:p/>
          <a:p>
            <a:r>
              <a:t>Source: Bertrand Meyer, Applying “Design by Contract”, Computer, October 1992, pp. 40–51. Brightspace: https://learn.ul.ie/d2l/le/lessons/91675/topics/1401836</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key findings from the paper:</a:t>
            </a:r>
          </a:p>
          <a:p>
            <a:r>
              <a:t>1. Explicit contracts distinguish caller mistakes from implementation mistakes. Documentation can be extracted from interfaces and assertions, while optional assertion monitoring checks assumptions during execution (pp. 44–46). Contracts are specifications even when runtime checks are disabled.</a:t>
            </a:r>
          </a:p>
          <a:p>
            <a:r>
              <a:t>2. Inheritance is subcontracting: clients relying on the parent contract must still be served correctly. Preconditions may be weakened and postconditions strengthened; inherited invariants are retained (pp. 47–48).</a:t>
            </a:r>
          </a:p>
          <a:p>
            <a:r>
              <a:t>3. Failure handling must restore consistency and either retry or report failure. The paper also discusses rare false alarms from operating-system or hardware signals (pp. 49–51).</a:t>
            </a:r>
          </a:p>
          <a:p>
            <a:r>
              <a:t>The critique targets redundant defensive checking, not validation of untrusted external inputs. Contracts help reliability but do not guarantee bug-free software.</a:t>
            </a:r>
          </a:p>
          <a:p>
            <a:r>
              <a:t>Source: Bertrand Meyer, Applying “Design by Contract”, Computer, October 1992, pp. 40–51.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563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2000"/>
              </a:lnSpc>
              <a:spcAft>
                <a:spcPts val="0"/>
              </a:spcAft>
              <a:defRPr sz="1100" b="1">
                <a:solidFill>
                  <a:srgbClr val="52645C"/>
                </a:solidFill>
                <a:latin typeface="Arial"/>
              </a:defRPr>
            </a:pPr>
            <a:r>
              <a:t>CS6451  /  ADVANCED SOFTWARE DESIGN                                      READING: BERTRAND MEYER, 1992</a:t>
            </a:r>
          </a:p>
        </p:txBody>
      </p:sp>
      <p:sp>
        <p:nvSpPr>
          <p:cNvPr id="4" name="TextBox 3"/>
          <p:cNvSpPr txBox="1"/>
          <p:nvPr/>
        </p:nvSpPr>
        <p:spPr>
          <a:xfrm>
            <a:off x="502920" y="713232"/>
            <a:ext cx="10972800" cy="548640"/>
          </a:xfrm>
          <a:prstGeom prst="rect">
            <a:avLst/>
          </a:prstGeom>
          <a:noFill/>
        </p:spPr>
        <p:txBody>
          <a:bodyPr wrap="square" lIns="0" rIns="0" tIns="0" bIns="0">
            <a:spAutoFit/>
          </a:bodyPr>
          <a:lstStyle/>
          <a:p>
            <a:pPr>
              <a:lnSpc>
                <a:spcPct val="112000"/>
              </a:lnSpc>
              <a:spcAft>
                <a:spcPts val="0"/>
              </a:spcAft>
              <a:defRPr sz="3400" b="1">
                <a:solidFill>
                  <a:srgbClr val="18352C"/>
                </a:solidFill>
                <a:latin typeface="Arial"/>
              </a:defRPr>
            </a:pPr>
            <a:r>
              <a:t>Design by Contract</a:t>
            </a:r>
          </a:p>
        </p:txBody>
      </p:sp>
      <p:sp>
        <p:nvSpPr>
          <p:cNvPr id="5" name="TextBox 4"/>
          <p:cNvSpPr txBox="1"/>
          <p:nvPr/>
        </p:nvSpPr>
        <p:spPr>
          <a:xfrm>
            <a:off x="502920" y="1353312"/>
            <a:ext cx="10972800" cy="594360"/>
          </a:xfrm>
          <a:prstGeom prst="rect">
            <a:avLst/>
          </a:prstGeom>
          <a:noFill/>
        </p:spPr>
        <p:txBody>
          <a:bodyPr wrap="square" lIns="0" rIns="0" tIns="0" bIns="0">
            <a:spAutoFit/>
          </a:bodyPr>
          <a:lstStyle/>
          <a:p>
            <a:pPr>
              <a:lnSpc>
                <a:spcPct val="112000"/>
              </a:lnSpc>
              <a:spcAft>
                <a:spcPts val="0"/>
              </a:spcAft>
              <a:defRPr sz="2200" b="0">
                <a:solidFill>
                  <a:srgbClr val="18352C"/>
                </a:solidFill>
                <a:latin typeface="Arial"/>
              </a:defRPr>
            </a:pPr>
            <a:r>
              <a:t>If the caller meets the requirements, the routine must deliver its promises.</a:t>
            </a:r>
          </a:p>
        </p:txBody>
      </p:sp>
      <p:sp>
        <p:nvSpPr>
          <p:cNvPr id="6" name="TextBox 5"/>
          <p:cNvSpPr txBox="1"/>
          <p:nvPr/>
        </p:nvSpPr>
        <p:spPr>
          <a:xfrm>
            <a:off x="502920" y="2048256"/>
            <a:ext cx="10972800" cy="274320"/>
          </a:xfrm>
          <a:prstGeom prst="rect">
            <a:avLst/>
          </a:prstGeom>
          <a:noFill/>
        </p:spPr>
        <p:txBody>
          <a:bodyPr wrap="square" lIns="0" rIns="0" tIns="0" bIns="0">
            <a:spAutoFit/>
          </a:bodyPr>
          <a:lstStyle/>
          <a:p>
            <a:pPr>
              <a:lnSpc>
                <a:spcPct val="112000"/>
              </a:lnSpc>
              <a:spcAft>
                <a:spcPts val="0"/>
              </a:spcAft>
              <a:defRPr sz="1200" b="1">
                <a:solidFill>
                  <a:srgbClr val="256345"/>
                </a:solidFill>
                <a:latin typeface="Arial"/>
              </a:defRPr>
            </a:pPr>
            <a:r>
              <a:t>THE AGREEMENT</a:t>
            </a:r>
          </a:p>
        </p:txBody>
      </p:sp>
      <p:sp>
        <p:nvSpPr>
          <p:cNvPr id="7" name="TextBox 6"/>
          <p:cNvSpPr txBox="1"/>
          <p:nvPr/>
        </p:nvSpPr>
        <p:spPr>
          <a:xfrm>
            <a:off x="6492240" y="2048256"/>
            <a:ext cx="5212080" cy="274320"/>
          </a:xfrm>
          <a:prstGeom prst="rect">
            <a:avLst/>
          </a:prstGeom>
          <a:noFill/>
        </p:spPr>
        <p:txBody>
          <a:bodyPr wrap="square" lIns="0" rIns="0" tIns="0" bIns="0">
            <a:spAutoFit/>
          </a:bodyPr>
          <a:lstStyle/>
          <a:p>
            <a:pPr>
              <a:lnSpc>
                <a:spcPct val="112000"/>
              </a:lnSpc>
              <a:spcAft>
                <a:spcPts val="0"/>
              </a:spcAft>
              <a:defRPr sz="1200" b="1">
                <a:solidFill>
                  <a:srgbClr val="256345"/>
                </a:solidFill>
                <a:latin typeface="Arial"/>
              </a:defRPr>
            </a:pPr>
            <a:r>
              <a:t>EXAMPLE: ADD A CHILD TO A TREE NODE</a:t>
            </a:r>
          </a:p>
        </p:txBody>
      </p:sp>
      <p:sp>
        <p:nvSpPr>
          <p:cNvPr id="8" name="Rectangle 7"/>
          <p:cNvSpPr/>
          <p:nvPr/>
        </p:nvSpPr>
        <p:spPr>
          <a:xfrm>
            <a:off x="502920" y="2468880"/>
            <a:ext cx="11155680" cy="694944"/>
          </a:xfrm>
          <a:prstGeom prst="rect">
            <a:avLst/>
          </a:prstGeom>
          <a:solidFill>
            <a:srgbClr val="EF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551176"/>
            <a:ext cx="2194560" cy="320040"/>
          </a:xfrm>
          <a:prstGeom prst="rect">
            <a:avLst/>
          </a:prstGeom>
          <a:noFill/>
        </p:spPr>
        <p:txBody>
          <a:bodyPr wrap="square" lIns="0" rIns="0" tIns="0" bIns="0">
            <a:spAutoFit/>
          </a:bodyPr>
          <a:lstStyle/>
          <a:p>
            <a:pPr>
              <a:lnSpc>
                <a:spcPct val="112000"/>
              </a:lnSpc>
              <a:spcAft>
                <a:spcPts val="0"/>
              </a:spcAft>
              <a:defRPr sz="2000" b="1">
                <a:solidFill>
                  <a:srgbClr val="256345"/>
                </a:solidFill>
                <a:latin typeface="Arial"/>
              </a:defRPr>
            </a:pPr>
            <a:r>
              <a:t>Precondition</a:t>
            </a:r>
          </a:p>
        </p:txBody>
      </p:sp>
      <p:sp>
        <p:nvSpPr>
          <p:cNvPr id="10" name="TextBox 9"/>
          <p:cNvSpPr txBox="1"/>
          <p:nvPr/>
        </p:nvSpPr>
        <p:spPr>
          <a:xfrm>
            <a:off x="2852928" y="2578608"/>
            <a:ext cx="3474720" cy="548640"/>
          </a:xfrm>
          <a:prstGeom prst="rect">
            <a:avLst/>
          </a:prstGeom>
          <a:noFill/>
        </p:spPr>
        <p:txBody>
          <a:bodyPr wrap="square" lIns="0" rIns="0" tIns="0" bIns="0">
            <a:spAutoFit/>
          </a:bodyPr>
          <a:lstStyle/>
          <a:p>
            <a:pPr>
              <a:lnSpc>
                <a:spcPct val="112000"/>
              </a:lnSpc>
              <a:spcAft>
                <a:spcPts val="0"/>
              </a:spcAft>
              <a:defRPr sz="1600" b="0">
                <a:solidFill>
                  <a:srgbClr val="18352C"/>
                </a:solidFill>
                <a:latin typeface="Arial"/>
              </a:defRPr>
            </a:pPr>
            <a:r>
              <a:t>Caller must satisfy it before</a:t>
            </a:r>
          </a:p>
          <a:p>
            <a:pPr>
              <a:lnSpc>
                <a:spcPct val="112000"/>
              </a:lnSpc>
              <a:spcAft>
                <a:spcPts val="0"/>
              </a:spcAft>
              <a:defRPr sz="1600" b="0">
                <a:solidFill>
                  <a:srgbClr val="18352C"/>
                </a:solidFill>
                <a:latin typeface="Arial"/>
              </a:defRPr>
            </a:pPr>
            <a:r>
              <a:t>the call.</a:t>
            </a:r>
          </a:p>
        </p:txBody>
      </p:sp>
      <p:sp>
        <p:nvSpPr>
          <p:cNvPr id="11" name="TextBox 10"/>
          <p:cNvSpPr txBox="1"/>
          <p:nvPr/>
        </p:nvSpPr>
        <p:spPr>
          <a:xfrm>
            <a:off x="6492240" y="2551176"/>
            <a:ext cx="4846320" cy="603504"/>
          </a:xfrm>
          <a:prstGeom prst="rect">
            <a:avLst/>
          </a:prstGeom>
          <a:noFill/>
        </p:spPr>
        <p:txBody>
          <a:bodyPr wrap="square" lIns="0" rIns="0" tIns="0" bIns="0">
            <a:spAutoFit/>
          </a:bodyPr>
          <a:lstStyle/>
          <a:p>
            <a:pPr>
              <a:lnSpc>
                <a:spcPct val="112000"/>
              </a:lnSpc>
              <a:spcAft>
                <a:spcPts val="0"/>
              </a:spcAft>
              <a:defRPr sz="1800" b="0">
                <a:solidFill>
                  <a:srgbClr val="18352C"/>
                </a:solidFill>
                <a:latin typeface="Arial"/>
              </a:defRPr>
            </a:pPr>
            <a:r>
              <a:t>new refers to an existing node.</a:t>
            </a:r>
          </a:p>
        </p:txBody>
      </p:sp>
      <p:sp>
        <p:nvSpPr>
          <p:cNvPr id="12" name="Rectangle 11"/>
          <p:cNvSpPr/>
          <p:nvPr/>
        </p:nvSpPr>
        <p:spPr>
          <a:xfrm>
            <a:off x="502920" y="3209544"/>
            <a:ext cx="11155680"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3291840"/>
            <a:ext cx="2194560" cy="320040"/>
          </a:xfrm>
          <a:prstGeom prst="rect">
            <a:avLst/>
          </a:prstGeom>
          <a:noFill/>
        </p:spPr>
        <p:txBody>
          <a:bodyPr wrap="square" lIns="0" rIns="0" tIns="0" bIns="0">
            <a:spAutoFit/>
          </a:bodyPr>
          <a:lstStyle/>
          <a:p>
            <a:pPr>
              <a:lnSpc>
                <a:spcPct val="112000"/>
              </a:lnSpc>
              <a:spcAft>
                <a:spcPts val="0"/>
              </a:spcAft>
              <a:defRPr sz="2000" b="1">
                <a:solidFill>
                  <a:srgbClr val="256345"/>
                </a:solidFill>
                <a:latin typeface="Arial"/>
              </a:defRPr>
            </a:pPr>
            <a:r>
              <a:t>Postcondition</a:t>
            </a:r>
          </a:p>
        </p:txBody>
      </p:sp>
      <p:sp>
        <p:nvSpPr>
          <p:cNvPr id="14" name="TextBox 13"/>
          <p:cNvSpPr txBox="1"/>
          <p:nvPr/>
        </p:nvSpPr>
        <p:spPr>
          <a:xfrm>
            <a:off x="2852928" y="3319272"/>
            <a:ext cx="3474720" cy="548640"/>
          </a:xfrm>
          <a:prstGeom prst="rect">
            <a:avLst/>
          </a:prstGeom>
          <a:noFill/>
        </p:spPr>
        <p:txBody>
          <a:bodyPr wrap="square" lIns="0" rIns="0" tIns="0" bIns="0">
            <a:spAutoFit/>
          </a:bodyPr>
          <a:lstStyle/>
          <a:p>
            <a:pPr>
              <a:lnSpc>
                <a:spcPct val="112000"/>
              </a:lnSpc>
              <a:spcAft>
                <a:spcPts val="0"/>
              </a:spcAft>
              <a:defRPr sz="1600" b="0">
                <a:solidFill>
                  <a:srgbClr val="18352C"/>
                </a:solidFill>
                <a:latin typeface="Arial"/>
              </a:defRPr>
            </a:pPr>
            <a:r>
              <a:t>Routine guarantees it on successful</a:t>
            </a:r>
          </a:p>
          <a:p>
            <a:pPr>
              <a:lnSpc>
                <a:spcPct val="112000"/>
              </a:lnSpc>
              <a:spcAft>
                <a:spcPts val="0"/>
              </a:spcAft>
              <a:defRPr sz="1600" b="0">
                <a:solidFill>
                  <a:srgbClr val="18352C"/>
                </a:solidFill>
                <a:latin typeface="Arial"/>
              </a:defRPr>
            </a:pPr>
            <a:r>
              <a:t>return.*</a:t>
            </a:r>
          </a:p>
        </p:txBody>
      </p:sp>
      <p:sp>
        <p:nvSpPr>
          <p:cNvPr id="15" name="TextBox 14"/>
          <p:cNvSpPr txBox="1"/>
          <p:nvPr/>
        </p:nvSpPr>
        <p:spPr>
          <a:xfrm>
            <a:off x="6492240" y="3291840"/>
            <a:ext cx="4846320" cy="603504"/>
          </a:xfrm>
          <a:prstGeom prst="rect">
            <a:avLst/>
          </a:prstGeom>
          <a:noFill/>
        </p:spPr>
        <p:txBody>
          <a:bodyPr wrap="square" lIns="0" rIns="0" tIns="0" bIns="0">
            <a:spAutoFit/>
          </a:bodyPr>
          <a:lstStyle/>
          <a:p>
            <a:pPr>
              <a:lnSpc>
                <a:spcPct val="112000"/>
              </a:lnSpc>
              <a:spcAft>
                <a:spcPts val="0"/>
              </a:spcAft>
              <a:defRPr sz="1800" b="0">
                <a:solidFill>
                  <a:srgbClr val="18352C"/>
                </a:solidFill>
                <a:latin typeface="Arial"/>
              </a:defRPr>
            </a:pPr>
            <a:r>
              <a:t>new.parent = current</a:t>
            </a:r>
          </a:p>
          <a:p>
            <a:pPr>
              <a:lnSpc>
                <a:spcPct val="112000"/>
              </a:lnSpc>
              <a:spcAft>
                <a:spcPts val="0"/>
              </a:spcAft>
              <a:defRPr sz="1800" b="0">
                <a:solidFill>
                  <a:srgbClr val="18352C"/>
                </a:solidFill>
                <a:latin typeface="Arial"/>
              </a:defRPr>
            </a:pPr>
            <a:r>
              <a:t>child count = old child count + 1</a:t>
            </a:r>
          </a:p>
        </p:txBody>
      </p:sp>
      <p:sp>
        <p:nvSpPr>
          <p:cNvPr id="16" name="Rectangle 15"/>
          <p:cNvSpPr/>
          <p:nvPr/>
        </p:nvSpPr>
        <p:spPr>
          <a:xfrm>
            <a:off x="502920" y="3950208"/>
            <a:ext cx="11155680" cy="694944"/>
          </a:xfrm>
          <a:prstGeom prst="rect">
            <a:avLst/>
          </a:prstGeom>
          <a:solidFill>
            <a:srgbClr val="EF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4032504"/>
            <a:ext cx="2194560" cy="320040"/>
          </a:xfrm>
          <a:prstGeom prst="rect">
            <a:avLst/>
          </a:prstGeom>
          <a:noFill/>
        </p:spPr>
        <p:txBody>
          <a:bodyPr wrap="square" lIns="0" rIns="0" tIns="0" bIns="0">
            <a:spAutoFit/>
          </a:bodyPr>
          <a:lstStyle/>
          <a:p>
            <a:pPr>
              <a:lnSpc>
                <a:spcPct val="112000"/>
              </a:lnSpc>
              <a:spcAft>
                <a:spcPts val="0"/>
              </a:spcAft>
              <a:defRPr sz="2000" b="1">
                <a:solidFill>
                  <a:srgbClr val="256345"/>
                </a:solidFill>
                <a:latin typeface="Arial"/>
              </a:defRPr>
            </a:pPr>
            <a:r>
              <a:t>Class invariant</a:t>
            </a:r>
          </a:p>
        </p:txBody>
      </p:sp>
      <p:sp>
        <p:nvSpPr>
          <p:cNvPr id="18" name="TextBox 17"/>
          <p:cNvSpPr txBox="1"/>
          <p:nvPr/>
        </p:nvSpPr>
        <p:spPr>
          <a:xfrm>
            <a:off x="2852928" y="4059936"/>
            <a:ext cx="3474720" cy="548640"/>
          </a:xfrm>
          <a:prstGeom prst="rect">
            <a:avLst/>
          </a:prstGeom>
          <a:noFill/>
        </p:spPr>
        <p:txBody>
          <a:bodyPr wrap="square" lIns="0" rIns="0" tIns="0" bIns="0">
            <a:spAutoFit/>
          </a:bodyPr>
          <a:lstStyle/>
          <a:p>
            <a:pPr>
              <a:lnSpc>
                <a:spcPct val="112000"/>
              </a:lnSpc>
              <a:spcAft>
                <a:spcPts val="0"/>
              </a:spcAft>
              <a:defRPr sz="1600" b="0">
                <a:solidFill>
                  <a:srgbClr val="18352C"/>
                </a:solidFill>
                <a:latin typeface="Arial"/>
              </a:defRPr>
            </a:pPr>
            <a:r>
              <a:t>Class stays consistent at public</a:t>
            </a:r>
          </a:p>
          <a:p>
            <a:pPr>
              <a:lnSpc>
                <a:spcPct val="112000"/>
              </a:lnSpc>
              <a:spcAft>
                <a:spcPts val="0"/>
              </a:spcAft>
              <a:defRPr sz="1600" b="0">
                <a:solidFill>
                  <a:srgbClr val="18352C"/>
                </a:solidFill>
                <a:latin typeface="Arial"/>
              </a:defRPr>
            </a:pPr>
            <a:r>
              <a:t>boundaries.</a:t>
            </a:r>
          </a:p>
        </p:txBody>
      </p:sp>
      <p:sp>
        <p:nvSpPr>
          <p:cNvPr id="19" name="TextBox 18"/>
          <p:cNvSpPr txBox="1"/>
          <p:nvPr/>
        </p:nvSpPr>
        <p:spPr>
          <a:xfrm>
            <a:off x="6492240" y="4032504"/>
            <a:ext cx="4846320" cy="603504"/>
          </a:xfrm>
          <a:prstGeom prst="rect">
            <a:avLst/>
          </a:prstGeom>
          <a:noFill/>
        </p:spPr>
        <p:txBody>
          <a:bodyPr wrap="square" lIns="0" rIns="0" tIns="0" bIns="0">
            <a:spAutoFit/>
          </a:bodyPr>
          <a:lstStyle/>
          <a:p>
            <a:pPr>
              <a:lnSpc>
                <a:spcPct val="112000"/>
              </a:lnSpc>
              <a:spcAft>
                <a:spcPts val="0"/>
              </a:spcAft>
              <a:defRPr sz="1800" b="0">
                <a:solidFill>
                  <a:srgbClr val="18352C"/>
                </a:solidFill>
                <a:latin typeface="Arial"/>
              </a:defRPr>
            </a:pPr>
            <a:r>
              <a:t>Each existing child points back</a:t>
            </a:r>
          </a:p>
          <a:p>
            <a:pPr>
              <a:lnSpc>
                <a:spcPct val="112000"/>
              </a:lnSpc>
              <a:spcAft>
                <a:spcPts val="0"/>
              </a:spcAft>
              <a:defRPr sz="1800" b="0">
                <a:solidFill>
                  <a:srgbClr val="18352C"/>
                </a:solidFill>
                <a:latin typeface="Arial"/>
              </a:defRPr>
            </a:pPr>
            <a:r>
              <a:t>to its parent node.</a:t>
            </a:r>
          </a:p>
        </p:txBody>
      </p:sp>
      <p:sp>
        <p:nvSpPr>
          <p:cNvPr id="20" name="TextBox 19"/>
          <p:cNvSpPr txBox="1"/>
          <p:nvPr/>
        </p:nvSpPr>
        <p:spPr>
          <a:xfrm>
            <a:off x="667512" y="4736592"/>
            <a:ext cx="10972800" cy="228600"/>
          </a:xfrm>
          <a:prstGeom prst="rect">
            <a:avLst/>
          </a:prstGeom>
          <a:noFill/>
        </p:spPr>
        <p:txBody>
          <a:bodyPr wrap="square" lIns="0" rIns="0" tIns="0" bIns="0">
            <a:spAutoFit/>
          </a:bodyPr>
          <a:lstStyle/>
          <a:p>
            <a:pPr>
              <a:lnSpc>
                <a:spcPct val="112000"/>
              </a:lnSpc>
              <a:spcAft>
                <a:spcPts val="0"/>
              </a:spcAft>
              <a:defRPr sz="1100" b="0">
                <a:solidFill>
                  <a:srgbClr val="52645C"/>
                </a:solidFill>
                <a:latin typeface="Arial"/>
              </a:defRPr>
            </a:pPr>
            <a:r>
              <a:t>*Given valid entry conditions. Invariants hold after creation and at public operation entry/exit, not every internal step.</a:t>
            </a:r>
          </a:p>
        </p:txBody>
      </p:sp>
      <p:sp>
        <p:nvSpPr>
          <p:cNvPr id="21" name="Rectangle 20"/>
          <p:cNvSpPr/>
          <p:nvPr/>
        </p:nvSpPr>
        <p:spPr>
          <a:xfrm>
            <a:off x="502920" y="5202936"/>
            <a:ext cx="11155680" cy="18288"/>
          </a:xfrm>
          <a:prstGeom prst="rect">
            <a:avLst/>
          </a:prstGeom>
          <a:solidFill>
            <a:srgbClr val="D5E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5413248"/>
            <a:ext cx="10972800" cy="365760"/>
          </a:xfrm>
          <a:prstGeom prst="rect">
            <a:avLst/>
          </a:prstGeom>
          <a:noFill/>
        </p:spPr>
        <p:txBody>
          <a:bodyPr wrap="square" lIns="0" rIns="0" tIns="0" bIns="0">
            <a:spAutoFit/>
          </a:bodyPr>
          <a:lstStyle/>
          <a:p>
            <a:pPr>
              <a:lnSpc>
                <a:spcPct val="112000"/>
              </a:lnSpc>
              <a:spcAft>
                <a:spcPts val="0"/>
              </a:spcAft>
              <a:defRPr sz="2200" b="1">
                <a:solidFill>
                  <a:srgbClr val="18352C"/>
                </a:solidFill>
                <a:latin typeface="Arial"/>
              </a:defRPr>
            </a:pPr>
            <a:r>
              <a:t>A contract specifies responsibilities, not implementation details.</a:t>
            </a:r>
          </a:p>
        </p:txBody>
      </p:sp>
      <p:sp>
        <p:nvSpPr>
          <p:cNvPr id="23" name="TextBox 22"/>
          <p:cNvSpPr txBox="1"/>
          <p:nvPr/>
        </p:nvSpPr>
        <p:spPr>
          <a:xfrm>
            <a:off x="502920" y="5833872"/>
            <a:ext cx="10972800" cy="365760"/>
          </a:xfrm>
          <a:prstGeom prst="rect">
            <a:avLst/>
          </a:prstGeom>
          <a:noFill/>
        </p:spPr>
        <p:txBody>
          <a:bodyPr wrap="square" lIns="0" rIns="0" tIns="0" bIns="0">
            <a:spAutoFit/>
          </a:bodyPr>
          <a:lstStyle/>
          <a:p>
            <a:pPr>
              <a:lnSpc>
                <a:spcPct val="112000"/>
              </a:lnSpc>
              <a:spcAft>
                <a:spcPts val="0"/>
              </a:spcAft>
              <a:defRPr sz="2000" b="0">
                <a:solidFill>
                  <a:srgbClr val="18352C"/>
                </a:solidFill>
                <a:latin typeface="Arial"/>
              </a:defRPr>
            </a:pPr>
            <a:r>
              <a:t>The caller guarantees valid use; the supplier guarantees the agreed result.</a:t>
            </a:r>
          </a:p>
        </p:txBody>
      </p:sp>
      <p:sp>
        <p:nvSpPr>
          <p:cNvPr id="24" name="TextBox 23"/>
          <p:cNvSpPr txBox="1"/>
          <p:nvPr/>
        </p:nvSpPr>
        <p:spPr>
          <a:xfrm>
            <a:off x="502920" y="6400800"/>
            <a:ext cx="10972800" cy="228600"/>
          </a:xfrm>
          <a:prstGeom prst="rect">
            <a:avLst/>
          </a:prstGeom>
          <a:noFill/>
        </p:spPr>
        <p:txBody>
          <a:bodyPr wrap="square" lIns="0" rIns="0" tIns="0" bIns="0">
            <a:spAutoFit/>
          </a:bodyPr>
          <a:lstStyle/>
          <a:p>
            <a:pPr>
              <a:lnSpc>
                <a:spcPct val="112000"/>
              </a:lnSpc>
              <a:spcAft>
                <a:spcPts val="0"/>
              </a:spcAft>
              <a:defRPr sz="1100" b="0">
                <a:solidFill>
                  <a:srgbClr val="52645C"/>
                </a:solidFill>
                <a:latin typeface="Arial"/>
              </a:defRPr>
            </a:pPr>
            <a:r>
              <a:t>Meyer, “Applying ‘Design by Contract’,” Computer, October 1992, pp. 40–51.  •  Clear contracts support reliable reuse.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563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2000"/>
              </a:lnSpc>
              <a:spcAft>
                <a:spcPts val="0"/>
              </a:spcAft>
              <a:defRPr sz="1100" b="1">
                <a:solidFill>
                  <a:srgbClr val="52645C"/>
                </a:solidFill>
                <a:latin typeface="Arial"/>
              </a:defRPr>
            </a:pPr>
            <a:r>
              <a:t>CS6451  /  ADVANCED SOFTWARE DESIGN                                      KEY FINDINGS  /  2 OF 2</a:t>
            </a:r>
          </a:p>
        </p:txBody>
      </p:sp>
      <p:sp>
        <p:nvSpPr>
          <p:cNvPr id="4" name="TextBox 3"/>
          <p:cNvSpPr txBox="1"/>
          <p:nvPr/>
        </p:nvSpPr>
        <p:spPr>
          <a:xfrm>
            <a:off x="502920" y="713232"/>
            <a:ext cx="10972800" cy="548640"/>
          </a:xfrm>
          <a:prstGeom prst="rect">
            <a:avLst/>
          </a:prstGeom>
          <a:noFill/>
        </p:spPr>
        <p:txBody>
          <a:bodyPr wrap="square" lIns="0" rIns="0" tIns="0" bIns="0">
            <a:spAutoFit/>
          </a:bodyPr>
          <a:lstStyle/>
          <a:p>
            <a:pPr>
              <a:lnSpc>
                <a:spcPct val="112000"/>
              </a:lnSpc>
              <a:spcAft>
                <a:spcPts val="0"/>
              </a:spcAft>
              <a:defRPr sz="3400" b="1">
                <a:solidFill>
                  <a:srgbClr val="18352C"/>
                </a:solidFill>
                <a:latin typeface="Arial"/>
              </a:defRPr>
            </a:pPr>
            <a:r>
              <a:t>What contracts change</a:t>
            </a:r>
          </a:p>
        </p:txBody>
      </p:sp>
      <p:sp>
        <p:nvSpPr>
          <p:cNvPr id="5" name="TextBox 4"/>
          <p:cNvSpPr txBox="1"/>
          <p:nvPr/>
        </p:nvSpPr>
        <p:spPr>
          <a:xfrm>
            <a:off x="502920" y="1353312"/>
            <a:ext cx="10972800" cy="594360"/>
          </a:xfrm>
          <a:prstGeom prst="rect">
            <a:avLst/>
          </a:prstGeom>
          <a:noFill/>
        </p:spPr>
        <p:txBody>
          <a:bodyPr wrap="square" lIns="0" rIns="0" tIns="0" bIns="0">
            <a:spAutoFit/>
          </a:bodyPr>
          <a:lstStyle/>
          <a:p>
            <a:pPr>
              <a:lnSpc>
                <a:spcPct val="112000"/>
              </a:lnSpc>
              <a:spcAft>
                <a:spcPts val="0"/>
              </a:spcAft>
              <a:defRPr sz="2200" b="0">
                <a:solidFill>
                  <a:srgbClr val="18352C"/>
                </a:solidFill>
                <a:latin typeface="Arial"/>
              </a:defRPr>
            </a:pPr>
            <a:r>
              <a:t>Explicit responsibilities make software easier to reuse, debug, and extend.</a:t>
            </a:r>
          </a:p>
        </p:txBody>
      </p:sp>
      <p:sp>
        <p:nvSpPr>
          <p:cNvPr id="6" name="Rectangle 5"/>
          <p:cNvSpPr/>
          <p:nvPr/>
        </p:nvSpPr>
        <p:spPr>
          <a:xfrm>
            <a:off x="502920" y="2286000"/>
            <a:ext cx="11155680" cy="832104"/>
          </a:xfrm>
          <a:prstGeom prst="rect">
            <a:avLst/>
          </a:prstGeom>
          <a:solidFill>
            <a:srgbClr val="EF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432304"/>
            <a:ext cx="2377440" cy="502920"/>
          </a:xfrm>
          <a:prstGeom prst="rect">
            <a:avLst/>
          </a:prstGeom>
          <a:noFill/>
        </p:spPr>
        <p:txBody>
          <a:bodyPr wrap="square" lIns="0" rIns="0" tIns="0" bIns="0">
            <a:spAutoFit/>
          </a:bodyPr>
          <a:lstStyle/>
          <a:p>
            <a:pPr>
              <a:lnSpc>
                <a:spcPct val="112000"/>
              </a:lnSpc>
              <a:spcAft>
                <a:spcPts val="0"/>
              </a:spcAft>
              <a:defRPr sz="2000" b="1">
                <a:solidFill>
                  <a:srgbClr val="256345"/>
                </a:solidFill>
                <a:latin typeface="Arial"/>
              </a:defRPr>
            </a:pPr>
            <a:r>
              <a:t>Locate the bug</a:t>
            </a:r>
          </a:p>
        </p:txBody>
      </p:sp>
      <p:sp>
        <p:nvSpPr>
          <p:cNvPr id="8" name="TextBox 7"/>
          <p:cNvSpPr txBox="1"/>
          <p:nvPr/>
        </p:nvSpPr>
        <p:spPr>
          <a:xfrm>
            <a:off x="3136392" y="2432304"/>
            <a:ext cx="8275320" cy="603504"/>
          </a:xfrm>
          <a:prstGeom prst="rect">
            <a:avLst/>
          </a:prstGeom>
          <a:noFill/>
        </p:spPr>
        <p:txBody>
          <a:bodyPr wrap="square" lIns="0" rIns="0" tIns="0" bIns="0">
            <a:spAutoFit/>
          </a:bodyPr>
          <a:lstStyle/>
          <a:p>
            <a:pPr>
              <a:lnSpc>
                <a:spcPct val="112000"/>
              </a:lnSpc>
              <a:spcAft>
                <a:spcPts val="0"/>
              </a:spcAft>
              <a:defRPr sz="1700" b="0">
                <a:solidFill>
                  <a:srgbClr val="18352C"/>
                </a:solidFill>
                <a:latin typeface="Arial"/>
              </a:defRPr>
            </a:pPr>
            <a:r>
              <a:t>Broken precondition: caller bug. Broken postcondition: supplier bug.</a:t>
            </a:r>
          </a:p>
          <a:p>
            <a:pPr>
              <a:lnSpc>
                <a:spcPct val="112000"/>
              </a:lnSpc>
              <a:spcAft>
                <a:spcPts val="0"/>
              </a:spcAft>
              <a:defRPr sz="1700" b="0">
                <a:solidFill>
                  <a:srgbClr val="18352C"/>
                </a:solidFill>
                <a:latin typeface="Arial"/>
              </a:defRPr>
            </a:pPr>
            <a:r>
              <a:t>Assertions document the agreement and can check it at runtime.</a:t>
            </a:r>
          </a:p>
        </p:txBody>
      </p:sp>
      <p:sp>
        <p:nvSpPr>
          <p:cNvPr id="9" name="Rectangle 8"/>
          <p:cNvSpPr/>
          <p:nvPr/>
        </p:nvSpPr>
        <p:spPr>
          <a:xfrm>
            <a:off x="502920" y="3227832"/>
            <a:ext cx="11155680" cy="832104"/>
          </a:xfrm>
          <a:prstGeom prst="rect">
            <a:avLst/>
          </a:prstGeom>
          <a:solidFill>
            <a:srgbClr val="EF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374136"/>
            <a:ext cx="2377440" cy="502920"/>
          </a:xfrm>
          <a:prstGeom prst="rect">
            <a:avLst/>
          </a:prstGeom>
          <a:noFill/>
        </p:spPr>
        <p:txBody>
          <a:bodyPr wrap="square" lIns="0" rIns="0" tIns="0" bIns="0">
            <a:spAutoFit/>
          </a:bodyPr>
          <a:lstStyle/>
          <a:p>
            <a:pPr>
              <a:lnSpc>
                <a:spcPct val="112000"/>
              </a:lnSpc>
              <a:spcAft>
                <a:spcPts val="0"/>
              </a:spcAft>
              <a:defRPr sz="2000" b="1">
                <a:solidFill>
                  <a:srgbClr val="256345"/>
                </a:solidFill>
                <a:latin typeface="Arial"/>
              </a:defRPr>
            </a:pPr>
            <a:r>
              <a:t>Preserve promises</a:t>
            </a:r>
          </a:p>
        </p:txBody>
      </p:sp>
      <p:sp>
        <p:nvSpPr>
          <p:cNvPr id="11" name="TextBox 10"/>
          <p:cNvSpPr txBox="1"/>
          <p:nvPr/>
        </p:nvSpPr>
        <p:spPr>
          <a:xfrm>
            <a:off x="3136392" y="3374136"/>
            <a:ext cx="8275320" cy="603504"/>
          </a:xfrm>
          <a:prstGeom prst="rect">
            <a:avLst/>
          </a:prstGeom>
          <a:noFill/>
        </p:spPr>
        <p:txBody>
          <a:bodyPr wrap="square" lIns="0" rIns="0" tIns="0" bIns="0">
            <a:spAutoFit/>
          </a:bodyPr>
          <a:lstStyle/>
          <a:p>
            <a:pPr>
              <a:lnSpc>
                <a:spcPct val="112000"/>
              </a:lnSpc>
              <a:spcAft>
                <a:spcPts val="0"/>
              </a:spcAft>
              <a:defRPr sz="1700" b="0">
                <a:solidFill>
                  <a:srgbClr val="18352C"/>
                </a:solidFill>
                <a:latin typeface="Arial"/>
              </a:defRPr>
            </a:pPr>
            <a:r>
              <a:t>Subclasses must not strengthen preconditions or weaken postconditions.</a:t>
            </a:r>
          </a:p>
          <a:p>
            <a:pPr>
              <a:lnSpc>
                <a:spcPct val="112000"/>
              </a:lnSpc>
              <a:spcAft>
                <a:spcPts val="0"/>
              </a:spcAft>
              <a:defRPr sz="1700" b="0">
                <a:solidFill>
                  <a:srgbClr val="18352C"/>
                </a:solidFill>
                <a:latin typeface="Arial"/>
              </a:defRPr>
            </a:pPr>
            <a:r>
              <a:t>Inherited invariants still apply: demand no more, promise no less.</a:t>
            </a:r>
          </a:p>
        </p:txBody>
      </p:sp>
      <p:sp>
        <p:nvSpPr>
          <p:cNvPr id="12" name="Rectangle 11"/>
          <p:cNvSpPr/>
          <p:nvPr/>
        </p:nvSpPr>
        <p:spPr>
          <a:xfrm>
            <a:off x="502920" y="4169663"/>
            <a:ext cx="11155680" cy="832104"/>
          </a:xfrm>
          <a:prstGeom prst="rect">
            <a:avLst/>
          </a:prstGeom>
          <a:solidFill>
            <a:srgbClr val="EF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4315968"/>
            <a:ext cx="2377440" cy="502920"/>
          </a:xfrm>
          <a:prstGeom prst="rect">
            <a:avLst/>
          </a:prstGeom>
          <a:noFill/>
        </p:spPr>
        <p:txBody>
          <a:bodyPr wrap="square" lIns="0" rIns="0" tIns="0" bIns="0">
            <a:spAutoFit/>
          </a:bodyPr>
          <a:lstStyle/>
          <a:p>
            <a:pPr>
              <a:lnSpc>
                <a:spcPct val="112000"/>
              </a:lnSpc>
              <a:spcAft>
                <a:spcPts val="0"/>
              </a:spcAft>
              <a:defRPr sz="2000" b="1">
                <a:solidFill>
                  <a:srgbClr val="256345"/>
                </a:solidFill>
                <a:latin typeface="Arial"/>
              </a:defRPr>
            </a:pPr>
            <a:r>
              <a:t>Fail honestly</a:t>
            </a:r>
          </a:p>
        </p:txBody>
      </p:sp>
      <p:sp>
        <p:nvSpPr>
          <p:cNvPr id="14" name="TextBox 13"/>
          <p:cNvSpPr txBox="1"/>
          <p:nvPr/>
        </p:nvSpPr>
        <p:spPr>
          <a:xfrm>
            <a:off x="3136392" y="4315968"/>
            <a:ext cx="8275320" cy="603504"/>
          </a:xfrm>
          <a:prstGeom prst="rect">
            <a:avLst/>
          </a:prstGeom>
          <a:noFill/>
        </p:spPr>
        <p:txBody>
          <a:bodyPr wrap="square" lIns="0" rIns="0" tIns="0" bIns="0">
            <a:spAutoFit/>
          </a:bodyPr>
          <a:lstStyle/>
          <a:p>
            <a:pPr>
              <a:lnSpc>
                <a:spcPct val="112000"/>
              </a:lnSpc>
              <a:spcAft>
                <a:spcPts val="0"/>
              </a:spcAft>
              <a:defRPr sz="1700" b="0">
                <a:solidFill>
                  <a:srgbClr val="18352C"/>
                </a:solidFill>
                <a:latin typeface="Arial"/>
              </a:defRPr>
            </a:pPr>
            <a:r>
              <a:t>Restore a consistent state; retry if a viable strategy exists, or report failure.</a:t>
            </a:r>
          </a:p>
          <a:p>
            <a:pPr>
              <a:lnSpc>
                <a:spcPct val="112000"/>
              </a:lnSpc>
              <a:spcAft>
                <a:spcPts val="0"/>
              </a:spcAft>
              <a:defRPr sz="1700" b="0">
                <a:solidFill>
                  <a:srgbClr val="18352C"/>
                </a:solidFill>
                <a:latin typeface="Arial"/>
              </a:defRPr>
            </a:pPr>
            <a:r>
              <a:t>Do not silently return as though the contract was fulfilled.</a:t>
            </a:r>
          </a:p>
        </p:txBody>
      </p:sp>
      <p:sp>
        <p:nvSpPr>
          <p:cNvPr id="15" name="Rectangle 14"/>
          <p:cNvSpPr/>
          <p:nvPr/>
        </p:nvSpPr>
        <p:spPr>
          <a:xfrm>
            <a:off x="502920" y="5340096"/>
            <a:ext cx="11155680" cy="18288"/>
          </a:xfrm>
          <a:prstGeom prst="rect">
            <a:avLst/>
          </a:prstGeom>
          <a:solidFill>
            <a:srgbClr val="D5E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577840"/>
            <a:ext cx="10972800" cy="411480"/>
          </a:xfrm>
          <a:prstGeom prst="rect">
            <a:avLst/>
          </a:prstGeom>
          <a:noFill/>
        </p:spPr>
        <p:txBody>
          <a:bodyPr wrap="square" lIns="0" rIns="0" tIns="0" bIns="0">
            <a:spAutoFit/>
          </a:bodyPr>
          <a:lstStyle/>
          <a:p>
            <a:pPr>
              <a:lnSpc>
                <a:spcPct val="112000"/>
              </a:lnSpc>
              <a:spcAft>
                <a:spcPts val="0"/>
              </a:spcAft>
              <a:defRPr sz="2200" b="1">
                <a:solidFill>
                  <a:srgbClr val="18352C"/>
                </a:solidFill>
                <a:latin typeface="Arial"/>
              </a:defRPr>
            </a:pPr>
            <a:r>
              <a:t>Main finding: replace redundant defensive checks with clear obligations.</a:t>
            </a:r>
          </a:p>
        </p:txBody>
      </p:sp>
      <p:sp>
        <p:nvSpPr>
          <p:cNvPr id="17" name="TextBox 16"/>
          <p:cNvSpPr txBox="1"/>
          <p:nvPr/>
        </p:nvSpPr>
        <p:spPr>
          <a:xfrm>
            <a:off x="502920" y="6035040"/>
            <a:ext cx="10972800" cy="274320"/>
          </a:xfrm>
          <a:prstGeom prst="rect">
            <a:avLst/>
          </a:prstGeom>
          <a:noFill/>
        </p:spPr>
        <p:txBody>
          <a:bodyPr wrap="square" lIns="0" rIns="0" tIns="0" bIns="0">
            <a:spAutoFit/>
          </a:bodyPr>
          <a:lstStyle/>
          <a:p>
            <a:pPr>
              <a:lnSpc>
                <a:spcPct val="112000"/>
              </a:lnSpc>
              <a:spcAft>
                <a:spcPts val="0"/>
              </a:spcAft>
              <a:defRPr sz="1700" b="0">
                <a:solidFill>
                  <a:srgbClr val="52645C"/>
                </a:solidFill>
                <a:latin typeface="Arial"/>
              </a:defRPr>
            </a:pPr>
            <a:r>
              <a:t>Contracts support reliability; runtime checks alone do not prove correctness.</a:t>
            </a:r>
          </a:p>
        </p:txBody>
      </p:sp>
      <p:sp>
        <p:nvSpPr>
          <p:cNvPr id="18" name="TextBox 17"/>
          <p:cNvSpPr txBox="1"/>
          <p:nvPr/>
        </p:nvSpPr>
        <p:spPr>
          <a:xfrm>
            <a:off x="502920" y="6400800"/>
            <a:ext cx="10972800" cy="228600"/>
          </a:xfrm>
          <a:prstGeom prst="rect">
            <a:avLst/>
          </a:prstGeom>
          <a:noFill/>
        </p:spPr>
        <p:txBody>
          <a:bodyPr wrap="square" lIns="0" rIns="0" tIns="0" bIns="0">
            <a:spAutoFit/>
          </a:bodyPr>
          <a:lstStyle/>
          <a:p>
            <a:pPr>
              <a:lnSpc>
                <a:spcPct val="112000"/>
              </a:lnSpc>
              <a:spcAft>
                <a:spcPts val="0"/>
              </a:spcAft>
              <a:defRPr sz="1100" b="0">
                <a:solidFill>
                  <a:srgbClr val="52645C"/>
                </a:solidFill>
                <a:latin typeface="Arial"/>
              </a:defRPr>
            </a:pPr>
            <a:r>
              <a:t>Meyer, “Applying ‘Design by Contract’,” Computer, October 1992, pp. 40–51.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by Contract</dc:title>
  <dc:subject>CS6451 — two-slide reading explanation</dc:subject>
  <dc:creator>Chirag Aggarwal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