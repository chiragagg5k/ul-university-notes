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85"/>
    <p:restoredTop sz="94639"/>
  </p:normalViewPr>
  <p:slideViewPr>
    <p:cSldViewPr snapToGrid="0">
      <p:cViewPr varScale="1">
        <p:scale>
          <a:sx n="129" d="100"/>
          <a:sy n="129" d="100"/>
        </p:scale>
        <p:origin x="216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95224-81DD-8BE4-B41D-7400091CA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A33C6A-59A7-A873-8E53-BB869D5812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B7AB1-FCFE-7763-1FD4-96767F0E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176F-570C-FFBE-3E27-D9F3ACA44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DDEC4-0F46-03DD-8DE2-0D67E9B1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9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5217D-3F6A-BD58-115E-A2728A2FB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4D26F-F250-C06B-6A9E-8EFBDCBCA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66836-6F94-7B82-DF1E-808A8A1DD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3D6C6-F5EB-707A-F6F9-73F078669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27960-62FD-78CB-0BE8-9EDBC0768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83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71C01-0903-59BF-D2E2-9F445AAA7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876430-4CA0-C69A-E0C7-A9311548E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569AD-2F45-6CA0-F167-8AA33492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4DF80-D7A3-6A52-1E30-218218254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9F260-6905-172A-350C-7A1FD3F98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54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7DF5-63D7-B0E6-035B-5CEC1350F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DD63B-84CE-2E21-3D5F-AA3544AB27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CC7CE-3D09-2BEE-FEC6-E647828A5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ED6C7-9F7D-09AE-2E6F-357522044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87DF3-7300-52DC-E97C-EAC93F940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FEE61B-A5E6-4ECB-9881-5EFEC01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245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A9B6C-0D33-FDAD-434D-4ADFF30AF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1DB4A-6072-BFE2-318F-73FB09E6DE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A9145A-026A-1A4A-CCF3-F1C8B5296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05E70C-D2BF-C632-289C-91B6AA21A7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041677-B3C7-EF66-D610-2691D60F4B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0DF4B9-7C38-BA02-478D-EAB10B1BB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C09282-6839-0EEA-A398-E64CCA9B7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3D837C-09EE-9B83-8F9C-25F31AF1D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28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F5F0B-BC3C-B0FE-F0EF-F65FFA2DF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822F3E-B0F8-D5F7-7BDC-21BA22511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68178B-B962-2145-84B2-FB513B5D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A6E420-2F5F-0EA2-205E-7A4EF5E62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3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44264F-2617-21D3-A588-B5C092112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6397D9-7DF7-C0F7-2435-F67060EC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BAFBE-2F35-1C18-9D83-50C4A0133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65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D55CD-6DA6-F954-DF3C-B1B7ACA8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205D1-33C4-D5EF-EE94-3DEE40944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39164E-2EC2-96A9-56BA-2E1E2836EE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1FC677-03C5-8EA1-B2FD-E343196D6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027A84-B217-6BD5-55F8-C8CAC15B4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DDDFD-82AD-1200-B486-B1C774324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949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9E56-18A1-32B4-F2B8-F7D8F2996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55F8F5-985C-EF76-BECF-AA2CA50987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FDF713-4F82-700D-4637-9D44E6EBE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677E52-7201-B32B-D7A7-267C91C31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CE073-5021-B3ED-1573-C205A168C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56E7C4-9428-CCB4-9E2F-0309CABDB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53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606BA-B93E-9B6F-42CE-16BE2B7E1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D1401-500D-1B1A-276C-DB3D11F739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2455A-0EF0-87B2-6508-09A08842B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5D340-00B7-CCF9-9C85-411FA074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40536-7CC5-9955-0D51-8A496F578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727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E7891F-0D7D-72A1-088A-0BEC6E6139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19BD6-E247-D9EE-9871-388E9A70F4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4B924-3A82-DD48-2B18-C8F7DED32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639D5-A9BE-CCD9-819B-D6F0C87B3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8E0FB3-E09E-72B1-F7D4-6B17D41D2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268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2461A-776B-2A52-49BD-6D6EA157F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276BD4-846C-AA3D-F6B1-265317E4F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75910-7858-3CEC-0A42-3F03360BB0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9A0E3-0FF3-7F44-A31F-C05E1AD48662}" type="datetimeFigureOut">
              <a:rPr lang="en-US" smtClean="0"/>
              <a:t>9/12/26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97D29-C76B-CA34-C51C-5103E305E3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3E574-535E-C7BD-4162-EE18618C3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2A279-F1DC-7946-B380-BFE1A85FA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74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F1843-6927-FC76-C744-625A5C9D77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13822" y="0"/>
            <a:ext cx="6225207" cy="915850"/>
          </a:xfrm>
        </p:spPr>
        <p:txBody>
          <a:bodyPr>
            <a:normAutofit/>
          </a:bodyPr>
          <a:lstStyle/>
          <a:p>
            <a:r>
              <a:rPr lang="en-US" sz="4400" dirty="0"/>
              <a:t>What is a contract?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B93CCA-062A-D54E-2836-C46F68DFD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7138" y="984371"/>
            <a:ext cx="11420061" cy="50544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contract is just a set of obligations a “client” and a “supplier” agree on, both benefiting each other.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1F435F-184C-196E-8836-B898B1BE6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813" y="1928191"/>
            <a:ext cx="4203700" cy="2616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906CB9-1BD1-7DF8-EA57-322D7D00CC26}"/>
              </a:ext>
            </a:extLst>
          </p:cNvPr>
          <p:cNvSpPr txBox="1"/>
          <p:nvPr/>
        </p:nvSpPr>
        <p:spPr>
          <a:xfrm>
            <a:off x="284922" y="1558338"/>
            <a:ext cx="680830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Taking the given example,</a:t>
            </a:r>
          </a:p>
          <a:p>
            <a:r>
              <a:rPr lang="en-US" i="1" dirty="0"/>
              <a:t>put_child </a:t>
            </a:r>
            <a:r>
              <a:rPr lang="en-US" dirty="0"/>
              <a:t>-&gt; method / routine / function that the client calls.</a:t>
            </a:r>
          </a:p>
          <a:p>
            <a:endParaRPr lang="en-US" dirty="0"/>
          </a:p>
          <a:p>
            <a:r>
              <a:rPr lang="en-US" dirty="0"/>
              <a:t>Types of conditions -&gt;</a:t>
            </a:r>
          </a:p>
          <a:p>
            <a:r>
              <a:rPr lang="en-US" sz="1600" dirty="0"/>
              <a:t>1. Precondition –&gt; </a:t>
            </a:r>
            <a:r>
              <a:rPr lang="en-US" sz="1600" i="1" dirty="0"/>
              <a:t>new != void</a:t>
            </a:r>
          </a:p>
          <a:p>
            <a:r>
              <a:rPr lang="en-US" sz="1600" i="1" dirty="0"/>
              <a:t>        - client’s obligation that new is always non-null value.</a:t>
            </a:r>
          </a:p>
          <a:p>
            <a:r>
              <a:rPr lang="en-US" sz="1600" i="1" dirty="0"/>
              <a:t>        - supplier’s benefit it doesn’t need to do a null check</a:t>
            </a:r>
          </a:p>
          <a:p>
            <a:r>
              <a:rPr lang="en-US" i="1" dirty="0"/>
              <a:t> </a:t>
            </a:r>
          </a:p>
          <a:p>
            <a:r>
              <a:rPr lang="en-US" sz="1600" dirty="0"/>
              <a:t>2. Postcondition</a:t>
            </a:r>
            <a:r>
              <a:rPr lang="en-US" sz="1600" i="1" dirty="0"/>
              <a:t> -</a:t>
            </a:r>
            <a:r>
              <a:rPr lang="en-US" sz="1600" dirty="0"/>
              <a:t>&gt;</a:t>
            </a:r>
            <a:r>
              <a:rPr lang="en-US" sz="1600" i="1" dirty="0"/>
              <a:t> new.parent = Current; child_count = old child_count + 1</a:t>
            </a:r>
          </a:p>
          <a:p>
            <a:r>
              <a:rPr lang="en-US" sz="1600" i="1" dirty="0"/>
              <a:t>     - client’s benefit that parent is modified + child count increments</a:t>
            </a:r>
          </a:p>
          <a:p>
            <a:r>
              <a:rPr lang="en-US" sz="1600" i="1" dirty="0"/>
              <a:t>     - supplier’s obligation to do that modification</a:t>
            </a:r>
            <a:endParaRPr lang="en-US" dirty="0"/>
          </a:p>
          <a:p>
            <a:endParaRPr lang="en-US" dirty="0"/>
          </a:p>
          <a:p>
            <a:r>
              <a:rPr lang="en-US" u="sng" dirty="0"/>
              <a:t>Class invariant </a:t>
            </a:r>
            <a:r>
              <a:rPr lang="en-US" dirty="0"/>
              <a:t>-&gt;</a:t>
            </a:r>
          </a:p>
          <a:p>
            <a:r>
              <a:rPr lang="en-US" sz="1600" dirty="0"/>
              <a:t>Something that must stay true for all routines of a class, checking during entry/exit of a routine, not during one.</a:t>
            </a:r>
          </a:p>
          <a:p>
            <a:endParaRPr lang="en-US" dirty="0"/>
          </a:p>
          <a:p>
            <a:r>
              <a:rPr lang="en-US" dirty="0" err="1"/>
              <a:t>Eg.</a:t>
            </a:r>
            <a:r>
              <a:rPr lang="en-US" dirty="0"/>
              <a:t> Here is for a binary tree, in which it states if either left or right node is not null, means that node’s parent is our “current node”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44EABF-27C1-1EE4-459F-0F106E763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813" y="4934157"/>
            <a:ext cx="429260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171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59E60A1-C84C-E51E-333D-E77A35132D71}"/>
              </a:ext>
            </a:extLst>
          </p:cNvPr>
          <p:cNvSpPr txBox="1">
            <a:spLocks/>
          </p:cNvSpPr>
          <p:nvPr/>
        </p:nvSpPr>
        <p:spPr>
          <a:xfrm>
            <a:off x="3084443" y="137043"/>
            <a:ext cx="6225207" cy="915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Why a contract matters?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DFB082C-5AB3-4464-761D-55810D816B07}"/>
              </a:ext>
            </a:extLst>
          </p:cNvPr>
          <p:cNvSpPr txBox="1">
            <a:spLocks/>
          </p:cNvSpPr>
          <p:nvPr/>
        </p:nvSpPr>
        <p:spPr>
          <a:xfrm>
            <a:off x="2504661" y="975141"/>
            <a:ext cx="11420061" cy="5054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It ensures reliability by making responsibilities explicit and clear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8E28B1-47C9-9792-E3B0-0B74DEE84BCE}"/>
              </a:ext>
            </a:extLst>
          </p:cNvPr>
          <p:cNvSpPr txBox="1"/>
          <p:nvPr/>
        </p:nvSpPr>
        <p:spPr>
          <a:xfrm>
            <a:off x="284922" y="1558338"/>
            <a:ext cx="6384235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Avoid defensive programming</a:t>
            </a:r>
          </a:p>
          <a:p>
            <a:r>
              <a:rPr lang="en-US" sz="1600" dirty="0"/>
              <a:t>If both client and supplier ensure their side of contracts are upheld, we can reduce unnecessary checks, e.g. -&gt;</a:t>
            </a:r>
          </a:p>
          <a:p>
            <a:endParaRPr lang="en-US" sz="1600" dirty="0"/>
          </a:p>
          <a:p>
            <a:r>
              <a:rPr lang="en-US" dirty="0"/>
              <a:t>2. You can pinpoint issues better</a:t>
            </a:r>
          </a:p>
          <a:p>
            <a:r>
              <a:rPr lang="en-US" sz="1600" dirty="0"/>
              <a:t>Take the same example,</a:t>
            </a:r>
          </a:p>
          <a:p>
            <a:r>
              <a:rPr lang="en-US" sz="1600" dirty="0"/>
              <a:t>If “new” node is supplied as null, always the client should be blamed, not the supplier.</a:t>
            </a:r>
          </a:p>
          <a:p>
            <a:endParaRPr lang="en-US" sz="1600" dirty="0"/>
          </a:p>
          <a:p>
            <a:r>
              <a:rPr lang="en-US" dirty="0"/>
              <a:t>3. Enables inheritance programming</a:t>
            </a:r>
          </a:p>
          <a:p>
            <a:r>
              <a:rPr lang="en-US" sz="1600" dirty="0"/>
              <a:t>E.g. First class’s precondition defines how much space “vehicle needs”</a:t>
            </a:r>
          </a:p>
          <a:p>
            <a:r>
              <a:rPr lang="en-US" sz="1600" dirty="0"/>
              <a:t>Inherited Car can weaken that less space is needed (client obligation)</a:t>
            </a:r>
          </a:p>
          <a:p>
            <a:r>
              <a:rPr lang="en-US" sz="1600" dirty="0"/>
              <a:t>And strengthen the response (supplier’s obligation)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23F1B2-C319-3FE9-6225-A2BF8C9AC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157" y="1387417"/>
            <a:ext cx="5070889" cy="20997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87E2F06-088B-3C57-C085-1B535C0A54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391" y="3693239"/>
            <a:ext cx="4474542" cy="302771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9902FEA-5C83-94B0-2674-64CC15CD8A66}"/>
              </a:ext>
            </a:extLst>
          </p:cNvPr>
          <p:cNvSpPr/>
          <p:nvPr/>
        </p:nvSpPr>
        <p:spPr>
          <a:xfrm>
            <a:off x="424069" y="5207098"/>
            <a:ext cx="6105939" cy="104360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dirty="0"/>
              <a:t>Meyer emphasizes focusing more on the “specification”/contract rather than unnecessary checks to build more reliable software.</a:t>
            </a:r>
          </a:p>
        </p:txBody>
      </p:sp>
    </p:spTree>
    <p:extLst>
      <p:ext uri="{BB962C8B-B14F-4D97-AF65-F5344CB8AC3E}">
        <p14:creationId xmlns:p14="http://schemas.microsoft.com/office/powerpoint/2010/main" val="1622369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322</Words>
  <Application>Microsoft Macintosh PowerPoint</Application>
  <PresentationFormat>Widescreen</PresentationFormat>
  <Paragraphs>34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What is a contract?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Chirag  Aggarwal</dc:creator>
  <cp:lastModifiedBy>Chirag  Aggarwal</cp:lastModifiedBy>
  <cp:revision>1</cp:revision>
  <dcterms:created xsi:type="dcterms:W3CDTF">2026-09-12T18:00:33Z</dcterms:created>
  <dcterms:modified xsi:type="dcterms:W3CDTF">2026-09-12T18:51:54Z</dcterms:modified>
</cp:coreProperties>
</file>