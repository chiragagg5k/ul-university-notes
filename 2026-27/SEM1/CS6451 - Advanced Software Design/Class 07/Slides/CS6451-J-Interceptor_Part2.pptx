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  <p:sldMasterId id="2147483685" r:id="rId2"/>
  </p:sldMasterIdLst>
  <p:notesMasterIdLst>
    <p:notesMasterId r:id="rId40"/>
  </p:notesMasterIdLst>
  <p:handoutMasterIdLst>
    <p:handoutMasterId r:id="rId41"/>
  </p:handoutMasterIdLst>
  <p:sldIdLst>
    <p:sldId id="641" r:id="rId3"/>
    <p:sldId id="642" r:id="rId4"/>
    <p:sldId id="601" r:id="rId5"/>
    <p:sldId id="643" r:id="rId6"/>
    <p:sldId id="658" r:id="rId7"/>
    <p:sldId id="604" r:id="rId8"/>
    <p:sldId id="659" r:id="rId9"/>
    <p:sldId id="615" r:id="rId10"/>
    <p:sldId id="611" r:id="rId11"/>
    <p:sldId id="612" r:id="rId12"/>
    <p:sldId id="660" r:id="rId13"/>
    <p:sldId id="617" r:id="rId14"/>
    <p:sldId id="618" r:id="rId15"/>
    <p:sldId id="619" r:id="rId16"/>
    <p:sldId id="620" r:id="rId17"/>
    <p:sldId id="621" r:id="rId18"/>
    <p:sldId id="622" r:id="rId19"/>
    <p:sldId id="623" r:id="rId20"/>
    <p:sldId id="624" r:id="rId21"/>
    <p:sldId id="625" r:id="rId22"/>
    <p:sldId id="626" r:id="rId23"/>
    <p:sldId id="627" r:id="rId24"/>
    <p:sldId id="628" r:id="rId25"/>
    <p:sldId id="629" r:id="rId26"/>
    <p:sldId id="630" r:id="rId27"/>
    <p:sldId id="631" r:id="rId28"/>
    <p:sldId id="632" r:id="rId29"/>
    <p:sldId id="633" r:id="rId30"/>
    <p:sldId id="634" r:id="rId31"/>
    <p:sldId id="635" r:id="rId32"/>
    <p:sldId id="661" r:id="rId33"/>
    <p:sldId id="636" r:id="rId34"/>
    <p:sldId id="637" r:id="rId35"/>
    <p:sldId id="640" r:id="rId36"/>
    <p:sldId id="639" r:id="rId37"/>
    <p:sldId id="638" r:id="rId38"/>
    <p:sldId id="662" r:id="rId39"/>
  </p:sldIdLst>
  <p:sldSz cx="9144000" cy="6858000" type="screen4x3"/>
  <p:notesSz cx="6794500" cy="9906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8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3888" y="-78"/>
      </p:cViewPr>
      <p:guideLst>
        <p:guide orient="horz" pos="3120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microsoft.com/office/2016/11/relationships/changesInfo" Target="changesInfos/changesInfo1.xml"/><Relationship Id="rId20" Type="http://schemas.openxmlformats.org/officeDocument/2006/relationships/slide" Target="slides/slide18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.J.Collins" userId="936e7121-291b-49d4-83b2-aee52c8c8513" providerId="ADAL" clId="{985CE113-D73E-4FB9-A18D-351F89CF89A7}"/>
    <pc:docChg chg="custSel modSld">
      <pc:chgData name="J.J.Collins" userId="936e7121-291b-49d4-83b2-aee52c8c8513" providerId="ADAL" clId="{985CE113-D73E-4FB9-A18D-351F89CF89A7}" dt="2026-10-21T08:49:14.064" v="90" actId="20577"/>
      <pc:docMkLst>
        <pc:docMk/>
      </pc:docMkLst>
      <pc:sldChg chg="modSp mod">
        <pc:chgData name="J.J.Collins" userId="936e7121-291b-49d4-83b2-aee52c8c8513" providerId="ADAL" clId="{985CE113-D73E-4FB9-A18D-351F89CF89A7}" dt="2026-10-21T08:49:14.064" v="90" actId="20577"/>
        <pc:sldMkLst>
          <pc:docMk/>
          <pc:sldMk cId="3683839649" sldId="641"/>
        </pc:sldMkLst>
        <pc:spChg chg="mod">
          <ac:chgData name="J.J.Collins" userId="936e7121-291b-49d4-83b2-aee52c8c8513" providerId="ADAL" clId="{985CE113-D73E-4FB9-A18D-351F89CF89A7}" dt="2026-10-21T08:49:14.064" v="90" actId="20577"/>
          <ac:spMkLst>
            <pc:docMk/>
            <pc:sldMk cId="3683839649" sldId="641"/>
            <ac:spMk id="2" creationId="{C7DFCB0A-7993-BA4C-8272-98FAE8DB736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ABC780-FF4F-4CC2-BC65-F84389FF52CF}" type="datetimeFigureOut">
              <a:rPr lang="en-IE" smtClean="0"/>
              <a:pPr/>
              <a:t>21/10/2026</a:t>
            </a:fld>
            <a:endParaRPr lang="en-I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09113"/>
            <a:ext cx="29448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100" y="9409113"/>
            <a:ext cx="29448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90B5D2-61FD-45B2-9AFC-6B33A435FC1B}" type="slidenum">
              <a:rPr lang="en-IE" smtClean="0"/>
              <a:pPr/>
              <a:t>‹#›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752642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4799" cy="495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94" tIns="46296" rIns="92594" bIns="46296" numCol="1" anchor="t" anchorCtr="0" compatLnSpc="1">
            <a:prstTxWarp prst="textNoShape">
              <a:avLst/>
            </a:prstTxWarp>
          </a:bodyPr>
          <a:lstStyle>
            <a:lvl1pPr defTabSz="925182">
              <a:defRPr sz="12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8158" y="1"/>
            <a:ext cx="2944799" cy="495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94" tIns="46296" rIns="92594" bIns="46296" numCol="1" anchor="t" anchorCtr="0" compatLnSpc="1">
            <a:prstTxWarp prst="textNoShape">
              <a:avLst/>
            </a:prstTxWarp>
          </a:bodyPr>
          <a:lstStyle>
            <a:lvl1pPr algn="r" defTabSz="925182">
              <a:defRPr sz="12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2950"/>
            <a:ext cx="4953000" cy="3714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04418"/>
            <a:ext cx="5435600" cy="4458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94" tIns="46296" rIns="92594" bIns="4629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08836"/>
            <a:ext cx="2944799" cy="495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94" tIns="46296" rIns="92594" bIns="46296" numCol="1" anchor="b" anchorCtr="0" compatLnSpc="1">
            <a:prstTxWarp prst="textNoShape">
              <a:avLst/>
            </a:prstTxWarp>
          </a:bodyPr>
          <a:lstStyle>
            <a:lvl1pPr defTabSz="925182">
              <a:defRPr sz="12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8158" y="9408836"/>
            <a:ext cx="2944799" cy="495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94" tIns="46296" rIns="92594" bIns="46296" numCol="1" anchor="b" anchorCtr="0" compatLnSpc="1">
            <a:prstTxWarp prst="textNoShape">
              <a:avLst/>
            </a:prstTxWarp>
          </a:bodyPr>
          <a:lstStyle>
            <a:lvl1pPr algn="r" defTabSz="925182">
              <a:defRPr sz="1200" smtClean="0"/>
            </a:lvl1pPr>
          </a:lstStyle>
          <a:p>
            <a:pPr>
              <a:defRPr/>
            </a:pPr>
            <a:fld id="{56460A59-BFF2-49B0-B928-C19206FAC36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7994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F67C853-57FE-4939-9628-185A638C34D2}" type="datetime1">
              <a:rPr lang="en-IE" altLang="en-US" smtClean="0"/>
              <a:pPr>
                <a:defRPr/>
              </a:pPr>
              <a:t>21/10/2026</a:t>
            </a:fld>
            <a:endParaRPr lang="en-US" alt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598AF47-F08A-4DCA-93EF-939EDDD12EF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4D8614-AB12-4A7E-BF61-1147A919501C}" type="datetime1">
              <a:rPr lang="en-IE" altLang="en-US" smtClean="0"/>
              <a:pPr>
                <a:defRPr/>
              </a:pPr>
              <a:t>21/10/2026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3F4E989-F763-4004-9F33-B18218F0D50C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C433DB-BCFC-4310-9F7F-1C8F3AD45479}" type="datetime1">
              <a:rPr lang="en-IE" altLang="en-US" smtClean="0"/>
              <a:pPr>
                <a:defRPr/>
              </a:pPr>
              <a:t>21/10/2026</a:t>
            </a:fld>
            <a:endParaRPr lang="en-US" alt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0A91BB6-497B-4839-967A-EA6D9914CFA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fld id="{4311D215-BA9E-4C20-90A9-31022DC4831D}" type="datetime1">
              <a:rPr lang="en-IE" altLang="en-US" smtClean="0"/>
              <a:pPr>
                <a:defRPr/>
              </a:pPr>
              <a:t>21/10/2026</a:t>
            </a:fld>
            <a:endParaRPr lang="en-US" alt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0648E497-A616-4859-A0DF-4BA5CABE57E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fld id="{6216A2F4-1D3E-454D-B115-F51396D0BEBB}" type="datetime1">
              <a:rPr lang="en-IE" altLang="en-US" smtClean="0"/>
              <a:pPr>
                <a:defRPr/>
              </a:pPr>
              <a:t>21/10/2026</a:t>
            </a:fld>
            <a:endParaRPr lang="en-US" alt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B94DC2D9-30B9-4049-9B86-2532513D9AF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744151-BB17-467B-B51D-7BFA18DA24BA}" type="datetime1">
              <a:rPr lang="en-IE" altLang="en-US" smtClean="0"/>
              <a:pPr>
                <a:defRPr/>
              </a:pPr>
              <a:t>21/10/2026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CF1C200-D0F8-4752-AD82-D25E5C4A565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07A9376-35A6-4B81-B949-DEB2AA0DF648}" type="datetime1">
              <a:rPr lang="en-IE" altLang="en-US" smtClean="0"/>
              <a:pPr>
                <a:defRPr/>
              </a:pPr>
              <a:t>21/10/2026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998C907-BED7-4BEF-86D0-11B8F47E0544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A730E3-A19B-4751-927C-7ABF6B086EFF}" type="datetime1">
              <a:rPr lang="en-IE" altLang="en-US" smtClean="0"/>
              <a:pPr>
                <a:defRPr/>
              </a:pPr>
              <a:t>21/10/2026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17E0547-DAE4-49F5-A8FA-DAE668C78A4A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pPr>
              <a:defRPr/>
            </a:pPr>
            <a:fld id="{482A34AC-81F9-4F73-9A41-8235A23DA3FE}" type="datetime1">
              <a:rPr lang="en-IE" altLang="en-US" smtClean="0"/>
              <a:pPr>
                <a:defRPr/>
              </a:pPr>
              <a:t>21/10/2026</a:t>
            </a:fld>
            <a:endParaRPr lang="en-US" alt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A7F3C2ED-DD26-476B-ABDC-43132E82FD6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E3DF63-345C-431A-8338-31C211883CF1}" type="datetime1">
              <a:rPr lang="en-IE" altLang="en-US" smtClean="0"/>
              <a:pPr>
                <a:defRPr/>
              </a:pPr>
              <a:t>21/10/2026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D8D015-45C9-4A2B-B88A-F38A471C24B3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pPr>
              <a:defRPr/>
            </a:pPr>
            <a:fld id="{069A3530-A611-4295-8D44-41F8AFAC014D}" type="datetime1">
              <a:rPr lang="en-IE" altLang="en-US" smtClean="0"/>
              <a:pPr>
                <a:defRPr/>
              </a:pPr>
              <a:t>21/10/2026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pPr>
              <a:defRPr/>
            </a:pPr>
            <a:fld id="{14330123-D32A-4C19-864A-C31EED3A9E64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0E4EAE5D-52BB-9147-BA7E-A01CD851FC0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8390" y="0"/>
            <a:ext cx="381361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1375154624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B72F0-795F-DC49-8A85-915BF0F26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953" y="5249620"/>
            <a:ext cx="5669446" cy="537713"/>
          </a:xfrm>
        </p:spPr>
        <p:txBody>
          <a:bodyPr anchor="t">
            <a:normAutofit/>
          </a:bodyPr>
          <a:lstStyle>
            <a:lvl1pPr algn="l">
              <a:defRPr sz="253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E1192D-1B69-A648-85CB-F16FFBDED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953" y="5787333"/>
            <a:ext cx="5669446" cy="537713"/>
          </a:xfrm>
        </p:spPr>
        <p:txBody>
          <a:bodyPr anchor="t">
            <a:normAutofit/>
          </a:bodyPr>
          <a:lstStyle>
            <a:lvl1pPr marL="0" indent="0" algn="l">
              <a:buNone/>
              <a:defRPr sz="1968">
                <a:solidFill>
                  <a:srgbClr val="00A956"/>
                </a:solidFill>
                <a:latin typeface="Georgia" panose="02040502050405020303" pitchFamily="18" charset="0"/>
              </a:defRPr>
            </a:lvl1pPr>
            <a:lvl2pPr marL="342879" indent="0" algn="ctr">
              <a:buNone/>
              <a:defRPr sz="1500"/>
            </a:lvl2pPr>
            <a:lvl3pPr marL="685758" indent="0" algn="ctr">
              <a:buNone/>
              <a:defRPr sz="1350"/>
            </a:lvl3pPr>
            <a:lvl4pPr marL="1028637" indent="0" algn="ctr">
              <a:buNone/>
              <a:defRPr sz="1200"/>
            </a:lvl4pPr>
            <a:lvl5pPr marL="1371516" indent="0" algn="ctr">
              <a:buNone/>
              <a:defRPr sz="1200"/>
            </a:lvl5pPr>
            <a:lvl6pPr marL="1714395" indent="0" algn="ctr">
              <a:buNone/>
              <a:defRPr sz="1200"/>
            </a:lvl6pPr>
            <a:lvl7pPr marL="2057274" indent="0" algn="ctr">
              <a:buNone/>
              <a:defRPr sz="1200"/>
            </a:lvl7pPr>
            <a:lvl8pPr marL="2400153" indent="0" algn="ctr">
              <a:buNone/>
              <a:defRPr sz="1200"/>
            </a:lvl8pPr>
            <a:lvl9pPr marL="2743033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973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683AE-721B-8E45-86D0-EDEFBB6DA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52" y="2527595"/>
            <a:ext cx="6074407" cy="454274"/>
          </a:xfrm>
        </p:spPr>
        <p:txBody>
          <a:bodyPr anchor="t"/>
          <a:lstStyle>
            <a:lvl1pPr>
              <a:defRPr sz="25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79186-9A63-804D-B992-7A2615733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952" y="2981869"/>
            <a:ext cx="6074407" cy="447131"/>
          </a:xfrm>
        </p:spPr>
        <p:txBody>
          <a:bodyPr anchor="t"/>
          <a:lstStyle>
            <a:lvl1pPr marL="0" indent="0">
              <a:buNone/>
              <a:defRPr sz="1687">
                <a:solidFill>
                  <a:srgbClr val="005336"/>
                </a:solidFill>
              </a:defRPr>
            </a:lvl1pPr>
            <a:lvl2pPr marL="34287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58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3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1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39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5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3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03FE8-725B-C542-9752-0F0519FD7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A956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262716B-0319-2E48-8A4F-A486A8CCA02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03314" y="3645569"/>
            <a:ext cx="1336369" cy="51038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04787F-D361-3E40-984A-D6B2F134C9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953" y="3402531"/>
            <a:ext cx="1336369" cy="100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894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D57A8-4F44-A743-9523-4F882D6B3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F2297-C797-C746-BFFC-71DBB9070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BC500-FEB0-E34F-8384-75379BA52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23037-7A0A-9643-8F64-D23E831E5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CD8BA-88AE-0D4A-A7D5-B98698AD4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C47E-4B7D-1647-9F80-3037E352F9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721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661D3-730A-F844-A2DE-9B4F97F8A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3EF49-F03E-114E-B38A-058193C2BD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5953" y="1628355"/>
            <a:ext cx="3886200" cy="12046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="1"/>
            </a:lvl1pPr>
            <a:lvl2pPr marL="342879" indent="0">
              <a:buNone/>
              <a:defRPr/>
            </a:lvl2pPr>
            <a:lvl3pPr marL="685759" indent="0">
              <a:buNone/>
              <a:defRPr/>
            </a:lvl3pPr>
            <a:lvl4pPr marL="1028637" indent="0">
              <a:buNone/>
              <a:defRPr/>
            </a:lvl4pPr>
            <a:lvl5pPr marL="137151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38C761-09FD-F940-A379-C15FF3112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628354"/>
            <a:ext cx="3743503" cy="4351338"/>
          </a:xfrm>
        </p:spPr>
        <p:txBody>
          <a:bodyPr/>
          <a:lstStyle>
            <a:lvl1pPr>
              <a:lnSpc>
                <a:spcPts val="2418"/>
              </a:lnSpc>
              <a:defRPr sz="1406" b="1"/>
            </a:lvl1pPr>
            <a:lvl2pPr>
              <a:lnSpc>
                <a:spcPts val="2418"/>
              </a:lnSpc>
              <a:defRPr sz="1406" b="1"/>
            </a:lvl2pPr>
            <a:lvl3pPr>
              <a:lnSpc>
                <a:spcPts val="2418"/>
              </a:lnSpc>
              <a:defRPr sz="1406" b="1"/>
            </a:lvl3pPr>
            <a:lvl4pPr>
              <a:lnSpc>
                <a:spcPts val="2418"/>
              </a:lnSpc>
              <a:defRPr sz="1406" b="1"/>
            </a:lvl4pPr>
            <a:lvl5pPr>
              <a:lnSpc>
                <a:spcPts val="2418"/>
              </a:lnSpc>
              <a:defRPr sz="1406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82B8F-8DDB-EA48-8C5E-1872A88E9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E16B0F-AE69-BD45-95F8-32FB5910E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92152-6566-5E4A-89B9-969A87DF8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C47E-4B7D-1647-9F80-3037E352F95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22E7E51-C183-8145-ABEB-A2DDF19FB9A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85953" y="2940152"/>
            <a:ext cx="3886200" cy="303954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0"/>
            </a:lvl1pPr>
            <a:lvl2pPr marL="342879" indent="0">
              <a:buNone/>
              <a:defRPr/>
            </a:lvl2pPr>
            <a:lvl3pPr marL="685759" indent="0">
              <a:buNone/>
              <a:defRPr/>
            </a:lvl3pPr>
            <a:lvl4pPr marL="1028637" indent="0">
              <a:buNone/>
              <a:defRPr/>
            </a:lvl4pPr>
            <a:lvl5pPr marL="137151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4461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&amp; Pictur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661D3-730A-F844-A2DE-9B4F97F8A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3EF49-F03E-114E-B38A-058193C2BD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5954" y="1628355"/>
            <a:ext cx="3644644" cy="12046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="1"/>
            </a:lvl1pPr>
            <a:lvl2pPr marL="342879" indent="0">
              <a:buNone/>
              <a:defRPr/>
            </a:lvl2pPr>
            <a:lvl3pPr marL="685759" indent="0">
              <a:buNone/>
              <a:defRPr/>
            </a:lvl3pPr>
            <a:lvl4pPr marL="1028637" indent="0">
              <a:buNone/>
              <a:defRPr/>
            </a:lvl4pPr>
            <a:lvl5pPr marL="137151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82B8F-8DDB-EA48-8C5E-1872A88E9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E16B0F-AE69-BD45-95F8-32FB5910E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92152-6566-5E4A-89B9-969A87DF8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C47E-4B7D-1647-9F80-3037E352F95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22E7E51-C183-8145-ABEB-A2DDF19FB9A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85954" y="2940152"/>
            <a:ext cx="3644644" cy="303954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0"/>
            </a:lvl1pPr>
            <a:lvl2pPr marL="342879" indent="0">
              <a:buNone/>
              <a:defRPr/>
            </a:lvl2pPr>
            <a:lvl3pPr marL="685759" indent="0">
              <a:buNone/>
              <a:defRPr/>
            </a:lvl3pPr>
            <a:lvl4pPr marL="1028637" indent="0">
              <a:buNone/>
              <a:defRPr/>
            </a:lvl4pPr>
            <a:lvl5pPr marL="137151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00852C3-1AE9-6D47-B34A-4970BBFD8C3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52085" y="1628355"/>
            <a:ext cx="4454565" cy="364556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2410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Bullet Tex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68B0D1-E995-3245-959F-3166EEDDA7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5760000"/>
          </a:xfrm>
        </p:spPr>
        <p:txBody>
          <a:bodyPr/>
          <a:lstStyle>
            <a:lvl1pPr marL="0" indent="0">
              <a:buNone/>
              <a:defRPr sz="2400"/>
            </a:lvl1pPr>
            <a:lvl2pPr marL="342879" indent="0">
              <a:buNone/>
              <a:defRPr sz="2100"/>
            </a:lvl2pPr>
            <a:lvl3pPr marL="685758" indent="0">
              <a:buNone/>
              <a:defRPr sz="1800"/>
            </a:lvl3pPr>
            <a:lvl4pPr marL="1028637" indent="0">
              <a:buNone/>
              <a:defRPr sz="1500"/>
            </a:lvl4pPr>
            <a:lvl5pPr marL="1371516" indent="0">
              <a:buNone/>
              <a:defRPr sz="1500"/>
            </a:lvl5pPr>
            <a:lvl6pPr marL="1714395" indent="0">
              <a:buNone/>
              <a:defRPr sz="1500"/>
            </a:lvl6pPr>
            <a:lvl7pPr marL="2057274" indent="0">
              <a:buNone/>
              <a:defRPr sz="1500"/>
            </a:lvl7pPr>
            <a:lvl8pPr marL="2400153" indent="0">
              <a:buNone/>
              <a:defRPr sz="1500"/>
            </a:lvl8pPr>
            <a:lvl9pPr marL="2743033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1F2900-C118-A14E-B938-836275F297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187" t="2468"/>
          <a:stretch/>
        </p:blipFill>
        <p:spPr>
          <a:xfrm>
            <a:off x="0" y="0"/>
            <a:ext cx="4304786" cy="57615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71DBFB-D718-9E4A-B9E5-3A856A8BD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53" y="826329"/>
            <a:ext cx="2949178" cy="961316"/>
          </a:xfrm>
        </p:spPr>
        <p:txBody>
          <a:bodyPr anchor="t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83F82-1B7B-8841-8682-164A9DAE0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5953" y="2057401"/>
            <a:ext cx="2949178" cy="3537030"/>
          </a:xfrm>
        </p:spPr>
        <p:txBody>
          <a:bodyPr/>
          <a:lstStyle>
            <a:lvl1pPr marL="192847" indent="-192847">
              <a:lnSpc>
                <a:spcPts val="225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6" b="1">
                <a:solidFill>
                  <a:schemeClr val="bg1"/>
                </a:solidFill>
              </a:defRPr>
            </a:lvl1pPr>
            <a:lvl2pPr marL="342879" indent="0">
              <a:buNone/>
              <a:defRPr sz="1050"/>
            </a:lvl2pPr>
            <a:lvl3pPr marL="685758" indent="0">
              <a:buNone/>
              <a:defRPr sz="900"/>
            </a:lvl3pPr>
            <a:lvl4pPr marL="1028637" indent="0">
              <a:buNone/>
              <a:defRPr sz="750"/>
            </a:lvl4pPr>
            <a:lvl5pPr marL="1371516" indent="0">
              <a:buNone/>
              <a:defRPr sz="750"/>
            </a:lvl5pPr>
            <a:lvl6pPr marL="1714395" indent="0">
              <a:buNone/>
              <a:defRPr sz="750"/>
            </a:lvl6pPr>
            <a:lvl7pPr marL="2057274" indent="0">
              <a:buNone/>
              <a:defRPr sz="750"/>
            </a:lvl7pPr>
            <a:lvl8pPr marL="2400153" indent="0">
              <a:buNone/>
              <a:defRPr sz="750"/>
            </a:lvl8pPr>
            <a:lvl9pPr marL="2743033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BE757-A7B3-EC49-B81F-E4004CBD0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DCB14-3FFF-4946-A910-047852840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811BA-6058-7E4C-BF7B-D24B11BC9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C47E-4B7D-1647-9F80-3037E352F9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1213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ransparent Picture with Bullet Tex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68B0D1-E995-3245-959F-3166EEDDA7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5760000"/>
          </a:xfrm>
        </p:spPr>
        <p:txBody>
          <a:bodyPr/>
          <a:lstStyle>
            <a:lvl1pPr marL="0" indent="0">
              <a:buNone/>
              <a:defRPr sz="2400"/>
            </a:lvl1pPr>
            <a:lvl2pPr marL="342879" indent="0">
              <a:buNone/>
              <a:defRPr sz="2100"/>
            </a:lvl2pPr>
            <a:lvl3pPr marL="685758" indent="0">
              <a:buNone/>
              <a:defRPr sz="1800"/>
            </a:lvl3pPr>
            <a:lvl4pPr marL="1028637" indent="0">
              <a:buNone/>
              <a:defRPr sz="1500"/>
            </a:lvl4pPr>
            <a:lvl5pPr marL="1371516" indent="0">
              <a:buNone/>
              <a:defRPr sz="1500"/>
            </a:lvl5pPr>
            <a:lvl6pPr marL="1714395" indent="0">
              <a:buNone/>
              <a:defRPr sz="1500"/>
            </a:lvl6pPr>
            <a:lvl7pPr marL="2057274" indent="0">
              <a:buNone/>
              <a:defRPr sz="1500"/>
            </a:lvl7pPr>
            <a:lvl8pPr marL="2400153" indent="0">
              <a:buNone/>
              <a:defRPr sz="1500"/>
            </a:lvl8pPr>
            <a:lvl9pPr marL="2743033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1F2900-C118-A14E-B938-836275F297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187" t="2468"/>
          <a:stretch/>
        </p:blipFill>
        <p:spPr>
          <a:xfrm>
            <a:off x="0" y="0"/>
            <a:ext cx="4304786" cy="57615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71DBFB-D718-9E4A-B9E5-3A856A8BD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53" y="826329"/>
            <a:ext cx="2949178" cy="961316"/>
          </a:xfrm>
        </p:spPr>
        <p:txBody>
          <a:bodyPr anchor="t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83F82-1B7B-8841-8682-164A9DAE0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5953" y="2057401"/>
            <a:ext cx="2949178" cy="3537030"/>
          </a:xfrm>
        </p:spPr>
        <p:txBody>
          <a:bodyPr/>
          <a:lstStyle>
            <a:lvl1pPr marL="192847" indent="-192847">
              <a:lnSpc>
                <a:spcPts val="225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6" b="1">
                <a:solidFill>
                  <a:schemeClr val="bg1"/>
                </a:solidFill>
              </a:defRPr>
            </a:lvl1pPr>
            <a:lvl2pPr marL="342879" indent="0">
              <a:buNone/>
              <a:defRPr sz="1050"/>
            </a:lvl2pPr>
            <a:lvl3pPr marL="685758" indent="0">
              <a:buNone/>
              <a:defRPr sz="900"/>
            </a:lvl3pPr>
            <a:lvl4pPr marL="1028637" indent="0">
              <a:buNone/>
              <a:defRPr sz="750"/>
            </a:lvl4pPr>
            <a:lvl5pPr marL="1371516" indent="0">
              <a:buNone/>
              <a:defRPr sz="750"/>
            </a:lvl5pPr>
            <a:lvl6pPr marL="1714395" indent="0">
              <a:buNone/>
              <a:defRPr sz="750"/>
            </a:lvl6pPr>
            <a:lvl7pPr marL="2057274" indent="0">
              <a:buNone/>
              <a:defRPr sz="750"/>
            </a:lvl7pPr>
            <a:lvl8pPr marL="2400153" indent="0">
              <a:buNone/>
              <a:defRPr sz="750"/>
            </a:lvl8pPr>
            <a:lvl9pPr marL="2743033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BE757-A7B3-EC49-B81F-E4004CBD0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DCB14-3FFF-4946-A910-047852840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811BA-6058-7E4C-BF7B-D24B11BC9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C47E-4B7D-1647-9F80-3037E352F9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4339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Tex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68B0D1-E995-3245-959F-3166EEDDA7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5760000"/>
          </a:xfrm>
        </p:spPr>
        <p:txBody>
          <a:bodyPr/>
          <a:lstStyle>
            <a:lvl1pPr marL="0" indent="0">
              <a:buNone/>
              <a:defRPr sz="2400"/>
            </a:lvl1pPr>
            <a:lvl2pPr marL="342879" indent="0">
              <a:buNone/>
              <a:defRPr sz="2100"/>
            </a:lvl2pPr>
            <a:lvl3pPr marL="685758" indent="0">
              <a:buNone/>
              <a:defRPr sz="1800"/>
            </a:lvl3pPr>
            <a:lvl4pPr marL="1028637" indent="0">
              <a:buNone/>
              <a:defRPr sz="1500"/>
            </a:lvl4pPr>
            <a:lvl5pPr marL="1371516" indent="0">
              <a:buNone/>
              <a:defRPr sz="1500"/>
            </a:lvl5pPr>
            <a:lvl6pPr marL="1714395" indent="0">
              <a:buNone/>
              <a:defRPr sz="1500"/>
            </a:lvl6pPr>
            <a:lvl7pPr marL="2057274" indent="0">
              <a:buNone/>
              <a:defRPr sz="1500"/>
            </a:lvl7pPr>
            <a:lvl8pPr marL="2400153" indent="0">
              <a:buNone/>
              <a:defRPr sz="1500"/>
            </a:lvl8pPr>
            <a:lvl9pPr marL="2743033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6267A8-E11A-BC4B-ABF0-35302C5B76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187" t="2468"/>
          <a:stretch/>
        </p:blipFill>
        <p:spPr>
          <a:xfrm>
            <a:off x="0" y="-1553"/>
            <a:ext cx="4304786" cy="57615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71DBFB-D718-9E4A-B9E5-3A856A8BD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53" y="826329"/>
            <a:ext cx="2949178" cy="961316"/>
          </a:xfrm>
        </p:spPr>
        <p:txBody>
          <a:bodyPr anchor="t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83F82-1B7B-8841-8682-164A9DAE0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5953" y="2057401"/>
            <a:ext cx="2949178" cy="3537030"/>
          </a:xfrm>
        </p:spPr>
        <p:txBody>
          <a:bodyPr/>
          <a:lstStyle>
            <a:lvl1pPr marL="0" indent="0">
              <a:lnSpc>
                <a:spcPts val="2250"/>
              </a:lnSpc>
              <a:spcBef>
                <a:spcPts val="0"/>
              </a:spcBef>
              <a:buFont typeface="Arial" panose="020B0604020202020204" pitchFamily="34" charset="0"/>
              <a:buNone/>
              <a:defRPr sz="1406" b="1">
                <a:solidFill>
                  <a:schemeClr val="bg1"/>
                </a:solidFill>
              </a:defRPr>
            </a:lvl1pPr>
            <a:lvl2pPr marL="342879" indent="0">
              <a:buNone/>
              <a:defRPr sz="1050"/>
            </a:lvl2pPr>
            <a:lvl3pPr marL="685758" indent="0">
              <a:buNone/>
              <a:defRPr sz="900"/>
            </a:lvl3pPr>
            <a:lvl4pPr marL="1028637" indent="0">
              <a:buNone/>
              <a:defRPr sz="750"/>
            </a:lvl4pPr>
            <a:lvl5pPr marL="1371516" indent="0">
              <a:buNone/>
              <a:defRPr sz="750"/>
            </a:lvl5pPr>
            <a:lvl6pPr marL="1714395" indent="0">
              <a:buNone/>
              <a:defRPr sz="750"/>
            </a:lvl6pPr>
            <a:lvl7pPr marL="2057274" indent="0">
              <a:buNone/>
              <a:defRPr sz="750"/>
            </a:lvl7pPr>
            <a:lvl8pPr marL="2400153" indent="0">
              <a:buNone/>
              <a:defRPr sz="750"/>
            </a:lvl8pPr>
            <a:lvl9pPr marL="2743033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BE757-A7B3-EC49-B81F-E4004CBD0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DCB14-3FFF-4946-A910-047852840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811BA-6058-7E4C-BF7B-D24B11BC9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C47E-4B7D-1647-9F80-3037E352F9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4584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ransparent Picture with Tex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68B0D1-E995-3245-959F-3166EEDDA7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5760000"/>
          </a:xfrm>
        </p:spPr>
        <p:txBody>
          <a:bodyPr/>
          <a:lstStyle>
            <a:lvl1pPr marL="0" indent="0">
              <a:buNone/>
              <a:defRPr sz="2400"/>
            </a:lvl1pPr>
            <a:lvl2pPr marL="342879" indent="0">
              <a:buNone/>
              <a:defRPr sz="2100"/>
            </a:lvl2pPr>
            <a:lvl3pPr marL="685758" indent="0">
              <a:buNone/>
              <a:defRPr sz="1800"/>
            </a:lvl3pPr>
            <a:lvl4pPr marL="1028637" indent="0">
              <a:buNone/>
              <a:defRPr sz="1500"/>
            </a:lvl4pPr>
            <a:lvl5pPr marL="1371516" indent="0">
              <a:buNone/>
              <a:defRPr sz="1500"/>
            </a:lvl5pPr>
            <a:lvl6pPr marL="1714395" indent="0">
              <a:buNone/>
              <a:defRPr sz="1500"/>
            </a:lvl6pPr>
            <a:lvl7pPr marL="2057274" indent="0">
              <a:buNone/>
              <a:defRPr sz="1500"/>
            </a:lvl7pPr>
            <a:lvl8pPr marL="2400153" indent="0">
              <a:buNone/>
              <a:defRPr sz="1500"/>
            </a:lvl8pPr>
            <a:lvl9pPr marL="2743033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82D14D-EFB8-194E-9283-741A4DB5D3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187" t="2468"/>
          <a:stretch/>
        </p:blipFill>
        <p:spPr>
          <a:xfrm>
            <a:off x="0" y="-1553"/>
            <a:ext cx="4304786" cy="57615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71DBFB-D718-9E4A-B9E5-3A856A8BD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53" y="826329"/>
            <a:ext cx="2949178" cy="961316"/>
          </a:xfrm>
        </p:spPr>
        <p:txBody>
          <a:bodyPr anchor="t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83F82-1B7B-8841-8682-164A9DAE0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5953" y="2057401"/>
            <a:ext cx="2949178" cy="3537030"/>
          </a:xfrm>
        </p:spPr>
        <p:txBody>
          <a:bodyPr/>
          <a:lstStyle>
            <a:lvl1pPr marL="0" indent="0">
              <a:lnSpc>
                <a:spcPts val="2250"/>
              </a:lnSpc>
              <a:spcBef>
                <a:spcPts val="0"/>
              </a:spcBef>
              <a:buFont typeface="Arial" panose="020B0604020202020204" pitchFamily="34" charset="0"/>
              <a:buNone/>
              <a:defRPr sz="1406" b="1">
                <a:solidFill>
                  <a:schemeClr val="bg1"/>
                </a:solidFill>
              </a:defRPr>
            </a:lvl1pPr>
            <a:lvl2pPr marL="342879" indent="0">
              <a:buNone/>
              <a:defRPr sz="1050"/>
            </a:lvl2pPr>
            <a:lvl3pPr marL="685758" indent="0">
              <a:buNone/>
              <a:defRPr sz="900"/>
            </a:lvl3pPr>
            <a:lvl4pPr marL="1028637" indent="0">
              <a:buNone/>
              <a:defRPr sz="750"/>
            </a:lvl4pPr>
            <a:lvl5pPr marL="1371516" indent="0">
              <a:buNone/>
              <a:defRPr sz="750"/>
            </a:lvl5pPr>
            <a:lvl6pPr marL="1714395" indent="0">
              <a:buNone/>
              <a:defRPr sz="750"/>
            </a:lvl6pPr>
            <a:lvl7pPr marL="2057274" indent="0">
              <a:buNone/>
              <a:defRPr sz="750"/>
            </a:lvl7pPr>
            <a:lvl8pPr marL="2400153" indent="0">
              <a:buNone/>
              <a:defRPr sz="750"/>
            </a:lvl8pPr>
            <a:lvl9pPr marL="2743033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BE757-A7B3-EC49-B81F-E4004CBD0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DCB14-3FFF-4946-A910-047852840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811BA-6058-7E4C-BF7B-D24B11BC9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C47E-4B7D-1647-9F80-3037E352F9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0367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D19D5-0F85-CB4E-B0A9-93B988A6B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A9A43A-A3AB-9641-9E5A-9DA8B2CC0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B5666-28FF-9F4F-8C5C-D50684398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6F1F43-8673-9348-80A9-029FC3617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C47E-4B7D-1647-9F80-3037E352F9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9906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8995B1-CE25-1148-9140-B20A1F189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C093B2-889C-3D45-91E5-6ABBE19F1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78FF8-B193-9B4D-A0D1-BDFE4CDC2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C47E-4B7D-1647-9F80-3037E352F9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2186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B72F0-795F-DC49-8A85-915BF0F26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953" y="4374684"/>
            <a:ext cx="5669446" cy="1220748"/>
          </a:xfrm>
        </p:spPr>
        <p:txBody>
          <a:bodyPr anchor="t">
            <a:normAutofit/>
          </a:bodyPr>
          <a:lstStyle>
            <a:lvl1pPr algn="l">
              <a:defRPr sz="2643" b="1">
                <a:solidFill>
                  <a:srgbClr val="00A956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5488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7694BF6F-83FF-9C44-AD1D-8718C81723F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C16A9B-903B-D449-9421-7BC9258461D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4052760825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0E4EAE5D-52BB-9147-BA7E-A01CD851FC0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8390" y="0"/>
            <a:ext cx="381361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3593694825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11B72E5B-8070-C94A-B29F-389B200D8F9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534046" y="3426519"/>
            <a:ext cx="303628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A06B3AF-3A09-CD40-BBDA-4DA1A3132BC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84056" y="-4962"/>
            <a:ext cx="303628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200462807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268CFD98-33F7-294B-80A9-1CCE5CB489C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8996" y="1010487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313E9116-BB6D-B642-A83F-3A63A87B6B2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662842" y="1010487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C2803E21-B05F-5A41-9058-C077C75579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574358" y="1010487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72DDECA1-C03C-D84B-B622-99F2229B913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78782" y="1010487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1173070810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Main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Line"/>
          <p:cNvSpPr/>
          <p:nvPr/>
        </p:nvSpPr>
        <p:spPr>
          <a:xfrm>
            <a:off x="1" y="5847539"/>
            <a:ext cx="8383228" cy="1"/>
          </a:xfrm>
          <a:prstGeom prst="line">
            <a:avLst/>
          </a:prstGeom>
          <a:ln w="12700">
            <a:solidFill>
              <a:srgbClr val="C8CBD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200" dirty="0"/>
          </a:p>
        </p:txBody>
      </p:sp>
      <p:sp>
        <p:nvSpPr>
          <p:cNvPr id="24" name="Line"/>
          <p:cNvSpPr/>
          <p:nvPr/>
        </p:nvSpPr>
        <p:spPr>
          <a:xfrm flipH="1" flipV="1">
            <a:off x="760773" y="1013520"/>
            <a:ext cx="8383228" cy="1"/>
          </a:xfrm>
          <a:prstGeom prst="line">
            <a:avLst/>
          </a:prstGeom>
          <a:ln w="12700">
            <a:solidFill>
              <a:srgbClr val="C8CBD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200" dirty="0"/>
          </a:p>
        </p:txBody>
      </p: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xfrm flipV="1">
            <a:off x="8298742" y="5847540"/>
            <a:ext cx="558643" cy="42245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8295996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B18F44F-B3D5-9342-A903-AF3B2312ABD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72000" y="0"/>
            <a:ext cx="3810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2055492426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EB24606-476E-6048-B1F2-4C75CD26FA6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523666" y="3429000"/>
            <a:ext cx="609667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3034356833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76C428E-561C-5549-ACE8-B30AB9D1D1E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269204473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5AD3A910-CEE4-8D40-A151-4D93E936656E}"/>
              </a:ext>
            </a:extLst>
          </p:cNvPr>
          <p:cNvSpPr/>
          <p:nvPr userDrawn="1"/>
        </p:nvSpPr>
        <p:spPr>
          <a:xfrm>
            <a:off x="764958" y="1013520"/>
            <a:ext cx="3810001" cy="4826001"/>
          </a:xfrm>
          <a:prstGeom prst="rect">
            <a:avLst/>
          </a:prstGeom>
          <a:solidFill>
            <a:srgbClr val="6059F7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200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BBA6C238-6E3D-3B49-A9E4-0017224EA26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574358" y="1010487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4B08D2E-A2EE-3E46-B5E5-750BF8A369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78782" y="1010487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A5F5D9F-2868-3642-BD2D-B14E29ACDA9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568419" y="3433714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352C6001-6469-424C-A423-CBC1852A541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472842" y="3433714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179334520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Main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www.websitename.com"/>
          <p:cNvSpPr txBox="1"/>
          <p:nvPr/>
        </p:nvSpPr>
        <p:spPr>
          <a:xfrm>
            <a:off x="4324337" y="6269990"/>
            <a:ext cx="543418" cy="10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1800" b="0">
                <a:solidFill>
                  <a:srgbClr val="3D3D3D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r>
              <a:rPr lang="ga-IE" sz="675" dirty="0"/>
              <a:t>www.csis.ul.ie</a:t>
            </a:r>
            <a:endParaRPr sz="675" dirty="0"/>
          </a:p>
        </p:txBody>
      </p:sp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298742" y="6269990"/>
            <a:ext cx="84487" cy="16002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B611120-2A0D-F545-9B8B-BFBBB1A8D63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62000" y="1013520"/>
            <a:ext cx="7620000" cy="48284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3208627015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9210655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AE3BD92-E199-6045-A6A2-4374A993C2C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8996" y="1010487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D23FCE7-07B4-F44B-BEB5-DC99F0E0E59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662842" y="1010487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EEABA380-8C0F-D04D-9588-C590453A8BC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574358" y="1010487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C08B1669-B1A2-2146-BC71-12421EDFFBE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78782" y="1010487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99598DDA-AD37-8A4C-A3F9-CB771EC1D0C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3057" y="3433714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C7A218F5-F9DC-4947-9202-0D86A98E645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656902" y="3433714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73ABFB21-2628-5146-BE69-45B8EEFE44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568419" y="3433714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B754BE93-E890-BA4C-8B02-CFB08B408A9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472842" y="3433714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850817453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3364EA-CC53-7640-BCBC-33A54EE849F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72000" y="1"/>
            <a:ext cx="3050009" cy="5841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1023743046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1662" cy="113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913" tIns="150913" rIns="150913" bIns="150913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10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10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10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10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10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24438" marR="0" lvl="5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10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848875" marR="0" lvl="6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10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73313" marR="0" lvl="7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10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697751" marR="0" lvl="8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10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body" idx="1"/>
          </p:nvPr>
        </p:nvSpPr>
        <p:spPr>
          <a:xfrm>
            <a:off x="457201" y="1600201"/>
            <a:ext cx="4033838" cy="451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913" tIns="150913" rIns="150913" bIns="150913" anchor="t" anchorCtr="0"/>
          <a:lstStyle>
            <a:lvl1pPr marL="424438" marR="0" lvl="0" indent="-377278" algn="l" rtl="0">
              <a:lnSpc>
                <a:spcPct val="100000"/>
              </a:lnSpc>
              <a:spcBef>
                <a:spcPts val="743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5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848875" marR="0" lvl="1" indent="-353698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sz="22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73313" marR="0" lvl="2" indent="-330118" algn="l" rtl="0">
              <a:lnSpc>
                <a:spcPct val="100000"/>
              </a:lnSpc>
              <a:spcBef>
                <a:spcPts val="557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sz="18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97751" marR="0" lvl="3" indent="-318329" algn="l" rtl="0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16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122188" marR="0" lvl="4" indent="-318329" algn="l" rtl="0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6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46626" marR="0" lvl="5" indent="-318329" algn="l" rtl="0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6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064" marR="0" lvl="6" indent="-318329" algn="l" rtl="0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6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395501" marR="0" lvl="7" indent="-318329" algn="l" rtl="0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6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9938" marR="0" lvl="8" indent="-318329" algn="l" rtl="0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6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body" idx="2"/>
          </p:nvPr>
        </p:nvSpPr>
        <p:spPr>
          <a:xfrm>
            <a:off x="4643444" y="1600201"/>
            <a:ext cx="4035425" cy="451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913" tIns="150913" rIns="150913" bIns="150913" anchor="t" anchorCtr="0"/>
          <a:lstStyle>
            <a:lvl1pPr marL="424438" marR="0" lvl="0" indent="-377278" algn="l" rtl="0">
              <a:lnSpc>
                <a:spcPct val="100000"/>
              </a:lnSpc>
              <a:spcBef>
                <a:spcPts val="743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5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848875" marR="0" lvl="1" indent="-353698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sz="22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73313" marR="0" lvl="2" indent="-330118" algn="l" rtl="0">
              <a:lnSpc>
                <a:spcPct val="100000"/>
              </a:lnSpc>
              <a:spcBef>
                <a:spcPts val="557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sz="18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97751" marR="0" lvl="3" indent="-318329" algn="l" rtl="0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16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122188" marR="0" lvl="4" indent="-318329" algn="l" rtl="0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6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46626" marR="0" lvl="5" indent="-318329" algn="l" rtl="0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6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064" marR="0" lvl="6" indent="-318329" algn="l" rtl="0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6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395501" marR="0" lvl="7" indent="-318329" algn="l" rtl="0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6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9938" marR="0" lvl="8" indent="-318329" algn="l" rtl="0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6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dt" idx="10"/>
          </p:nvPr>
        </p:nvSpPr>
        <p:spPr>
          <a:xfrm>
            <a:off x="457200" y="6356361"/>
            <a:ext cx="2125662" cy="35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913" tIns="150913" rIns="150913" bIns="150913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sz="168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2443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sz="168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48875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sz="168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73313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sz="168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697751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sz="168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122188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sz="168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064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sz="168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244377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sz="168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42127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sz="168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6553200" y="6356361"/>
            <a:ext cx="2125662" cy="35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561" tIns="77252" rIns="148561" bIns="77252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sz="1125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sz="1125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sz="1125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sz="1125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sz="1125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sz="1125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sz="1125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sz="1125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sz="1125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449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image" Target="../media/image3.jpeg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837C1AC-9B80-47AA-BBDA-A73033D19A50}" type="datetime1">
              <a:rPr lang="en-IE" altLang="en-US" smtClean="0"/>
              <a:pPr>
                <a:defRPr/>
              </a:pPr>
              <a:t>21/10/2026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C94075C-AE6C-4302-B61F-E41CAEFC7B6F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712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8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A7FBCA-0170-A045-A7B9-C21077D8E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53" y="826329"/>
            <a:ext cx="7886700" cy="7041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E127D-E475-0447-ABE5-C831EB30D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953" y="1628354"/>
            <a:ext cx="7886700" cy="322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1DA5F-71C7-C24D-A60E-69D381002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5953" y="631898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>
                <a:solidFill>
                  <a:srgbClr val="005336"/>
                </a:solidFill>
                <a:latin typeface="Helvetica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6C108-9FF4-4247-BF63-31A399B9D0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43352" y="6318987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900">
                <a:solidFill>
                  <a:srgbClr val="005336"/>
                </a:solidFill>
                <a:latin typeface="Helvetica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FD07C-4D6A-8244-A552-36C15D64DC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629453" y="6318987"/>
            <a:ext cx="167789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>
                <a:solidFill>
                  <a:srgbClr val="005336"/>
                </a:solidFill>
                <a:latin typeface="Helvetica" pitchFamily="2" charset="0"/>
              </a:defRPr>
            </a:lvl1pPr>
          </a:lstStyle>
          <a:p>
            <a:fld id="{78BCC47E-4B7D-1647-9F80-3037E352F95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940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  <p:sldLayoutId id="2147483709" r:id="rId24"/>
    <p:sldLayoutId id="2147483710" r:id="rId25"/>
    <p:sldLayoutId id="2147483711" r:id="rId26"/>
  </p:sldLayoutIdLst>
  <p:hf hdr="0" ftr="0" dt="0"/>
  <p:txStyles>
    <p:titleStyle>
      <a:lvl1pPr algn="l" defTabSz="685758" rtl="0" eaLnBrk="1" latinLnBrk="0" hangingPunct="1">
        <a:lnSpc>
          <a:spcPct val="90000"/>
        </a:lnSpc>
        <a:spcBef>
          <a:spcPct val="0"/>
        </a:spcBef>
        <a:buNone/>
        <a:defRPr sz="2531" b="0" kern="1200">
          <a:solidFill>
            <a:srgbClr val="005336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171439" indent="-171439" algn="l" defTabSz="68575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294" kern="1200">
          <a:solidFill>
            <a:srgbClr val="005336"/>
          </a:solidFill>
          <a:latin typeface="Helvetica" pitchFamily="2" charset="0"/>
          <a:ea typeface="+mn-ea"/>
          <a:cs typeface="+mn-cs"/>
        </a:defRPr>
      </a:lvl1pPr>
      <a:lvl2pPr marL="514318" indent="-171439" algn="l" defTabSz="68575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94" kern="1200">
          <a:solidFill>
            <a:srgbClr val="005336"/>
          </a:solidFill>
          <a:latin typeface="Helvetica" pitchFamily="2" charset="0"/>
          <a:ea typeface="+mn-ea"/>
          <a:cs typeface="+mn-cs"/>
        </a:defRPr>
      </a:lvl2pPr>
      <a:lvl3pPr marL="857198" indent="-171439" algn="l" defTabSz="68575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94" kern="1200">
          <a:solidFill>
            <a:srgbClr val="005336"/>
          </a:solidFill>
          <a:latin typeface="Helvetica" pitchFamily="2" charset="0"/>
          <a:ea typeface="+mn-ea"/>
          <a:cs typeface="+mn-cs"/>
        </a:defRPr>
      </a:lvl3pPr>
      <a:lvl4pPr marL="1200077" indent="-171439" algn="l" defTabSz="68575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94" kern="1200">
          <a:solidFill>
            <a:srgbClr val="005336"/>
          </a:solidFill>
          <a:latin typeface="Helvetica" pitchFamily="2" charset="0"/>
          <a:ea typeface="+mn-ea"/>
          <a:cs typeface="+mn-cs"/>
        </a:defRPr>
      </a:lvl4pPr>
      <a:lvl5pPr marL="1542956" indent="-171439" algn="l" defTabSz="68575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94" kern="1200">
          <a:solidFill>
            <a:srgbClr val="005336"/>
          </a:solidFill>
          <a:latin typeface="Helvetica" pitchFamily="2" charset="0"/>
          <a:ea typeface="+mn-ea"/>
          <a:cs typeface="+mn-cs"/>
        </a:defRPr>
      </a:lvl5pPr>
      <a:lvl6pPr marL="1885835" indent="-171439" algn="l" defTabSz="68575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14" indent="-171439" algn="l" defTabSz="68575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93" indent="-171439" algn="l" defTabSz="68575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72" indent="-171439" algn="l" defTabSz="68575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5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9" algn="l" defTabSz="68575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58" algn="l" defTabSz="68575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37" algn="l" defTabSz="68575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16" algn="l" defTabSz="68575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95" algn="l" defTabSz="68575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74" algn="l" defTabSz="68575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53" algn="l" defTabSz="68575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33" algn="l" defTabSz="68575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tomcat.apache.org/tomcat-6.0-doc/config/cluster-interceptor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FCB0A-7993-BA4C-8272-98FAE8DB7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890" y="1949222"/>
            <a:ext cx="8455070" cy="35139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374" dirty="0"/>
              <a:t>CS6451: Advanced Software Design </a:t>
            </a:r>
            <a:br>
              <a:rPr lang="en-US" sz="3374" dirty="0"/>
            </a:br>
            <a:r>
              <a:rPr lang="en-US" sz="4106" dirty="0" err="1"/>
              <a:t>Lect</a:t>
            </a:r>
            <a:r>
              <a:rPr lang="en-US" sz="4106"/>
              <a:t> </a:t>
            </a:r>
            <a:r>
              <a:rPr lang="en-US" sz="4106" dirty="0"/>
              <a:t>J</a:t>
            </a:r>
            <a:r>
              <a:rPr lang="en-US" sz="4106"/>
              <a:t>: </a:t>
            </a:r>
            <a:r>
              <a:rPr lang="en-IE" sz="3374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Interceptor Part 2 </a:t>
            </a:r>
            <a:br>
              <a:rPr lang="en-IE" sz="3374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2475" dirty="0"/>
            </a:br>
            <a:r>
              <a:rPr lang="en-US" sz="2475" dirty="0"/>
              <a:t>J.J. Collins</a:t>
            </a:r>
            <a:br>
              <a:rPr lang="en-US" sz="2475" dirty="0"/>
            </a:br>
            <a:r>
              <a:rPr lang="en-US" sz="2475" dirty="0"/>
              <a:t>Dept. of CSIS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683839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marL="0" marR="0" lvl="0" indent="0" algn="r" defTabSz="7129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005336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pPr marL="0" marR="0" lvl="0" indent="0" algn="r" defTabSz="7129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5336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152" name="Rectangle"/>
          <p:cNvSpPr/>
          <p:nvPr/>
        </p:nvSpPr>
        <p:spPr>
          <a:xfrm>
            <a:off x="0" y="857251"/>
            <a:ext cx="762000" cy="5143500"/>
          </a:xfrm>
          <a:prstGeom prst="rect">
            <a:avLst/>
          </a:prstGeom>
          <a:solidFill>
            <a:srgbClr val="202329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7129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Helvetica Neue Medium"/>
            </a:endParaRPr>
          </a:p>
        </p:txBody>
      </p:sp>
      <p:sp>
        <p:nvSpPr>
          <p:cNvPr id="154" name="M Point"/>
          <p:cNvSpPr txBox="1"/>
          <p:nvPr/>
        </p:nvSpPr>
        <p:spPr>
          <a:xfrm rot="16200000">
            <a:off x="-110158" y="3616420"/>
            <a:ext cx="985847" cy="144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b="0">
                <a:solidFill>
                  <a:srgbClr val="F7F9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 marL="0" marR="0" lvl="0" indent="0" algn="l" defTabSz="7129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936" b="0" i="0" u="none" strike="noStrike" kern="1200" cap="none" spc="0" normalizeH="0" baseline="0" noProof="0" dirty="0">
                <a:ln>
                  <a:noFill/>
                </a:ln>
                <a:solidFill>
                  <a:srgbClr val="F7F9FF"/>
                </a:solidFill>
                <a:effectLst/>
                <a:uLnTx/>
                <a:uFillTx/>
                <a:latin typeface="Poppins Medium"/>
                <a:sym typeface="Poppins Medium"/>
              </a:rPr>
              <a:t>CS4227-CS5722</a:t>
            </a:r>
            <a:r>
              <a:rPr kumimoji="0" lang="ga-IE" sz="936" b="0" i="0" u="none" strike="noStrike" kern="1200" cap="none" spc="0" normalizeH="0" baseline="0" noProof="0" dirty="0">
                <a:ln>
                  <a:noFill/>
                </a:ln>
                <a:solidFill>
                  <a:srgbClr val="F7F9FF"/>
                </a:solidFill>
                <a:effectLst/>
                <a:uLnTx/>
                <a:uFillTx/>
                <a:latin typeface="Poppins Medium"/>
                <a:sym typeface="Poppins Medium"/>
              </a:rPr>
              <a:t> )</a:t>
            </a:r>
          </a:p>
        </p:txBody>
      </p:sp>
      <p:sp>
        <p:nvSpPr>
          <p:cNvPr id="155" name="Seamlessly develop orthogonal readiness before…"/>
          <p:cNvSpPr txBox="1"/>
          <p:nvPr/>
        </p:nvSpPr>
        <p:spPr>
          <a:xfrm>
            <a:off x="5076056" y="2166747"/>
            <a:ext cx="3880048" cy="2429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285750" marR="0" lvl="0" indent="-285750" algn="l" defTabSz="712984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q"/>
              <a:tabLst/>
              <a:defRPr sz="1800" b="0">
                <a:solidFill>
                  <a:srgbClr val="696E78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rPr kumimoji="0" lang="en-IE" sz="2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Poppins Light"/>
                <a:sym typeface="Poppins Light"/>
              </a:rPr>
              <a:t> Work through the 7 steps to implement the Interceptor</a:t>
            </a:r>
            <a:r>
              <a:rPr kumimoji="0" lang="en-IE" sz="2000" b="0" i="0" u="none" strike="noStrike" kern="1200" cap="none" spc="0" normalizeH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Poppins Light"/>
                <a:sym typeface="Poppins Light"/>
              </a:rPr>
              <a:t> Architectural Pattern</a:t>
            </a:r>
            <a:endParaRPr kumimoji="0" lang="ga-IE" sz="20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Poppins Light"/>
              <a:sym typeface="Poppins Light"/>
            </a:endParaRPr>
          </a:p>
          <a:p>
            <a:pPr marL="285750" marR="0" lvl="0" indent="-285750" algn="l" defTabSz="712984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q"/>
              <a:tabLst/>
              <a:defRPr sz="1800" b="0">
                <a:solidFill>
                  <a:srgbClr val="696E78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rPr kumimoji="0" lang="en-IE" sz="2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Poppins Light"/>
                <a:sym typeface="Poppins Light"/>
              </a:rPr>
              <a:t> </a:t>
            </a:r>
            <a:r>
              <a:rPr lang="en-IE" sz="2000" noProof="0" dirty="0">
                <a:solidFill>
                  <a:srgbClr val="E7E6E6">
                    <a:lumMod val="25000"/>
                  </a:srgbClr>
                </a:solidFill>
                <a:latin typeface="Poppins Light"/>
                <a:sym typeface="Poppins Light"/>
              </a:rPr>
              <a:t>Start on the Bridge Design Pattern</a:t>
            </a:r>
            <a:endParaRPr kumimoji="0" lang="ga-IE" sz="20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Poppins Light"/>
              <a:sym typeface="Poppins Light"/>
            </a:endParaRPr>
          </a:p>
          <a:p>
            <a:pPr marL="0" marR="0" lvl="0" indent="0" algn="l" defTabSz="712984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696E78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endParaRPr kumimoji="0" sz="675" b="0" i="0" u="none" strike="noStrike" kern="1200" cap="none" spc="0" normalizeH="0" baseline="0" noProof="0" dirty="0">
              <a:ln>
                <a:noFill/>
              </a:ln>
              <a:solidFill>
                <a:srgbClr val="696E78"/>
              </a:solidFill>
              <a:effectLst/>
              <a:uLnTx/>
              <a:uFillTx/>
              <a:latin typeface="Poppins Light"/>
              <a:sym typeface="Poppins Light"/>
            </a:endParaRPr>
          </a:p>
        </p:txBody>
      </p:sp>
      <p:sp>
        <p:nvSpPr>
          <p:cNvPr id="156" name="The secret to creativity is…"/>
          <p:cNvSpPr txBox="1"/>
          <p:nvPr/>
        </p:nvSpPr>
        <p:spPr>
          <a:xfrm>
            <a:off x="6012160" y="1412776"/>
            <a:ext cx="2943944" cy="311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7129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>
                <a:solidFill>
                  <a:srgbClr val="3D3D3D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pPr>
            <a:r>
              <a:rPr kumimoji="0" lang="en-IE" sz="2025" b="0" i="0" u="none" strike="noStrike" kern="1200" cap="none" spc="0" normalizeH="0" baseline="0" noProof="0" dirty="0">
                <a:ln>
                  <a:noFill/>
                </a:ln>
                <a:solidFill>
                  <a:srgbClr val="00B140"/>
                </a:solidFill>
                <a:effectLst/>
                <a:uLnTx/>
                <a:uFillTx/>
                <a:latin typeface="Poppins Medium"/>
                <a:sym typeface="Poppins Medium"/>
              </a:rPr>
              <a:t>Objectives Week 2</a:t>
            </a:r>
            <a:endParaRPr kumimoji="0" sz="2025" b="0" i="0" u="none" strike="noStrike" kern="1200" cap="none" spc="0" normalizeH="0" baseline="0" noProof="0" dirty="0">
              <a:ln>
                <a:noFill/>
              </a:ln>
              <a:solidFill>
                <a:srgbClr val="3D3D3D"/>
              </a:solidFill>
              <a:effectLst/>
              <a:uLnTx/>
              <a:uFillTx/>
              <a:latin typeface="Poppins Medium"/>
              <a:sym typeface="Poppins Mediu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1640" y="6347340"/>
            <a:ext cx="1689630" cy="3084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7129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404" b="1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© www.infoq.com</a:t>
            </a:r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2" r="828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4390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Interceptor Architectural Pattern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700808"/>
            <a:ext cx="8784976" cy="3384376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A software house developing an Object Request Broker (ORB) </a:t>
            </a:r>
            <a:r>
              <a:rPr lang="en-GB" b="1" dirty="0">
                <a:solidFill>
                  <a:srgbClr val="0070C0"/>
                </a:solidFill>
              </a:rPr>
              <a:t>middleware framework</a:t>
            </a:r>
            <a:r>
              <a:rPr lang="en-GB" dirty="0"/>
              <a:t>, based on broker architectural framework.</a:t>
            </a:r>
          </a:p>
          <a:p>
            <a:r>
              <a:rPr lang="en-GB" dirty="0"/>
              <a:t>In addition to </a:t>
            </a:r>
            <a:r>
              <a:rPr lang="en-GB" b="1" dirty="0">
                <a:solidFill>
                  <a:srgbClr val="0070C0"/>
                </a:solidFill>
              </a:rPr>
              <a:t>marshalling and unmarshalling </a:t>
            </a:r>
            <a:r>
              <a:rPr lang="en-GB" dirty="0"/>
              <a:t>service requests, middleware provides a basic set of services such as connection management and security.</a:t>
            </a:r>
          </a:p>
          <a:p>
            <a:r>
              <a:rPr lang="en-GB" dirty="0"/>
              <a:t>Applications using the framework may require </a:t>
            </a:r>
            <a:r>
              <a:rPr lang="en-GB" b="1" dirty="0">
                <a:solidFill>
                  <a:srgbClr val="0070C0"/>
                </a:solidFill>
              </a:rPr>
              <a:t>additional services</a:t>
            </a:r>
            <a:r>
              <a:rPr lang="en-GB" dirty="0"/>
              <a:t> such transaction support, load balancing, trader, logging, etc.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6B00107C-DDD3-4577-95F6-17961ECF3BA0}" type="slidenum">
              <a:rPr lang="en-US" altLang="en-US" smtClean="0"/>
              <a:pPr/>
              <a:t>3</a:t>
            </a:fld>
            <a:endParaRPr lang="en-US" altLang="en-US" dirty="0"/>
          </a:p>
        </p:txBody>
      </p:sp>
      <p:pic>
        <p:nvPicPr>
          <p:cNvPr id="4101" name="Picture 4" descr="interceptor-fig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5816" y="4509120"/>
            <a:ext cx="3941762" cy="219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40343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507288" cy="1139825"/>
          </a:xfrm>
        </p:spPr>
        <p:txBody>
          <a:bodyPr>
            <a:normAutofit/>
          </a:bodyPr>
          <a:lstStyle/>
          <a:p>
            <a:r>
              <a:rPr lang="en-GB" sz="3600" dirty="0"/>
              <a:t>The Interceptor Architectural Pattern</a:t>
            </a:r>
            <a:endParaRPr lang="en-IE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73F4E989-F763-4004-9F33-B18218F0D50C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118748" y="1516698"/>
            <a:ext cx="4717992" cy="419971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E" b="1" dirty="0">
                <a:solidFill>
                  <a:srgbClr val="0000FF"/>
                </a:solidFill>
              </a:rPr>
              <a:t>Middleware Frameworks</a:t>
            </a:r>
          </a:p>
          <a:p>
            <a:r>
              <a:rPr lang="en-IE" b="1" dirty="0">
                <a:solidFill>
                  <a:srgbClr val="0000FF"/>
                </a:solidFill>
              </a:rPr>
              <a:t>Compiler generates stubs and skeletons</a:t>
            </a:r>
          </a:p>
          <a:p>
            <a:pPr lvl="1"/>
            <a:r>
              <a:rPr lang="en-IE" b="1" dirty="0">
                <a:solidFill>
                  <a:srgbClr val="0000FF"/>
                </a:solidFill>
              </a:rPr>
              <a:t>As long as there is a language binding</a:t>
            </a:r>
          </a:p>
          <a:p>
            <a:r>
              <a:rPr lang="en-IE" b="1" dirty="0">
                <a:solidFill>
                  <a:srgbClr val="0000FF"/>
                </a:solidFill>
              </a:rPr>
              <a:t>Client makes a “local” call</a:t>
            </a:r>
          </a:p>
          <a:p>
            <a:r>
              <a:rPr lang="en-IE" b="1" dirty="0">
                <a:solidFill>
                  <a:srgbClr val="0000FF"/>
                </a:solidFill>
              </a:rPr>
              <a:t>Proxies, ORBs, and Broker do the heavy lifting</a:t>
            </a:r>
          </a:p>
          <a:p>
            <a:pPr lvl="1"/>
            <a:r>
              <a:rPr lang="en-IE" b="1" dirty="0">
                <a:solidFill>
                  <a:srgbClr val="0000FF"/>
                </a:solidFill>
              </a:rPr>
              <a:t>Using an Interface Definition Language (IDL)</a:t>
            </a:r>
          </a:p>
          <a:p>
            <a:r>
              <a:rPr lang="en-IE" b="1" dirty="0">
                <a:solidFill>
                  <a:srgbClr val="0000FF"/>
                </a:solidFill>
              </a:rPr>
              <a:t>ORB is a kernel with core services</a:t>
            </a:r>
          </a:p>
          <a:p>
            <a:r>
              <a:rPr lang="en-IE" b="1" dirty="0">
                <a:solidFill>
                  <a:srgbClr val="0000FF"/>
                </a:solidFill>
              </a:rPr>
              <a:t>How can additional  / out-of-band  services be supported?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467544" y="2420888"/>
            <a:ext cx="914400" cy="914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Client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3462" y="4077072"/>
            <a:ext cx="1368152" cy="9144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Stub (Client Side Proxy)</a:t>
            </a:r>
          </a:p>
        </p:txBody>
      </p:sp>
      <p:sp>
        <p:nvSpPr>
          <p:cNvPr id="7" name="Rectangle 6"/>
          <p:cNvSpPr/>
          <p:nvPr/>
        </p:nvSpPr>
        <p:spPr>
          <a:xfrm>
            <a:off x="179512" y="5733256"/>
            <a:ext cx="18002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ORB on client machine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235208" y="2442592"/>
            <a:ext cx="1296144" cy="914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(Remote) 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6911172" y="4068628"/>
            <a:ext cx="1944216" cy="9144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Skeleton</a:t>
            </a:r>
          </a:p>
          <a:p>
            <a:pPr algn="ctr"/>
            <a:r>
              <a:rPr lang="en-IE" dirty="0"/>
              <a:t> (Server Side Proxy)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5168" y="5736344"/>
            <a:ext cx="201622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ORB on server machine</a:t>
            </a:r>
          </a:p>
        </p:txBody>
      </p:sp>
      <p:sp>
        <p:nvSpPr>
          <p:cNvPr id="14" name="Right Arrow 13"/>
          <p:cNvSpPr/>
          <p:nvPr/>
        </p:nvSpPr>
        <p:spPr>
          <a:xfrm rot="5400000">
            <a:off x="539552" y="5229200"/>
            <a:ext cx="720080" cy="2880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16" name="Right Arrow 15"/>
          <p:cNvSpPr/>
          <p:nvPr/>
        </p:nvSpPr>
        <p:spPr>
          <a:xfrm rot="5400000">
            <a:off x="539552" y="3573016"/>
            <a:ext cx="720080" cy="2880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17" name="Right Arrow 16"/>
          <p:cNvSpPr/>
          <p:nvPr/>
        </p:nvSpPr>
        <p:spPr>
          <a:xfrm rot="16200000">
            <a:off x="7523240" y="3552176"/>
            <a:ext cx="720080" cy="2880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18" name="Right Arrow 17"/>
          <p:cNvSpPr/>
          <p:nvPr/>
        </p:nvSpPr>
        <p:spPr>
          <a:xfrm rot="16200000">
            <a:off x="7524708" y="5207496"/>
            <a:ext cx="720080" cy="2880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i="1" dirty="0"/>
          </a:p>
        </p:txBody>
      </p:sp>
      <p:sp>
        <p:nvSpPr>
          <p:cNvPr id="32" name="Left-Right Arrow 31"/>
          <p:cNvSpPr/>
          <p:nvPr/>
        </p:nvSpPr>
        <p:spPr>
          <a:xfrm>
            <a:off x="2051720" y="5877272"/>
            <a:ext cx="1224136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22" name="Rectangle 21"/>
          <p:cNvSpPr/>
          <p:nvPr/>
        </p:nvSpPr>
        <p:spPr>
          <a:xfrm>
            <a:off x="3384058" y="5711553"/>
            <a:ext cx="201622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/>
              <a:t>Broker</a:t>
            </a:r>
          </a:p>
        </p:txBody>
      </p:sp>
      <p:sp>
        <p:nvSpPr>
          <p:cNvPr id="23" name="Left-Right Arrow 22"/>
          <p:cNvSpPr/>
          <p:nvPr/>
        </p:nvSpPr>
        <p:spPr>
          <a:xfrm>
            <a:off x="5436476" y="5848539"/>
            <a:ext cx="1368152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557205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Interceptor Architectural Pattern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73F4E989-F763-4004-9F33-B18218F0D50C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51520" y="1600200"/>
            <a:ext cx="8712968" cy="3629476"/>
          </a:xfrm>
        </p:spPr>
        <p:txBody>
          <a:bodyPr>
            <a:normAutofit fontScale="92500" lnSpcReduction="20000"/>
          </a:bodyPr>
          <a:lstStyle/>
          <a:p>
            <a:r>
              <a:rPr lang="en-IE" dirty="0"/>
              <a:t>Does not have to be a middleware framework</a:t>
            </a:r>
          </a:p>
          <a:p>
            <a:r>
              <a:rPr lang="en-IE" dirty="0"/>
              <a:t>You release/sell an application</a:t>
            </a:r>
          </a:p>
          <a:p>
            <a:r>
              <a:rPr lang="en-IE" dirty="0"/>
              <a:t>Client needs a bespoke logging service</a:t>
            </a:r>
          </a:p>
          <a:p>
            <a:r>
              <a:rPr lang="en-IE" dirty="0"/>
              <a:t>Allow them to implement this out-of-band service by </a:t>
            </a:r>
          </a:p>
          <a:p>
            <a:pPr lvl="1"/>
            <a:r>
              <a:rPr lang="en-IE" dirty="0">
                <a:sym typeface="Wingdings" panose="05000000000000000000" pitchFamily="2" charset="2"/>
              </a:rPr>
              <a:t> </a:t>
            </a:r>
            <a:r>
              <a:rPr lang="en-IE" dirty="0"/>
              <a:t>building interceptor architectural pattern into application</a:t>
            </a:r>
          </a:p>
          <a:p>
            <a:pPr lvl="1"/>
            <a:endParaRPr lang="en-IE" dirty="0"/>
          </a:p>
          <a:p>
            <a:r>
              <a:rPr lang="en-IE" b="1" dirty="0">
                <a:solidFill>
                  <a:srgbClr val="0000FF"/>
                </a:solidFill>
              </a:rPr>
              <a:t>For project: </a:t>
            </a:r>
          </a:p>
          <a:p>
            <a:pPr lvl="1"/>
            <a:r>
              <a:rPr lang="en-IE" b="1" dirty="0">
                <a:solidFill>
                  <a:srgbClr val="0000FF"/>
                </a:solidFill>
              </a:rPr>
              <a:t>prove that your inceptor works by implementing logging as an out-of-band service </a:t>
            </a:r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1907704" y="5846578"/>
            <a:ext cx="273630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 without logging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08304" y="4932178"/>
            <a:ext cx="914400" cy="9144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Logging Service</a:t>
            </a:r>
          </a:p>
        </p:txBody>
      </p:sp>
      <p:sp>
        <p:nvSpPr>
          <p:cNvPr id="7" name="Down Arrow 6"/>
          <p:cNvSpPr/>
          <p:nvPr/>
        </p:nvSpPr>
        <p:spPr>
          <a:xfrm rot="14926642">
            <a:off x="5546612" y="4582252"/>
            <a:ext cx="432048" cy="2232248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04899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6EEB0654-AC5C-448E-B7BC-97DA3A24F33A}" type="slidenum">
              <a:rPr lang="en-US" altLang="en-US"/>
              <a:pPr>
                <a:defRPr/>
              </a:pPr>
              <a:t>6</a:t>
            </a:fld>
            <a:endParaRPr lang="en-US" altLang="en-US" dirty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800" dirty="0"/>
              <a:t>The Interceptor Architectural Pattern</a:t>
            </a:r>
          </a:p>
        </p:txBody>
      </p:sp>
      <p:pic>
        <p:nvPicPr>
          <p:cNvPr id="13316" name="Picture 4" descr="Document2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51520" y="2276872"/>
            <a:ext cx="8773235" cy="4325651"/>
          </a:xfrm>
          <a:noFill/>
        </p:spPr>
      </p:pic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1044643" y="1556792"/>
            <a:ext cx="18598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00FF"/>
                </a:solidFill>
                <a:latin typeface="Verdana" pitchFamily="32" charset="0"/>
              </a:rPr>
              <a:t>Dynamics</a:t>
            </a:r>
          </a:p>
        </p:txBody>
      </p:sp>
    </p:spTree>
    <p:extLst>
      <p:ext uri="{BB962C8B-B14F-4D97-AF65-F5344CB8AC3E}">
        <p14:creationId xmlns:p14="http://schemas.microsoft.com/office/powerpoint/2010/main" val="591238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Interceptor Architectural Pattern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73F4E989-F763-4004-9F33-B18218F0D50C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79512" y="1600200"/>
            <a:ext cx="8586536" cy="5141168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Framework (ORB) creates dispatcher(s)</a:t>
            </a:r>
          </a:p>
          <a:p>
            <a:pPr marL="834390" lvl="1" indent="-514350">
              <a:buFont typeface="Wingdings" panose="05000000000000000000" pitchFamily="2" charset="2"/>
              <a:buChar char="§"/>
            </a:pPr>
            <a:r>
              <a:rPr lang="en-IE" dirty="0">
                <a:solidFill>
                  <a:srgbClr val="0000FF"/>
                </a:solidFill>
              </a:rPr>
              <a:t>One or many?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Application creates concrete interceptors (out-of-band services) and registers them with dispatcher</a:t>
            </a:r>
          </a:p>
          <a:p>
            <a:pPr marL="834390" lvl="1" indent="-514350">
              <a:buFont typeface="Wingdings" panose="05000000000000000000" pitchFamily="2" charset="2"/>
              <a:buChar char="§"/>
            </a:pPr>
            <a:r>
              <a:rPr lang="en-IE" dirty="0">
                <a:solidFill>
                  <a:srgbClr val="0000FF"/>
                </a:solidFill>
              </a:rPr>
              <a:t>What is the interceptor interface?</a:t>
            </a:r>
          </a:p>
          <a:p>
            <a:pPr marL="834390" lvl="1" indent="-514350">
              <a:buFont typeface="Wingdings" panose="05000000000000000000" pitchFamily="2" charset="2"/>
              <a:buChar char="§"/>
            </a:pPr>
            <a:r>
              <a:rPr lang="en-IE" dirty="0">
                <a:solidFill>
                  <a:srgbClr val="0000FF"/>
                </a:solidFill>
              </a:rPr>
              <a:t>Who implements the interceptor?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In response to an event the framework</a:t>
            </a:r>
          </a:p>
          <a:p>
            <a:pPr marL="834390" lvl="1" indent="-514350">
              <a:buFont typeface="+mj-lt"/>
              <a:buAutoNum type="arabicPeriod" startAt="4"/>
            </a:pPr>
            <a:r>
              <a:rPr lang="en-IE" dirty="0"/>
              <a:t>Creates a Context Object – a handle that allows the out-of-band service to query and control the framework</a:t>
            </a:r>
          </a:p>
          <a:p>
            <a:pPr marL="1108710" lvl="2" indent="-514350">
              <a:buFont typeface="Wingdings" panose="05000000000000000000" pitchFamily="2" charset="2"/>
              <a:buChar char="§"/>
            </a:pPr>
            <a:r>
              <a:rPr lang="en-IE" dirty="0">
                <a:solidFill>
                  <a:srgbClr val="0000FF"/>
                </a:solidFill>
              </a:rPr>
              <a:t>What is the API for the Context Object?</a:t>
            </a:r>
          </a:p>
          <a:p>
            <a:pPr marL="834390" lvl="1" indent="-514350">
              <a:buFont typeface="+mj-lt"/>
              <a:buAutoNum type="arabicPeriod" startAt="4"/>
            </a:pPr>
            <a:r>
              <a:rPr lang="en-IE" dirty="0"/>
              <a:t>The frameworks CALLS BACK to the dispatcher passing a reference to the context object</a:t>
            </a:r>
          </a:p>
          <a:p>
            <a:pPr marL="1108710" lvl="2" indent="-514350">
              <a:buFont typeface="Wingdings" panose="05000000000000000000" pitchFamily="2" charset="2"/>
              <a:buChar char="§"/>
            </a:pPr>
            <a:r>
              <a:rPr lang="en-IE" dirty="0">
                <a:solidFill>
                  <a:srgbClr val="0000FF"/>
                </a:solidFill>
              </a:rPr>
              <a:t>How is the callback implemented?</a:t>
            </a:r>
          </a:p>
          <a:p>
            <a:pPr marL="834390" lvl="1" indent="-514350">
              <a:buFont typeface="+mj-lt"/>
              <a:buAutoNum type="arabicPeriod" startAt="4"/>
            </a:pPr>
            <a:r>
              <a:rPr lang="en-IE" dirty="0"/>
              <a:t>The dispatcher CALLS BACK to its registered concrete interceptors passing a reference to the Context Object</a:t>
            </a:r>
          </a:p>
          <a:p>
            <a:pPr marL="834390" lvl="1" indent="-514350">
              <a:buFont typeface="+mj-lt"/>
              <a:buAutoNum type="arabicPeriod" startAt="4"/>
            </a:pPr>
            <a:r>
              <a:rPr lang="en-IE" dirty="0"/>
              <a:t>The concrete interceptor can then query the framework and invoke framework services via the Context Object</a:t>
            </a:r>
          </a:p>
        </p:txBody>
      </p:sp>
    </p:spTree>
    <p:extLst>
      <p:ext uri="{BB962C8B-B14F-4D97-AF65-F5344CB8AC3E}">
        <p14:creationId xmlns:p14="http://schemas.microsoft.com/office/powerpoint/2010/main" val="2201400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Interceptor: Consequences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28800"/>
            <a:ext cx="8435280" cy="504056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E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Benefits:</a:t>
            </a:r>
          </a:p>
          <a:p>
            <a:r>
              <a:rPr lang="en-IE" b="1" dirty="0">
                <a:solidFill>
                  <a:srgbClr val="0000FF"/>
                </a:solidFill>
              </a:rPr>
              <a:t>Extensibility &amp; flexibility</a:t>
            </a:r>
          </a:p>
          <a:p>
            <a:pPr lvl="1"/>
            <a:r>
              <a:rPr lang="en-IE" dirty="0"/>
              <a:t>Interceptors allow an application to evolve without breaking existing APIs &amp; components</a:t>
            </a:r>
          </a:p>
          <a:p>
            <a:r>
              <a:rPr lang="en-IE" b="1" dirty="0">
                <a:solidFill>
                  <a:srgbClr val="0000FF"/>
                </a:solidFill>
              </a:rPr>
              <a:t>Separation of concerns</a:t>
            </a:r>
          </a:p>
          <a:p>
            <a:pPr lvl="1"/>
            <a:r>
              <a:rPr lang="en-IE" dirty="0"/>
              <a:t>Interceptors decouple the “functional” path from the “meta” path</a:t>
            </a:r>
          </a:p>
          <a:p>
            <a:r>
              <a:rPr lang="en-IE" b="1" dirty="0">
                <a:solidFill>
                  <a:srgbClr val="0000FF"/>
                </a:solidFill>
              </a:rPr>
              <a:t>Support for monitoring &amp; control of frameworks</a:t>
            </a:r>
          </a:p>
          <a:p>
            <a:pPr lvl="1"/>
            <a:r>
              <a:rPr lang="en-IE" dirty="0"/>
              <a:t>e.g., generic logging mechanisms can be used to unobtrusively track application behaviour</a:t>
            </a:r>
          </a:p>
          <a:p>
            <a:r>
              <a:rPr lang="en-IE" b="1" dirty="0">
                <a:solidFill>
                  <a:srgbClr val="0000FF"/>
                </a:solidFill>
              </a:rPr>
              <a:t>Layer symmetry</a:t>
            </a:r>
          </a:p>
          <a:p>
            <a:pPr lvl="1"/>
            <a:r>
              <a:rPr lang="en-IE" dirty="0"/>
              <a:t>Interceptors can perform transformations on a client-side whose inverse are performed on the server-side</a:t>
            </a:r>
          </a:p>
          <a:p>
            <a:r>
              <a:rPr lang="en-IE" b="1" dirty="0">
                <a:solidFill>
                  <a:srgbClr val="0000FF"/>
                </a:solidFill>
              </a:rPr>
              <a:t>Reusability</a:t>
            </a:r>
          </a:p>
          <a:p>
            <a:pPr lvl="1"/>
            <a:r>
              <a:rPr lang="en-IE" dirty="0"/>
              <a:t>Interceptors can be reused for various general-purpose behaviours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ECFF13E-C658-4156-B9C3-03FAD67A09E6}" type="slidenum">
              <a:rPr lang="en-US" altLang="en-US" smtClean="0"/>
              <a:pPr/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22538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E4CC651-2229-4F2A-A42E-038862D33C67}" type="slidenum">
              <a:rPr lang="en-US" altLang="en-US"/>
              <a:pPr>
                <a:defRPr/>
              </a:pPr>
              <a:t>9</a:t>
            </a:fld>
            <a:endParaRPr lang="en-US" altLang="en-US" dirty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dirty="0"/>
              <a:t>The Interceptor: Consequences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00807"/>
            <a:ext cx="8229600" cy="4896545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GB" sz="35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Liabilities:</a:t>
            </a:r>
          </a:p>
          <a:p>
            <a:r>
              <a:rPr lang="en-IE" b="1" dirty="0">
                <a:solidFill>
                  <a:srgbClr val="0000FF"/>
                </a:solidFill>
              </a:rPr>
              <a:t>Complex design issues</a:t>
            </a:r>
          </a:p>
          <a:p>
            <a:pPr marL="841375" lvl="1" indent="-514350"/>
            <a:r>
              <a:rPr lang="en-IE" dirty="0"/>
              <a:t>Determining interceptor APIs &amp; semantics is non-trivial</a:t>
            </a:r>
          </a:p>
          <a:p>
            <a:r>
              <a:rPr lang="en-IE" b="1" dirty="0">
                <a:solidFill>
                  <a:srgbClr val="0000FF"/>
                </a:solidFill>
              </a:rPr>
              <a:t>Malicious or erroneous interceptors</a:t>
            </a:r>
          </a:p>
          <a:p>
            <a:r>
              <a:rPr lang="en-IE" b="1" dirty="0">
                <a:solidFill>
                  <a:srgbClr val="0000FF"/>
                </a:solidFill>
              </a:rPr>
              <a:t>Potential interception cascades</a:t>
            </a:r>
          </a:p>
          <a:p>
            <a:pPr marL="841375" lvl="1" indent="-514350"/>
            <a:r>
              <a:rPr lang="en-IE" dirty="0"/>
              <a:t>Interceptors can result in infinite recursion</a:t>
            </a:r>
          </a:p>
        </p:txBody>
      </p:sp>
    </p:spTree>
    <p:extLst>
      <p:ext uri="{BB962C8B-B14F-4D97-AF65-F5344CB8AC3E}">
        <p14:creationId xmlns:p14="http://schemas.microsoft.com/office/powerpoint/2010/main" val="2354559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Known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96855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00FF"/>
                </a:solidFill>
              </a:rPr>
              <a:t>All middleware platforms</a:t>
            </a:r>
          </a:p>
          <a:p>
            <a:r>
              <a:rPr lang="en-GB" dirty="0"/>
              <a:t>Glassfish</a:t>
            </a:r>
          </a:p>
          <a:p>
            <a:pPr lvl="1"/>
            <a:r>
              <a:rPr lang="en-GB" dirty="0"/>
              <a:t>https://glassfish.java.net/docs/v3/api/javax/interceptor/package-summary.html</a:t>
            </a:r>
          </a:p>
          <a:p>
            <a:r>
              <a:rPr lang="en-GB" dirty="0">
                <a:hlinkClick r:id="rId2"/>
              </a:rPr>
              <a:t>Apache Tomcat</a:t>
            </a:r>
          </a:p>
          <a:p>
            <a:pPr lvl="1"/>
            <a:r>
              <a:rPr lang="en-GB" dirty="0">
                <a:hlinkClick r:id="rId2"/>
              </a:rPr>
              <a:t>http://tomcat.apache.org/tomcat-6.0-doc/config/cluster-interceptor.html</a:t>
            </a:r>
            <a:endParaRPr lang="en-GB" dirty="0"/>
          </a:p>
          <a:p>
            <a:r>
              <a:rPr lang="en-GB" dirty="0"/>
              <a:t>Document Interceptor for Sharepoint</a:t>
            </a:r>
          </a:p>
          <a:p>
            <a:pPr lvl="1"/>
            <a:r>
              <a:rPr lang="en-GB" dirty="0"/>
              <a:t>http://www.archibus.com/ai/abizfiles/v19.3_help/system-management-help/Content/web_services/webservices_example7.htm</a:t>
            </a:r>
          </a:p>
          <a:p>
            <a:r>
              <a:rPr lang="en-GB" dirty="0"/>
              <a:t>Microsoft Internet Explorer to register plugins for specific media types.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5DEE43C-A2B2-4ED3-80FC-3263ECAC7A8C}" type="slidenum">
              <a:rPr lang="en-US" altLang="en-US" smtClean="0"/>
              <a:pPr/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0423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Interceptor Architectural Pattern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73F4E989-F763-4004-9F33-B18218F0D50C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691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E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Seven steps </a:t>
            </a:r>
            <a:r>
              <a:rPr lang="en-IE" sz="2800" dirty="0"/>
              <a:t>to implement the Interceptor Architectural Pattern: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IE" sz="2800" b="1" dirty="0"/>
              <a:t>Model the Internal Behaviour of the Framework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IE" sz="2800" b="1" dirty="0"/>
              <a:t>Identify and Model Interception Points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IE" sz="2800" b="1" dirty="0"/>
              <a:t>Specify the Context Objects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IE" sz="2800" b="1" dirty="0"/>
              <a:t>Specify the Interceptors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IE" sz="2800" b="1" dirty="0"/>
              <a:t>Specify the Dispatchers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IE" sz="2800" b="1" dirty="0"/>
              <a:t>Implement the Callback Mechanisms in the Concrete Framework.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IE" sz="2800" b="1" dirty="0"/>
              <a:t>Implement the Concrete Interceptors</a:t>
            </a:r>
          </a:p>
        </p:txBody>
      </p:sp>
    </p:spTree>
    <p:extLst>
      <p:ext uri="{BB962C8B-B14F-4D97-AF65-F5344CB8AC3E}">
        <p14:creationId xmlns:p14="http://schemas.microsoft.com/office/powerpoint/2010/main" val="2352697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78" y="260648"/>
            <a:ext cx="9381766" cy="1080120"/>
          </a:xfrm>
        </p:spPr>
        <p:txBody>
          <a:bodyPr>
            <a:noAutofit/>
          </a:bodyPr>
          <a:lstStyle/>
          <a:p>
            <a:r>
              <a:rPr lang="en-IE" sz="4000" dirty="0"/>
              <a:t>Step 1</a:t>
            </a:r>
            <a:r>
              <a:rPr lang="en-IE" dirty="0"/>
              <a:t>:</a:t>
            </a:r>
            <a:r>
              <a:rPr lang="en-IE" sz="4800" dirty="0"/>
              <a:t> </a:t>
            </a:r>
            <a:r>
              <a:rPr lang="en-IE" sz="2800" dirty="0"/>
              <a:t>Model the Internal Behaviour of the Framework</a:t>
            </a:r>
            <a:endParaRPr lang="en-IE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74133"/>
          </a:xfrm>
        </p:spPr>
        <p:txBody>
          <a:bodyPr/>
          <a:lstStyle/>
          <a:p>
            <a:r>
              <a:rPr lang="en-IE" b="1" dirty="0">
                <a:solidFill>
                  <a:srgbClr val="0000FF"/>
                </a:solidFill>
              </a:rPr>
              <a:t>Create a composite state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ECFF13E-C658-4156-B9C3-03FAD67A09E6}" type="slidenum">
              <a:rPr lang="en-US" altLang="en-US" smtClean="0"/>
              <a:pPr/>
              <a:t>12</a:t>
            </a:fld>
            <a:endParaRPr lang="en-US" altLang="en-US" dirty="0"/>
          </a:p>
        </p:txBody>
      </p:sp>
      <p:pic>
        <p:nvPicPr>
          <p:cNvPr id="5" name="Picture 4" descr="interceptor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62539" y="2204864"/>
            <a:ext cx="6024245" cy="46155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4790" y="4365104"/>
            <a:ext cx="25922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dirty="0"/>
              <a:t>Capture the aspects</a:t>
            </a:r>
          </a:p>
          <a:p>
            <a:r>
              <a:rPr lang="en-IE" sz="2000" dirty="0"/>
              <a:t>that are subject</a:t>
            </a:r>
          </a:p>
          <a:p>
            <a:r>
              <a:rPr lang="en-IE" sz="2000" dirty="0"/>
              <a:t>to interception.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778" y="2204864"/>
            <a:ext cx="28083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dirty="0"/>
              <a:t>State machine for client side middleware platform – ORB in this example.</a:t>
            </a:r>
          </a:p>
        </p:txBody>
      </p:sp>
    </p:spTree>
    <p:extLst>
      <p:ext uri="{BB962C8B-B14F-4D97-AF65-F5344CB8AC3E}">
        <p14:creationId xmlns:p14="http://schemas.microsoft.com/office/powerpoint/2010/main" val="3262534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28600"/>
            <a:ext cx="8658544" cy="990600"/>
          </a:xfrm>
        </p:spPr>
        <p:txBody>
          <a:bodyPr>
            <a:noAutofit/>
          </a:bodyPr>
          <a:lstStyle/>
          <a:p>
            <a:r>
              <a:rPr lang="en-IE" dirty="0"/>
              <a:t>Step 2: </a:t>
            </a:r>
            <a:r>
              <a:rPr lang="en-IE" sz="3200" dirty="0"/>
              <a:t>Identify and Model Interception Points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680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b="1" dirty="0">
                <a:solidFill>
                  <a:srgbClr val="0000FF"/>
                </a:solidFill>
              </a:rPr>
              <a:t>(a) First, identify concrete framework state transitions that may not be visible to external applications, but are subject to interception.</a:t>
            </a:r>
          </a:p>
          <a:p>
            <a:r>
              <a:rPr lang="en-IE" dirty="0"/>
              <a:t>Example:</a:t>
            </a:r>
          </a:p>
          <a:p>
            <a:pPr lvl="1"/>
            <a:r>
              <a:rPr lang="en-IE" dirty="0"/>
              <a:t>A client may wish to intercept an outgoing request so that it may add functionality such as logging, or modify the parameters dynamically such as Quality of Service arguments.</a:t>
            </a:r>
          </a:p>
          <a:p>
            <a:r>
              <a:rPr lang="en-IE" dirty="0"/>
              <a:t>These state transitions constitute interception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ECFF13E-C658-4156-B9C3-03FAD67A09E6}" type="slidenum">
              <a:rPr lang="en-US" altLang="en-US" smtClean="0"/>
              <a:pPr/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16347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Step 2: </a:t>
            </a:r>
            <a:r>
              <a:rPr lang="en-IE" sz="3200" dirty="0"/>
              <a:t>Identify and Model Interception Points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556792"/>
            <a:ext cx="8892480" cy="11521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2400" b="1" u="sng" dirty="0">
                <a:solidFill>
                  <a:srgbClr val="0000FF"/>
                </a:solidFill>
              </a:rPr>
              <a:t>(b) Partition interception points into Reader and Writer sets.</a:t>
            </a:r>
          </a:p>
          <a:p>
            <a:r>
              <a:rPr lang="en-IE" sz="2400" dirty="0"/>
              <a:t>Shown for client side only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ECFF13E-C658-4156-B9C3-03FAD67A09E6}" type="slidenum">
              <a:rPr lang="en-US" altLang="en-US" smtClean="0"/>
              <a:pPr/>
              <a:t>14</a:t>
            </a:fld>
            <a:endParaRPr lang="en-US" alt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477824"/>
              </p:ext>
            </p:extLst>
          </p:nvPr>
        </p:nvGraphicFramePr>
        <p:xfrm>
          <a:off x="251520" y="2492896"/>
          <a:ext cx="8568951" cy="3934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9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5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763">
                <a:tc>
                  <a:txBody>
                    <a:bodyPr/>
                    <a:lstStyle/>
                    <a:p>
                      <a:pPr algn="ctr"/>
                      <a:r>
                        <a:rPr lang="en-IE" sz="1400" dirty="0"/>
                        <a:t>Interception </a:t>
                      </a:r>
                    </a:p>
                    <a:p>
                      <a:pPr algn="ctr"/>
                      <a:r>
                        <a:rPr lang="en-IE" sz="1400" dirty="0"/>
                        <a:t>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Reader /</a:t>
                      </a:r>
                      <a:r>
                        <a:rPr lang="en-IE" sz="1600" baseline="0" dirty="0"/>
                        <a:t> Writer</a:t>
                      </a:r>
                      <a:endParaRPr lang="en-I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0769">
                <a:tc>
                  <a:txBody>
                    <a:bodyPr/>
                    <a:lstStyle/>
                    <a:p>
                      <a:r>
                        <a:rPr lang="en-IE" sz="1600" dirty="0"/>
                        <a:t>Binding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600" dirty="0"/>
                        <a:t>The client binds to</a:t>
                      </a:r>
                      <a:r>
                        <a:rPr lang="en-IE" sz="1600" baseline="0" dirty="0"/>
                        <a:t> a remote object. The framework creates a proxy and establishes communication. A monitoring service might intercept this event to visualise load.</a:t>
                      </a:r>
                      <a:endParaRPr lang="en-I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600" dirty="0"/>
                        <a:t>Reader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763">
                <a:tc>
                  <a:txBody>
                    <a:bodyPr/>
                    <a:lstStyle/>
                    <a:p>
                      <a:r>
                        <a:rPr lang="en-IE" sz="1600" baseline="0" dirty="0">
                          <a:latin typeface="Times New Roman" pitchFamily="18" charset="0"/>
                        </a:rPr>
                        <a:t>PreMarshalOutRequest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600" dirty="0"/>
                        <a:t>Interceptors might change the target object to support load balancing, validate preconditions, or encrypt parameters.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600" dirty="0"/>
                        <a:t>Reader + Writer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763">
                <a:tc>
                  <a:txBody>
                    <a:bodyPr/>
                    <a:lstStyle/>
                    <a:p>
                      <a:r>
                        <a:rPr lang="en-IE" sz="1600" baseline="0" dirty="0">
                          <a:latin typeface="Times New Roman" pitchFamily="18" charset="0"/>
                        </a:rPr>
                        <a:t>PostMarshalOutRequest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600" dirty="0"/>
                        <a:t>A client might start a timer to measure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600" dirty="0"/>
                        <a:t>Reader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763">
                <a:tc>
                  <a:txBody>
                    <a:bodyPr/>
                    <a:lstStyle/>
                    <a:p>
                      <a:r>
                        <a:rPr lang="en-IE" sz="1600" baseline="0" dirty="0">
                          <a:latin typeface="Times New Roman" pitchFamily="18" charset="0"/>
                        </a:rPr>
                        <a:t>PreMarshalInReply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600" dirty="0"/>
                        <a:t>The reply has just arrived.</a:t>
                      </a:r>
                      <a:r>
                        <a:rPr lang="en-IE" sz="1600" baseline="0" dirty="0"/>
                        <a:t> A client may be interested in stopping a timer that measures latency</a:t>
                      </a:r>
                      <a:endParaRPr lang="en-I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600" dirty="0"/>
                        <a:t>Reader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763">
                <a:tc>
                  <a:txBody>
                    <a:bodyPr/>
                    <a:lstStyle/>
                    <a:p>
                      <a:r>
                        <a:rPr lang="en-IE" sz="1600" baseline="0" dirty="0">
                          <a:latin typeface="Times New Roman" pitchFamily="18" charset="0"/>
                        </a:rPr>
                        <a:t>PostMarshalInReply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600" dirty="0"/>
                        <a:t>Evaluate post-conditions,</a:t>
                      </a:r>
                      <a:r>
                        <a:rPr lang="en-IE" sz="1600" baseline="0" dirty="0"/>
                        <a:t> decryption, validation of result, etc</a:t>
                      </a:r>
                      <a:endParaRPr lang="en-I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600" dirty="0"/>
                        <a:t>Reader + Writer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1505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579296" cy="1139825"/>
          </a:xfrm>
        </p:spPr>
        <p:txBody>
          <a:bodyPr/>
          <a:lstStyle/>
          <a:p>
            <a:r>
              <a:rPr lang="en-IE" sz="3600" dirty="0"/>
              <a:t>Step 2: Identify and Model Interception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556792"/>
            <a:ext cx="8784976" cy="47525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E" b="1" u="sng" dirty="0">
                <a:solidFill>
                  <a:srgbClr val="0000FF"/>
                </a:solidFill>
              </a:rPr>
              <a:t>(c) Integrate interception points into the state machine model.</a:t>
            </a:r>
          </a:p>
          <a:p>
            <a:r>
              <a:rPr lang="en-IE" dirty="0"/>
              <a:t>By introducing intermediary states</a:t>
            </a:r>
          </a:p>
          <a:p>
            <a:r>
              <a:rPr lang="en-IE" dirty="0"/>
              <a:t>If a state transition is subject to interception, place a new transition between the source and sink states of the original transition. </a:t>
            </a:r>
          </a:p>
          <a:p>
            <a:pPr lvl="1">
              <a:buNone/>
            </a:pPr>
            <a:endParaRPr lang="en-IE" dirty="0"/>
          </a:p>
          <a:p>
            <a:pPr marL="0" indent="0">
              <a:buNone/>
            </a:pPr>
            <a:r>
              <a:rPr lang="en-IE" b="1" u="sng" dirty="0">
                <a:solidFill>
                  <a:srgbClr val="0000FF"/>
                </a:solidFill>
              </a:rPr>
              <a:t>(d) Partition into disjoint interception groups: </a:t>
            </a:r>
          </a:p>
          <a:p>
            <a:r>
              <a:rPr lang="en-IE" dirty="0"/>
              <a:t>By analysing the state machine for interception points in the same area.</a:t>
            </a:r>
          </a:p>
          <a:p>
            <a:pPr lvl="1"/>
            <a:endParaRPr lang="en-IE" dirty="0"/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ECFF13E-C658-4156-B9C3-03FAD67A09E6}" type="slidenum">
              <a:rPr lang="en-US" altLang="en-US" smtClean="0"/>
              <a:pPr/>
              <a:t>15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38174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507288" cy="1139825"/>
          </a:xfrm>
        </p:spPr>
        <p:txBody>
          <a:bodyPr>
            <a:normAutofit/>
          </a:bodyPr>
          <a:lstStyle/>
          <a:p>
            <a:r>
              <a:rPr lang="en-GB" sz="3600" dirty="0"/>
              <a:t>Step 2: Identify and Model Interception Points</a:t>
            </a:r>
            <a:endParaRPr lang="en-IE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73F4E989-F763-4004-9F33-B18218F0D50C}" type="slidenum">
              <a:rPr lang="en-US" altLang="en-US" smtClean="0"/>
              <a:pPr>
                <a:defRPr/>
              </a:pPr>
              <a:t>16</a:t>
            </a:fld>
            <a:endParaRPr lang="en-US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79512" y="1484784"/>
            <a:ext cx="8711880" cy="576064"/>
          </a:xfrm>
        </p:spPr>
        <p:txBody>
          <a:bodyPr>
            <a:normAutofit/>
          </a:bodyPr>
          <a:lstStyle/>
          <a:p>
            <a:r>
              <a:rPr lang="en-IE" b="1" dirty="0">
                <a:solidFill>
                  <a:srgbClr val="0000FF"/>
                </a:solidFill>
              </a:rPr>
              <a:t>Organise into Interception Groups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7544" y="2420888"/>
            <a:ext cx="914400" cy="914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Client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7544" y="4077072"/>
            <a:ext cx="1080120" cy="9144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Stub</a:t>
            </a:r>
          </a:p>
        </p:txBody>
      </p:sp>
      <p:sp>
        <p:nvSpPr>
          <p:cNvPr id="7" name="Rectangle 6"/>
          <p:cNvSpPr/>
          <p:nvPr/>
        </p:nvSpPr>
        <p:spPr>
          <a:xfrm>
            <a:off x="179512" y="5733256"/>
            <a:ext cx="18002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ORB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4048" y="2420888"/>
            <a:ext cx="1296144" cy="914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(Remote) 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4716016" y="4077072"/>
            <a:ext cx="1944216" cy="9144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Skeleton</a:t>
            </a:r>
          </a:p>
          <a:p>
            <a:pPr algn="ctr"/>
            <a:r>
              <a:rPr lang="en-IE" dirty="0"/>
              <a:t> (Server Side Stub)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16016" y="5733256"/>
            <a:ext cx="201622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ORB</a:t>
            </a:r>
          </a:p>
        </p:txBody>
      </p:sp>
      <p:sp>
        <p:nvSpPr>
          <p:cNvPr id="14" name="Right Arrow 13"/>
          <p:cNvSpPr/>
          <p:nvPr/>
        </p:nvSpPr>
        <p:spPr>
          <a:xfrm rot="5400000">
            <a:off x="539552" y="5229200"/>
            <a:ext cx="720080" cy="2880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16" name="Right Arrow 15"/>
          <p:cNvSpPr/>
          <p:nvPr/>
        </p:nvSpPr>
        <p:spPr>
          <a:xfrm rot="5400000">
            <a:off x="539552" y="3573016"/>
            <a:ext cx="720080" cy="2880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17" name="Right Arrow 16"/>
          <p:cNvSpPr/>
          <p:nvPr/>
        </p:nvSpPr>
        <p:spPr>
          <a:xfrm rot="16200000">
            <a:off x="5292080" y="3573016"/>
            <a:ext cx="720080" cy="2880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18" name="Right Arrow 17"/>
          <p:cNvSpPr/>
          <p:nvPr/>
        </p:nvSpPr>
        <p:spPr>
          <a:xfrm rot="16200000">
            <a:off x="5364088" y="5229200"/>
            <a:ext cx="720080" cy="2880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i="1" dirty="0"/>
          </a:p>
        </p:txBody>
      </p:sp>
      <p:sp>
        <p:nvSpPr>
          <p:cNvPr id="26" name="TextBox 25"/>
          <p:cNvSpPr txBox="1"/>
          <p:nvPr/>
        </p:nvSpPr>
        <p:spPr>
          <a:xfrm>
            <a:off x="1619672" y="3501008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latin typeface="Times New Roman" pitchFamily="18" charset="0"/>
              </a:rPr>
              <a:t>PreMarshalOutRequest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47664" y="5157192"/>
            <a:ext cx="242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latin typeface="Times New Roman" pitchFamily="18" charset="0"/>
              </a:rPr>
              <a:t>PostMarshalOutRequest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0177" y="5229200"/>
            <a:ext cx="2185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latin typeface="Times New Roman" pitchFamily="18" charset="0"/>
              </a:rPr>
              <a:t>PreMarshalInRequest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7585" y="3573016"/>
            <a:ext cx="227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latin typeface="Times New Roman" pitchFamily="18" charset="0"/>
              </a:rPr>
              <a:t>PostMarshalInRequest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19672" y="1916832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E" b="1" u="sng" dirty="0"/>
              <a:t>OutRequest </a:t>
            </a:r>
          </a:p>
          <a:p>
            <a:pPr algn="ctr"/>
            <a:r>
              <a:rPr lang="en-IE" b="1" u="sng" dirty="0"/>
              <a:t>Interception Group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72200" y="1916832"/>
            <a:ext cx="30060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E" b="1" u="sng" dirty="0"/>
              <a:t>InRequest </a:t>
            </a:r>
          </a:p>
          <a:p>
            <a:pPr algn="ctr"/>
            <a:r>
              <a:rPr lang="en-IE" b="1" u="sng" dirty="0"/>
              <a:t>Interception Group</a:t>
            </a:r>
          </a:p>
        </p:txBody>
      </p:sp>
      <p:sp>
        <p:nvSpPr>
          <p:cNvPr id="32" name="Left-Right Arrow 31"/>
          <p:cNvSpPr/>
          <p:nvPr/>
        </p:nvSpPr>
        <p:spPr>
          <a:xfrm>
            <a:off x="2051720" y="5877272"/>
            <a:ext cx="2592288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36388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507288" cy="1139825"/>
          </a:xfrm>
        </p:spPr>
        <p:txBody>
          <a:bodyPr>
            <a:normAutofit/>
          </a:bodyPr>
          <a:lstStyle/>
          <a:p>
            <a:r>
              <a:rPr lang="en-GB" sz="3600" dirty="0"/>
              <a:t>Step 2: Identify and Model Interception Points</a:t>
            </a:r>
            <a:endParaRPr lang="en-IE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73F4E989-F763-4004-9F33-B18218F0D50C}" type="slidenum">
              <a:rPr lang="en-US" altLang="en-US" smtClean="0"/>
              <a:pPr>
                <a:defRPr/>
              </a:pPr>
              <a:t>17</a:t>
            </a:fld>
            <a:endParaRPr lang="en-US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51520" y="1484784"/>
            <a:ext cx="8639872" cy="648072"/>
          </a:xfrm>
        </p:spPr>
        <p:txBody>
          <a:bodyPr>
            <a:normAutofit/>
          </a:bodyPr>
          <a:lstStyle/>
          <a:p>
            <a:r>
              <a:rPr lang="en-IE" b="1" dirty="0">
                <a:solidFill>
                  <a:srgbClr val="0000FF"/>
                </a:solidFill>
              </a:rPr>
              <a:t>Organise into Interception Groups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699792" y="2420888"/>
            <a:ext cx="914400" cy="914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Client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2699792" y="4077072"/>
            <a:ext cx="1080120" cy="9144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Stub</a:t>
            </a:r>
          </a:p>
        </p:txBody>
      </p:sp>
      <p:sp>
        <p:nvSpPr>
          <p:cNvPr id="7" name="Rectangle 6"/>
          <p:cNvSpPr/>
          <p:nvPr/>
        </p:nvSpPr>
        <p:spPr>
          <a:xfrm>
            <a:off x="2555776" y="5733256"/>
            <a:ext cx="18002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ORB</a:t>
            </a:r>
          </a:p>
        </p:txBody>
      </p:sp>
      <p:sp>
        <p:nvSpPr>
          <p:cNvPr id="8" name="Rectangle 7"/>
          <p:cNvSpPr/>
          <p:nvPr/>
        </p:nvSpPr>
        <p:spPr>
          <a:xfrm>
            <a:off x="7308304" y="2420888"/>
            <a:ext cx="1296144" cy="914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(Remote) 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7020272" y="4077072"/>
            <a:ext cx="1944216" cy="9144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Skeleton</a:t>
            </a:r>
          </a:p>
          <a:p>
            <a:pPr algn="ctr"/>
            <a:r>
              <a:rPr lang="en-IE" dirty="0"/>
              <a:t> (Server Side Stub)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8264" y="5733256"/>
            <a:ext cx="201622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ORB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3528" y="5229200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latin typeface="Times New Roman" pitchFamily="18" charset="0"/>
              </a:rPr>
              <a:t>PreMarshalInReply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520" y="3501008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latin typeface="Times New Roman" pitchFamily="18" charset="0"/>
              </a:rPr>
              <a:t>PostMarshalInReply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501008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latin typeface="Times New Roman" pitchFamily="18" charset="0"/>
              </a:rPr>
              <a:t>PreMarshalOutReply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4008" y="5229200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latin typeface="Times New Roman" pitchFamily="18" charset="0"/>
              </a:rPr>
              <a:t>PostMarshalOutReply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9512" y="2060848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E" b="1" u="sng" dirty="0"/>
              <a:t>InReply</a:t>
            </a:r>
          </a:p>
          <a:p>
            <a:pPr algn="ctr"/>
            <a:r>
              <a:rPr lang="en-IE" b="1" u="sng" dirty="0"/>
              <a:t>Interception Group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39952" y="2060848"/>
            <a:ext cx="30060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E" b="1" u="sng" dirty="0"/>
              <a:t>OutReply</a:t>
            </a:r>
          </a:p>
          <a:p>
            <a:pPr algn="ctr"/>
            <a:r>
              <a:rPr lang="en-IE" b="1" u="sng" dirty="0"/>
              <a:t>Interception Group</a:t>
            </a:r>
          </a:p>
        </p:txBody>
      </p:sp>
      <p:sp>
        <p:nvSpPr>
          <p:cNvPr id="32" name="Left-Right Arrow 31"/>
          <p:cNvSpPr/>
          <p:nvPr/>
        </p:nvSpPr>
        <p:spPr>
          <a:xfrm>
            <a:off x="4355976" y="5949280"/>
            <a:ext cx="2592288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cxnSp>
        <p:nvCxnSpPr>
          <p:cNvPr id="40" name="Straight Arrow Connector 39"/>
          <p:cNvCxnSpPr>
            <a:stCxn id="9" idx="2"/>
          </p:cNvCxnSpPr>
          <p:nvPr/>
        </p:nvCxnSpPr>
        <p:spPr>
          <a:xfrm flipH="1">
            <a:off x="7956376" y="4991472"/>
            <a:ext cx="36004" cy="741784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3131840" y="3356992"/>
            <a:ext cx="0" cy="720080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03848" y="5013176"/>
            <a:ext cx="0" cy="720080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7956376" y="3356992"/>
            <a:ext cx="0" cy="648072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061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990600"/>
          </a:xfrm>
        </p:spPr>
        <p:txBody>
          <a:bodyPr>
            <a:normAutofit fontScale="90000"/>
          </a:bodyPr>
          <a:lstStyle/>
          <a:p>
            <a:r>
              <a:rPr lang="en-IE" dirty="0"/>
              <a:t>Step 2: Identify &amp; Model Interception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916832"/>
            <a:ext cx="8507288" cy="4824536"/>
          </a:xfrm>
        </p:spPr>
        <p:txBody>
          <a:bodyPr/>
          <a:lstStyle/>
          <a:p>
            <a:r>
              <a:rPr lang="en-IE" sz="3600" dirty="0"/>
              <a:t>The disjoint interception groups:</a:t>
            </a:r>
          </a:p>
          <a:p>
            <a:pPr lvl="1"/>
            <a:r>
              <a:rPr lang="en-IE" sz="3200" b="1" u="sng" dirty="0">
                <a:solidFill>
                  <a:srgbClr val="0000FF"/>
                </a:solidFill>
              </a:rPr>
              <a:t>OutRequest</a:t>
            </a:r>
            <a:r>
              <a:rPr lang="en-IE" sz="3200" dirty="0"/>
              <a:t> Interception Group</a:t>
            </a:r>
          </a:p>
          <a:p>
            <a:pPr lvl="2"/>
            <a:r>
              <a:rPr lang="en-IE" sz="2800" dirty="0">
                <a:solidFill>
                  <a:srgbClr val="0000FF"/>
                </a:solidFill>
              </a:rPr>
              <a:t>PreMarshalOutRequest</a:t>
            </a:r>
          </a:p>
          <a:p>
            <a:pPr lvl="2"/>
            <a:r>
              <a:rPr lang="en-IE" sz="2800" dirty="0">
                <a:solidFill>
                  <a:srgbClr val="0000FF"/>
                </a:solidFill>
              </a:rPr>
              <a:t>PostMarshalOutRequest</a:t>
            </a:r>
          </a:p>
          <a:p>
            <a:pPr lvl="1"/>
            <a:r>
              <a:rPr lang="en-IE" sz="3200" b="1" u="sng" dirty="0">
                <a:solidFill>
                  <a:srgbClr val="0000FF"/>
                </a:solidFill>
              </a:rPr>
              <a:t>InReply</a:t>
            </a:r>
            <a:r>
              <a:rPr lang="en-IE" sz="3200" dirty="0"/>
              <a:t> Interception Group</a:t>
            </a:r>
          </a:p>
          <a:p>
            <a:pPr lvl="2"/>
            <a:r>
              <a:rPr lang="en-IE" sz="2800" dirty="0">
                <a:solidFill>
                  <a:srgbClr val="0000FF"/>
                </a:solidFill>
              </a:rPr>
              <a:t>PreMarshalInReply</a:t>
            </a:r>
          </a:p>
          <a:p>
            <a:pPr lvl="2"/>
            <a:r>
              <a:rPr lang="en-IE" sz="2800" dirty="0">
                <a:solidFill>
                  <a:srgbClr val="0000FF"/>
                </a:solidFill>
              </a:rPr>
              <a:t>PostMarshalInReply</a:t>
            </a:r>
          </a:p>
          <a:p>
            <a:r>
              <a:rPr lang="en-IE" sz="3600" dirty="0"/>
              <a:t>InRequest and OutReply on server side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ECFF13E-C658-4156-B9C3-03FAD67A09E6}" type="slidenum">
              <a:rPr lang="en-US" altLang="en-US" smtClean="0"/>
              <a:pPr/>
              <a:t>18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96364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Step 3: Specify the Context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556792"/>
            <a:ext cx="8964488" cy="518457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E" b="1" u="sng" dirty="0">
                <a:solidFill>
                  <a:srgbClr val="0000FF"/>
                </a:solidFill>
              </a:rPr>
              <a:t>3.1 Determine the context object semantics</a:t>
            </a:r>
          </a:p>
          <a:p>
            <a:r>
              <a:rPr lang="en-IE" dirty="0"/>
              <a:t>If an interception point belongs to a reader set, determine what information should be provided.</a:t>
            </a:r>
          </a:p>
          <a:p>
            <a:r>
              <a:rPr lang="en-IE" dirty="0"/>
              <a:t>For </a:t>
            </a:r>
            <a:r>
              <a:rPr lang="en-IE" b="1" dirty="0"/>
              <a:t>writers, determine how to open the framework</a:t>
            </a:r>
            <a:r>
              <a:rPr lang="en-IE" dirty="0"/>
              <a:t>.</a:t>
            </a:r>
          </a:p>
          <a:p>
            <a:pPr lvl="1"/>
            <a:r>
              <a:rPr lang="en-IE" dirty="0"/>
              <a:t>For example, methods that can modify a parameter.</a:t>
            </a:r>
          </a:p>
          <a:p>
            <a:pPr lvl="1"/>
            <a:r>
              <a:rPr lang="en-IE" dirty="0"/>
              <a:t>Balance “open extensibility” versus “error prone interception code” that introduce vulnerabilities.</a:t>
            </a:r>
          </a:p>
          <a:p>
            <a:pPr marL="0" indent="0">
              <a:buNone/>
            </a:pPr>
            <a:r>
              <a:rPr lang="en-IE" b="1" u="sng" dirty="0">
                <a:solidFill>
                  <a:srgbClr val="0000FF"/>
                </a:solidFill>
              </a:rPr>
              <a:t>3.2 Determine the number of context objects</a:t>
            </a:r>
          </a:p>
          <a:p>
            <a:r>
              <a:rPr lang="en-IE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Multiple interfaces</a:t>
            </a:r>
            <a:r>
              <a:rPr lang="en-IE" dirty="0"/>
              <a:t>: different context objects for a diverse set of interception points, facilitates fine grained control, more work for client developers.</a:t>
            </a:r>
          </a:p>
          <a:p>
            <a:r>
              <a:rPr lang="en-IE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Single interface  </a:t>
            </a:r>
          </a:p>
          <a:p>
            <a:pPr lvl="1"/>
            <a:r>
              <a:rPr lang="en-IE" dirty="0"/>
              <a:t>May result in a bloated context interface that is difficult to understand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ECFF13E-C658-4156-B9C3-03FAD67A09E6}" type="slidenum">
              <a:rPr lang="en-US" altLang="en-US" smtClean="0"/>
              <a:pPr/>
              <a:t>19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202675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Step 3: Specify the Context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00200"/>
            <a:ext cx="8586536" cy="5069160"/>
          </a:xfrm>
        </p:spPr>
        <p:txBody>
          <a:bodyPr>
            <a:noAutofit/>
          </a:bodyPr>
          <a:lstStyle/>
          <a:p>
            <a:r>
              <a:rPr lang="en-IE" sz="3200" dirty="0"/>
              <a:t>Example: intercepting outgoing events</a:t>
            </a:r>
          </a:p>
          <a:p>
            <a:pPr lvl="1"/>
            <a:r>
              <a:rPr lang="en-IE" sz="2800" dirty="0"/>
              <a:t>Reading and </a:t>
            </a:r>
            <a:r>
              <a:rPr lang="en-IE" sz="2800" b="1" dirty="0">
                <a:solidFill>
                  <a:srgbClr val="0000FF"/>
                </a:solidFill>
              </a:rPr>
              <a:t>changing the target </a:t>
            </a:r>
            <a:r>
              <a:rPr lang="en-IE" sz="2800" dirty="0"/>
              <a:t>object to support load balancing</a:t>
            </a:r>
          </a:p>
          <a:p>
            <a:pPr lvl="1"/>
            <a:r>
              <a:rPr lang="en-IE" sz="2800" dirty="0"/>
              <a:t>Reading and modifying parameters to support </a:t>
            </a:r>
            <a:r>
              <a:rPr lang="en-IE" sz="2800" b="1" dirty="0">
                <a:solidFill>
                  <a:srgbClr val="0000FF"/>
                </a:solidFill>
              </a:rPr>
              <a:t>encryption, validation</a:t>
            </a:r>
            <a:r>
              <a:rPr lang="en-IE" sz="2800" dirty="0"/>
              <a:t>, or change behaviour reflectively.</a:t>
            </a:r>
          </a:p>
          <a:p>
            <a:pPr lvl="1"/>
            <a:r>
              <a:rPr lang="en-IE" sz="2800" dirty="0"/>
              <a:t>Adding new data to the request such as </a:t>
            </a:r>
            <a:r>
              <a:rPr lang="en-IE" sz="2800" b="1" dirty="0">
                <a:solidFill>
                  <a:srgbClr val="0000FF"/>
                </a:solidFill>
              </a:rPr>
              <a:t>security tokens </a:t>
            </a:r>
            <a:r>
              <a:rPr lang="en-IE" sz="2800" b="1" dirty="0"/>
              <a:t>or </a:t>
            </a:r>
            <a:r>
              <a:rPr lang="en-IE" sz="2800" b="1" dirty="0">
                <a:solidFill>
                  <a:srgbClr val="0000FF"/>
                </a:solidFill>
              </a:rPr>
              <a:t>transaction contexts</a:t>
            </a:r>
            <a:r>
              <a:rPr lang="en-IE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E" sz="2800" dirty="0"/>
              <a:t>to add out of band information to the request.</a:t>
            </a:r>
          </a:p>
          <a:p>
            <a:pPr lvl="1"/>
            <a:r>
              <a:rPr lang="en-IE" sz="2800" dirty="0"/>
              <a:t>Integrating </a:t>
            </a:r>
            <a:r>
              <a:rPr lang="en-IE" sz="2800" b="1" dirty="0">
                <a:solidFill>
                  <a:srgbClr val="0000FF"/>
                </a:solidFill>
              </a:rPr>
              <a:t>custom marshalling and unmarshalling </a:t>
            </a:r>
            <a:r>
              <a:rPr lang="en-IE" sz="2800" dirty="0"/>
              <a:t>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ECFF13E-C658-4156-B9C3-03FAD67A09E6}" type="slidenum">
              <a:rPr lang="en-US" altLang="en-US" smtClean="0"/>
              <a:pPr/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68200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Step 3: Specify the Context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Correspond to activities associated with</a:t>
            </a:r>
          </a:p>
          <a:p>
            <a:pPr lvl="1"/>
            <a:r>
              <a:rPr lang="en-IE" sz="3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PreMarshalOutRequest</a:t>
            </a:r>
            <a:r>
              <a:rPr lang="en-IE" sz="32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IE" sz="3200" dirty="0">
                <a:cs typeface="Courier New" pitchFamily="49" charset="0"/>
              </a:rPr>
              <a:t>and</a:t>
            </a:r>
          </a:p>
          <a:p>
            <a:pPr lvl="1"/>
            <a:r>
              <a:rPr lang="en-IE" sz="3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PostMarshalOutRequest</a:t>
            </a:r>
            <a:r>
              <a:rPr lang="en-IE" sz="3200" dirty="0">
                <a:latin typeface="Courier New" pitchFamily="49" charset="0"/>
                <a:cs typeface="Courier New" pitchFamily="49" charset="0"/>
              </a:rPr>
              <a:t>.</a:t>
            </a:r>
          </a:p>
          <a:p>
            <a:r>
              <a:rPr lang="en-IE" sz="3600" dirty="0"/>
              <a:t>Introduce two context objects types</a:t>
            </a:r>
          </a:p>
          <a:p>
            <a:pPr lvl="1"/>
            <a:r>
              <a:rPr lang="en-IE" sz="32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UnmarshaledRequest</a:t>
            </a:r>
            <a:endParaRPr lang="en-IE" sz="32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IE" sz="3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MarshaledRequest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ECFF13E-C658-4156-B9C3-03FAD67A09E6}" type="slidenum">
              <a:rPr lang="en-US" altLang="en-US" smtClean="0"/>
              <a:pPr/>
              <a:t>21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85346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Step 3: Specify the Context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772816"/>
            <a:ext cx="8153400" cy="4896544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E" dirty="0">
                <a:latin typeface="Lucida Fax" pitchFamily="18" charset="0"/>
              </a:rPr>
              <a:t>public interface </a:t>
            </a:r>
            <a:r>
              <a:rPr lang="en-IE" b="1" dirty="0" err="1">
                <a:solidFill>
                  <a:srgbClr val="0000FF"/>
                </a:solidFill>
                <a:latin typeface="Lucida Fax" pitchFamily="18" charset="0"/>
              </a:rPr>
              <a:t>UnmarshaledRequest</a:t>
            </a:r>
            <a:r>
              <a:rPr lang="en-IE" dirty="0">
                <a:latin typeface="Lucida Fax" pitchFamily="18" charset="0"/>
              </a:rPr>
              <a:t> {</a:t>
            </a:r>
          </a:p>
          <a:p>
            <a:pPr>
              <a:buNone/>
            </a:pPr>
            <a:r>
              <a:rPr lang="en-IE" dirty="0">
                <a:latin typeface="Lucida Fax" pitchFamily="18" charset="0"/>
              </a:rPr>
              <a:t>  public String getHost();</a:t>
            </a:r>
          </a:p>
          <a:p>
            <a:pPr>
              <a:buNone/>
            </a:pPr>
            <a:r>
              <a:rPr lang="en-IE" dirty="0">
                <a:latin typeface="Lucida Fax" pitchFamily="18" charset="0"/>
              </a:rPr>
              <a:t>  public void setHost(String host);</a:t>
            </a:r>
          </a:p>
          <a:p>
            <a:pPr>
              <a:buNone/>
            </a:pPr>
            <a:r>
              <a:rPr lang="en-IE" dirty="0">
                <a:latin typeface="Lucida Fax" pitchFamily="18" charset="0"/>
              </a:rPr>
              <a:t>  public long getPort();</a:t>
            </a:r>
          </a:p>
          <a:p>
            <a:pPr>
              <a:buNone/>
            </a:pPr>
            <a:r>
              <a:rPr lang="en-IE" dirty="0">
                <a:latin typeface="Lucida Fax" pitchFamily="18" charset="0"/>
              </a:rPr>
              <a:t>  public long setPort(long newPort);</a:t>
            </a:r>
          </a:p>
          <a:p>
            <a:pPr>
              <a:buNone/>
            </a:pPr>
            <a:r>
              <a:rPr lang="en-IE" dirty="0">
                <a:latin typeface="Lucida Fax" pitchFamily="18" charset="0"/>
              </a:rPr>
              <a:t>  public String getObjName();</a:t>
            </a:r>
          </a:p>
          <a:p>
            <a:pPr>
              <a:buNone/>
            </a:pPr>
            <a:r>
              <a:rPr lang="en-IE" dirty="0">
                <a:latin typeface="Lucida Fax" pitchFamily="18" charset="0"/>
              </a:rPr>
              <a:t>  public void setObjName(String newName);</a:t>
            </a:r>
          </a:p>
          <a:p>
            <a:pPr>
              <a:buNone/>
            </a:pPr>
            <a:r>
              <a:rPr lang="en-IE" dirty="0">
                <a:latin typeface="Lucida Fax" pitchFamily="18" charset="0"/>
              </a:rPr>
              <a:t>  public String getMethod();</a:t>
            </a:r>
          </a:p>
          <a:p>
            <a:pPr>
              <a:buNone/>
            </a:pPr>
            <a:r>
              <a:rPr lang="en-IE" dirty="0">
                <a:latin typeface="Lucida Fax" pitchFamily="18" charset="0"/>
              </a:rPr>
              <a:t>  public void getMethod(String name);</a:t>
            </a:r>
          </a:p>
          <a:p>
            <a:pPr>
              <a:buNone/>
            </a:pPr>
            <a:r>
              <a:rPr lang="en-IE" dirty="0">
                <a:latin typeface="Lucida Fax" pitchFamily="18" charset="0"/>
              </a:rPr>
              <a:t>  public void addInfo(Object info);</a:t>
            </a:r>
          </a:p>
          <a:p>
            <a:pPr>
              <a:buNone/>
            </a:pPr>
            <a:r>
              <a:rPr lang="en-IE" dirty="0">
                <a:latin typeface="Lucida Fax" pitchFamily="18" charset="0"/>
              </a:rPr>
              <a:t>  // .............</a:t>
            </a:r>
          </a:p>
          <a:p>
            <a:pPr>
              <a:buNone/>
            </a:pPr>
            <a:r>
              <a:rPr lang="en-IE" dirty="0">
                <a:latin typeface="Lucida Fax" pitchFamily="18" charset="0"/>
              </a:rPr>
              <a:t>}</a:t>
            </a:r>
          </a:p>
          <a:p>
            <a:pPr>
              <a:buNone/>
            </a:pPr>
            <a:endParaRPr lang="en-IE" dirty="0"/>
          </a:p>
          <a:p>
            <a:pPr>
              <a:buNone/>
            </a:pP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ECFF13E-C658-4156-B9C3-03FAD67A09E6}" type="slidenum">
              <a:rPr lang="en-US" altLang="en-US" smtClean="0"/>
              <a:pPr/>
              <a:t>22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02824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Step 3: Specify the Context Objects</a:t>
            </a:r>
            <a:br>
              <a:rPr lang="en-IE" dirty="0"/>
            </a:b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00200"/>
            <a:ext cx="8514528" cy="5141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3600" b="1" u="sng" dirty="0">
                <a:solidFill>
                  <a:srgbClr val="0000FF"/>
                </a:solidFill>
              </a:rPr>
              <a:t>3.3 Determine how to pass context objects</a:t>
            </a:r>
          </a:p>
          <a:p>
            <a:pPr lvl="1"/>
            <a:r>
              <a:rPr lang="en-IE" sz="3200" b="1" dirty="0"/>
              <a:t>Per Registration</a:t>
            </a:r>
            <a:r>
              <a:rPr lang="en-IE" sz="3200" dirty="0"/>
              <a:t>: a context object is passed once and once only to a concrete interceptor upon registration</a:t>
            </a:r>
          </a:p>
          <a:p>
            <a:pPr lvl="1"/>
            <a:r>
              <a:rPr lang="en-IE" sz="3200" b="1" dirty="0"/>
              <a:t>Per-event</a:t>
            </a:r>
          </a:p>
          <a:p>
            <a:r>
              <a:rPr lang="en-IE" sz="3600" dirty="0"/>
              <a:t>Determined usually by number of interfaces.</a:t>
            </a:r>
          </a:p>
          <a:p>
            <a:r>
              <a:rPr lang="en-IE" sz="3600" dirty="0"/>
              <a:t>Per event has higher overheads due to repeated creation and deletion.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ECFF13E-C658-4156-B9C3-03FAD67A09E6}" type="slidenum">
              <a:rPr lang="en-US" altLang="en-US" smtClean="0"/>
              <a:pPr/>
              <a:t>23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701111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Step 4: Specify the Interceptors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28800"/>
            <a:ext cx="8712968" cy="5112568"/>
          </a:xfrm>
        </p:spPr>
        <p:txBody>
          <a:bodyPr>
            <a:normAutofit fontScale="55000" lnSpcReduction="20000"/>
          </a:bodyPr>
          <a:lstStyle/>
          <a:p>
            <a:pPr>
              <a:spcAft>
                <a:spcPts val="600"/>
              </a:spcAft>
            </a:pPr>
            <a:r>
              <a:rPr lang="en-IE" sz="3800" dirty="0"/>
              <a:t>An interceptor defines a generic interface that a concrete framework uses to invoke concrete interceptors via dispatchers when interception points are triggered.</a:t>
            </a:r>
          </a:p>
          <a:p>
            <a:pPr>
              <a:spcAft>
                <a:spcPts val="600"/>
              </a:spcAft>
            </a:pPr>
            <a:r>
              <a:rPr lang="en-IE" sz="3800" b="1" dirty="0"/>
              <a:t>An interceptor is defined for each interception group.</a:t>
            </a:r>
          </a:p>
          <a:p>
            <a:pPr>
              <a:spcAft>
                <a:spcPts val="600"/>
              </a:spcAft>
            </a:pPr>
            <a:r>
              <a:rPr lang="en-IE" sz="3800" b="1" dirty="0"/>
              <a:t>A designated callback hook method (signature) is specified for each interception point in a group.</a:t>
            </a:r>
          </a:p>
          <a:p>
            <a:pPr>
              <a:spcAft>
                <a:spcPts val="600"/>
              </a:spcAft>
            </a:pPr>
            <a:r>
              <a:rPr lang="en-IE" sz="3800" dirty="0"/>
              <a:t>The interceptor corresponds to the observer participant in the Observer Design Pattern.</a:t>
            </a:r>
          </a:p>
          <a:p>
            <a:pPr>
              <a:spcAft>
                <a:spcPts val="600"/>
              </a:spcAft>
            </a:pPr>
            <a:r>
              <a:rPr lang="en-IE" sz="3800" dirty="0"/>
              <a:t>Designated callback hook mechanism plays the role of “</a:t>
            </a:r>
            <a:r>
              <a:rPr lang="en-IE" sz="3800" i="1" dirty="0"/>
              <a:t>update()</a:t>
            </a:r>
            <a:r>
              <a:rPr lang="en-IE" sz="3800" dirty="0"/>
              <a:t>”</a:t>
            </a:r>
          </a:p>
          <a:p>
            <a:pPr>
              <a:spcAft>
                <a:spcPts val="600"/>
              </a:spcAft>
            </a:pPr>
            <a:r>
              <a:rPr lang="en-IE" sz="3600" dirty="0"/>
              <a:t>Interface for OutRequest Interception Group</a:t>
            </a:r>
          </a:p>
          <a:p>
            <a:pPr>
              <a:spcAft>
                <a:spcPts val="600"/>
              </a:spcAft>
            </a:pPr>
            <a:endParaRPr lang="en-IE" sz="1600" dirty="0"/>
          </a:p>
          <a:p>
            <a:pPr>
              <a:buNone/>
            </a:pPr>
            <a:r>
              <a:rPr lang="en-IE" sz="3300" dirty="0">
                <a:latin typeface="Lucida Fax" pitchFamily="18" charset="0"/>
              </a:rPr>
              <a:t>public interface </a:t>
            </a:r>
            <a:r>
              <a:rPr lang="en-IE" sz="3300" b="1" dirty="0">
                <a:solidFill>
                  <a:srgbClr val="0000FF"/>
                </a:solidFill>
                <a:latin typeface="Lucida Fax" pitchFamily="18" charset="0"/>
              </a:rPr>
              <a:t>ClientRequestIntercepto</a:t>
            </a:r>
            <a:r>
              <a:rPr lang="en-IE" sz="3300" b="1" dirty="0">
                <a:latin typeface="Lucida Fax" pitchFamily="18" charset="0"/>
              </a:rPr>
              <a:t>r</a:t>
            </a:r>
            <a:r>
              <a:rPr lang="en-IE" sz="3300" dirty="0">
                <a:latin typeface="Lucida Fax" pitchFamily="18" charset="0"/>
              </a:rPr>
              <a:t> {</a:t>
            </a:r>
          </a:p>
          <a:p>
            <a:pPr>
              <a:buNone/>
            </a:pPr>
            <a:r>
              <a:rPr lang="en-IE" sz="3300" dirty="0">
                <a:latin typeface="Lucida Fax" pitchFamily="18" charset="0"/>
              </a:rPr>
              <a:t>  public void </a:t>
            </a:r>
            <a:r>
              <a:rPr lang="en-IE" sz="3300" b="1" dirty="0">
                <a:solidFill>
                  <a:srgbClr val="0000FF"/>
                </a:solidFill>
                <a:latin typeface="Lucida Fax" pitchFamily="18" charset="0"/>
              </a:rPr>
              <a:t>onPreMarshalRequest</a:t>
            </a:r>
            <a:r>
              <a:rPr lang="en-IE" sz="3300" dirty="0">
                <a:latin typeface="Lucida Fax" pitchFamily="18" charset="0"/>
              </a:rPr>
              <a:t> (</a:t>
            </a:r>
            <a:r>
              <a:rPr lang="en-IE" sz="3300" b="1" dirty="0" err="1">
                <a:latin typeface="Lucida Fax" pitchFamily="18" charset="0"/>
              </a:rPr>
              <a:t>UnmarshaledRequest</a:t>
            </a:r>
            <a:r>
              <a:rPr lang="en-IE" sz="3300" dirty="0">
                <a:latin typeface="Lucida Fax" pitchFamily="18" charset="0"/>
              </a:rPr>
              <a:t> context);</a:t>
            </a:r>
          </a:p>
          <a:p>
            <a:pPr>
              <a:buNone/>
            </a:pPr>
            <a:r>
              <a:rPr lang="en-IE" sz="3300" dirty="0">
                <a:latin typeface="Lucida Fax" pitchFamily="18" charset="0"/>
              </a:rPr>
              <a:t>  public void </a:t>
            </a:r>
            <a:r>
              <a:rPr lang="en-IE" sz="3300" b="1" dirty="0">
                <a:solidFill>
                  <a:srgbClr val="0000FF"/>
                </a:solidFill>
                <a:latin typeface="Lucida Fax" pitchFamily="18" charset="0"/>
              </a:rPr>
              <a:t>onPostMarshaledRequest</a:t>
            </a:r>
            <a:r>
              <a:rPr lang="en-IE" sz="3300" dirty="0">
                <a:latin typeface="Lucida Fax" pitchFamily="18" charset="0"/>
              </a:rPr>
              <a:t> (</a:t>
            </a:r>
            <a:r>
              <a:rPr lang="en-IE" sz="3300" b="1" dirty="0">
                <a:latin typeface="Lucida Fax" pitchFamily="18" charset="0"/>
              </a:rPr>
              <a:t>MarshaledRequest</a:t>
            </a:r>
            <a:r>
              <a:rPr lang="en-IE" sz="3300" dirty="0">
                <a:latin typeface="Lucida Fax" pitchFamily="18" charset="0"/>
              </a:rPr>
              <a:t> context);</a:t>
            </a:r>
          </a:p>
          <a:p>
            <a:pPr>
              <a:buNone/>
            </a:pPr>
            <a:r>
              <a:rPr lang="en-IE" sz="3300" dirty="0">
                <a:latin typeface="Lucida Fax" pitchFamily="18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ECFF13E-C658-4156-B9C3-03FAD67A09E6}" type="slidenum">
              <a:rPr lang="en-US" altLang="en-US" smtClean="0"/>
              <a:pPr/>
              <a:t>24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4405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Step 5: Specify the Dispatchers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844824"/>
            <a:ext cx="8442520" cy="48245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3200" b="1" u="sng" dirty="0">
                <a:solidFill>
                  <a:srgbClr val="0000FF"/>
                </a:solidFill>
              </a:rPr>
              <a:t>5.1 Specify the Interceptor registration interface.</a:t>
            </a:r>
          </a:p>
          <a:p>
            <a:r>
              <a:rPr lang="en-IE" sz="3200" dirty="0"/>
              <a:t>To implement different callback policies, applications can pass a priority token when registering concrete interceptors with the dispatcher.</a:t>
            </a:r>
          </a:p>
          <a:p>
            <a:pPr lvl="1"/>
            <a:r>
              <a:rPr lang="en-IE" sz="2800" dirty="0"/>
              <a:t>Determines invocation order when multiple interceptors registered with same dispatcher</a:t>
            </a:r>
          </a:p>
          <a:p>
            <a:r>
              <a:rPr lang="en-IE" sz="3200" dirty="0"/>
              <a:t>Helper class can automate registration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ECFF13E-C658-4156-B9C3-03FAD67A09E6}" type="slidenum">
              <a:rPr lang="en-US" altLang="en-US" smtClean="0"/>
              <a:pPr/>
              <a:t>25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8319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Step 5: Specify the Dispatchers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556792"/>
            <a:ext cx="8712968" cy="518457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IE" sz="2000" dirty="0">
                <a:latin typeface="Lucida Fax" pitchFamily="18" charset="0"/>
              </a:rPr>
              <a:t>1. public class </a:t>
            </a:r>
            <a:r>
              <a:rPr lang="en-IE" sz="2000" b="1" dirty="0">
                <a:solidFill>
                  <a:srgbClr val="0000FF"/>
                </a:solidFill>
                <a:latin typeface="Lucida Fax" pitchFamily="18" charset="0"/>
              </a:rPr>
              <a:t>ClientRequestDispatcher </a:t>
            </a:r>
            <a:r>
              <a:rPr lang="en-IE" sz="2000" dirty="0">
                <a:latin typeface="Lucida Fax" pitchFamily="18" charset="0"/>
              </a:rPr>
              <a:t>{</a:t>
            </a:r>
          </a:p>
          <a:p>
            <a:pPr>
              <a:buNone/>
            </a:pPr>
            <a:r>
              <a:rPr lang="en-IE" sz="2000" dirty="0">
                <a:latin typeface="Lucida Fax" pitchFamily="18" charset="0"/>
              </a:rPr>
              <a:t>2.</a:t>
            </a:r>
          </a:p>
          <a:p>
            <a:pPr>
              <a:buNone/>
            </a:pPr>
            <a:r>
              <a:rPr lang="en-IE" sz="2000" dirty="0">
                <a:latin typeface="Lucida Fax" pitchFamily="18" charset="0"/>
              </a:rPr>
              <a:t>3.     Vector interceptors_;</a:t>
            </a:r>
          </a:p>
          <a:p>
            <a:pPr>
              <a:buNone/>
            </a:pPr>
            <a:r>
              <a:rPr lang="en-IE" sz="2000" dirty="0">
                <a:latin typeface="Lucida Fax" pitchFamily="18" charset="0"/>
              </a:rPr>
              <a:t>4.</a:t>
            </a:r>
          </a:p>
          <a:p>
            <a:pPr>
              <a:buNone/>
            </a:pPr>
            <a:r>
              <a:rPr lang="en-IE" sz="2000" dirty="0">
                <a:latin typeface="Lucida Fax" pitchFamily="18" charset="0"/>
              </a:rPr>
              <a:t>5.    synchonized public void </a:t>
            </a:r>
            <a:r>
              <a:rPr lang="en-IE" sz="2000" b="1" dirty="0">
                <a:solidFill>
                  <a:srgbClr val="0000FF"/>
                </a:solidFill>
                <a:latin typeface="Lucida Fax" pitchFamily="18" charset="0"/>
              </a:rPr>
              <a:t>registerClientRequestInterceptor</a:t>
            </a:r>
          </a:p>
          <a:p>
            <a:pPr>
              <a:buNone/>
            </a:pPr>
            <a:r>
              <a:rPr lang="en-IE" sz="2000" dirty="0">
                <a:latin typeface="Lucida Fax" pitchFamily="18" charset="0"/>
              </a:rPr>
              <a:t>6.                                       (ClientRequestInterceptor i) {</a:t>
            </a:r>
          </a:p>
          <a:p>
            <a:pPr>
              <a:buNone/>
            </a:pPr>
            <a:r>
              <a:rPr lang="en-IE" sz="2000" dirty="0">
                <a:latin typeface="Lucida Fax" pitchFamily="18" charset="0"/>
              </a:rPr>
              <a:t>7.             </a:t>
            </a:r>
            <a:r>
              <a:rPr lang="en-IE" sz="2000" dirty="0" err="1">
                <a:latin typeface="Lucida Fax" pitchFamily="18" charset="0"/>
              </a:rPr>
              <a:t>interceptors_.addElement</a:t>
            </a:r>
            <a:r>
              <a:rPr lang="en-IE" sz="2000" dirty="0">
                <a:latin typeface="Lucida Fax" pitchFamily="18" charset="0"/>
              </a:rPr>
              <a:t>(</a:t>
            </a:r>
            <a:r>
              <a:rPr lang="en-IE" sz="2000" dirty="0" err="1">
                <a:latin typeface="Lucida Fax" pitchFamily="18" charset="0"/>
              </a:rPr>
              <a:t>i</a:t>
            </a:r>
            <a:r>
              <a:rPr lang="en-IE" sz="2000" dirty="0">
                <a:latin typeface="Lucida Fax" pitchFamily="18" charset="0"/>
              </a:rPr>
              <a:t>);</a:t>
            </a:r>
          </a:p>
          <a:p>
            <a:pPr>
              <a:buNone/>
            </a:pPr>
            <a:r>
              <a:rPr lang="en-IE" sz="2000" dirty="0">
                <a:latin typeface="Lucida Fax" pitchFamily="18" charset="0"/>
              </a:rPr>
              <a:t>8.     } </a:t>
            </a:r>
          </a:p>
          <a:p>
            <a:pPr>
              <a:buNone/>
            </a:pPr>
            <a:r>
              <a:rPr lang="en-IE" sz="2000" dirty="0">
                <a:latin typeface="Lucida Fax" pitchFamily="18" charset="0"/>
              </a:rPr>
              <a:t>9.</a:t>
            </a:r>
          </a:p>
          <a:p>
            <a:pPr>
              <a:buNone/>
            </a:pPr>
            <a:r>
              <a:rPr lang="en-IE" sz="2000" dirty="0">
                <a:latin typeface="Lucida Fax" pitchFamily="18" charset="0"/>
              </a:rPr>
              <a:t>10.   synchonized public void </a:t>
            </a:r>
            <a:r>
              <a:rPr lang="en-IE" sz="2000" b="1" dirty="0">
                <a:solidFill>
                  <a:srgbClr val="0000FF"/>
                </a:solidFill>
                <a:latin typeface="Lucida Fax" pitchFamily="18" charset="0"/>
              </a:rPr>
              <a:t>removeClientRequestInterceptor</a:t>
            </a:r>
          </a:p>
          <a:p>
            <a:pPr>
              <a:buNone/>
            </a:pPr>
            <a:r>
              <a:rPr lang="en-IE" sz="2000" dirty="0">
                <a:latin typeface="Lucida Fax" pitchFamily="18" charset="0"/>
              </a:rPr>
              <a:t>11.                                       (ClientRequestInterceptor i) {</a:t>
            </a:r>
          </a:p>
          <a:p>
            <a:pPr>
              <a:buNone/>
            </a:pPr>
            <a:r>
              <a:rPr lang="en-IE" sz="2000" dirty="0">
                <a:latin typeface="Lucida Fax" pitchFamily="18" charset="0"/>
              </a:rPr>
              <a:t>12.             </a:t>
            </a:r>
            <a:r>
              <a:rPr lang="en-IE" sz="2000" dirty="0" err="1">
                <a:latin typeface="Lucida Fax" pitchFamily="18" charset="0"/>
              </a:rPr>
              <a:t>interceptors_.removeElement</a:t>
            </a:r>
            <a:r>
              <a:rPr lang="en-IE" sz="2000" dirty="0">
                <a:latin typeface="Lucida Fax" pitchFamily="18" charset="0"/>
              </a:rPr>
              <a:t>(</a:t>
            </a:r>
            <a:r>
              <a:rPr lang="en-IE" sz="2000" dirty="0" err="1">
                <a:latin typeface="Lucida Fax" pitchFamily="18" charset="0"/>
              </a:rPr>
              <a:t>i</a:t>
            </a:r>
            <a:r>
              <a:rPr lang="en-IE" sz="2000" dirty="0">
                <a:latin typeface="Lucida Fax" pitchFamily="18" charset="0"/>
              </a:rPr>
              <a:t>);</a:t>
            </a:r>
          </a:p>
          <a:p>
            <a:pPr>
              <a:buNone/>
            </a:pPr>
            <a:r>
              <a:rPr lang="en-IE" sz="2000" dirty="0">
                <a:latin typeface="Lucida Fax" pitchFamily="18" charset="0"/>
              </a:rPr>
              <a:t>13.    }</a:t>
            </a:r>
          </a:p>
          <a:p>
            <a:pPr>
              <a:buNone/>
            </a:pPr>
            <a:r>
              <a:rPr lang="en-IE" sz="2000" dirty="0">
                <a:latin typeface="Lucida Fax" pitchFamily="18" charset="0"/>
              </a:rPr>
              <a:t>14. } 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ECFF13E-C658-4156-B9C3-03FAD67A09E6}" type="slidenum">
              <a:rPr lang="en-US" altLang="en-US" smtClean="0"/>
              <a:pPr/>
              <a:t>26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477506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Step 5: Specify the Dispatchers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628800"/>
            <a:ext cx="9036496" cy="5229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E" sz="2000" b="1" u="sng" dirty="0">
                <a:solidFill>
                  <a:srgbClr val="0000FF"/>
                </a:solidFill>
              </a:rPr>
              <a:t>5.2 Specify the Dispatcher callback interface</a:t>
            </a:r>
          </a:p>
          <a:p>
            <a:r>
              <a:rPr lang="en-IE" sz="2000" dirty="0"/>
              <a:t>When an interception event occurs, the framework callback to the dispatcher.</a:t>
            </a:r>
          </a:p>
          <a:p>
            <a:r>
              <a:rPr lang="en-IE" sz="2000" dirty="0"/>
              <a:t>The dispatcher then invokes the designated callback hook method of its registered concrete interceptors.</a:t>
            </a:r>
          </a:p>
          <a:p>
            <a:r>
              <a:rPr lang="en-IE" sz="2000" dirty="0"/>
              <a:t>A dispatcher often provides the same interface to the concrete framework that its associated interceptor offers to the dispatcher.</a:t>
            </a:r>
          </a:p>
          <a:p>
            <a:endParaRPr lang="en-IE" sz="1000" dirty="0"/>
          </a:p>
          <a:p>
            <a:pPr>
              <a:buNone/>
            </a:pPr>
            <a:r>
              <a:rPr lang="en-IE" sz="1600" dirty="0">
                <a:latin typeface="Lucida Fax" pitchFamily="18" charset="0"/>
              </a:rPr>
              <a:t>public class </a:t>
            </a:r>
            <a:r>
              <a:rPr lang="en-IE" sz="1600" b="1" dirty="0">
                <a:solidFill>
                  <a:srgbClr val="0000FF"/>
                </a:solidFill>
                <a:latin typeface="Lucida Fax" pitchFamily="18" charset="0"/>
              </a:rPr>
              <a:t>ClientRequestDispatcher</a:t>
            </a:r>
            <a:r>
              <a:rPr lang="en-IE" sz="1600" dirty="0">
                <a:latin typeface="Lucida Fax" pitchFamily="18" charset="0"/>
              </a:rPr>
              <a:t> implements </a:t>
            </a:r>
            <a:r>
              <a:rPr lang="en-IE" sz="1600" b="1" dirty="0">
                <a:latin typeface="Lucida Fax" pitchFamily="18" charset="0"/>
              </a:rPr>
              <a:t>ClientRequestInterceptor</a:t>
            </a:r>
            <a:r>
              <a:rPr lang="en-IE" sz="1600" dirty="0">
                <a:latin typeface="Lucida Fax" pitchFamily="18" charset="0"/>
              </a:rPr>
              <a:t> {</a:t>
            </a:r>
          </a:p>
          <a:p>
            <a:pPr>
              <a:buNone/>
            </a:pPr>
            <a:r>
              <a:rPr lang="en-IE" sz="1800" dirty="0">
                <a:latin typeface="Lucida Fax" pitchFamily="18" charset="0"/>
              </a:rPr>
              <a:t>      ...............</a:t>
            </a:r>
          </a:p>
          <a:p>
            <a:pPr>
              <a:buNone/>
            </a:pPr>
            <a:r>
              <a:rPr lang="en-IE" sz="1400" dirty="0">
                <a:latin typeface="Lucida Fax" pitchFamily="18" charset="0"/>
              </a:rPr>
              <a:t>}</a:t>
            </a:r>
          </a:p>
          <a:p>
            <a:r>
              <a:rPr lang="en-IE" sz="2000" dirty="0"/>
              <a:t>Benefits</a:t>
            </a:r>
          </a:p>
          <a:p>
            <a:pPr lvl="1"/>
            <a:r>
              <a:rPr lang="en-IE" sz="1800" b="1" dirty="0"/>
              <a:t>Streamlines performance through delegation</a:t>
            </a:r>
          </a:p>
          <a:p>
            <a:pPr lvl="1"/>
            <a:r>
              <a:rPr lang="en-IE" sz="1800" dirty="0"/>
              <a:t>Localises the modifications required if dispatcher interface changes.</a:t>
            </a:r>
          </a:p>
          <a:p>
            <a:pPr lvl="2"/>
            <a:r>
              <a:rPr lang="en-IE" sz="1600" dirty="0"/>
              <a:t>Example: new interception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ECFF13E-C658-4156-B9C3-03FAD67A09E6}" type="slidenum">
              <a:rPr lang="en-US" altLang="en-US" smtClean="0"/>
              <a:pPr/>
              <a:t>27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102133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Step 6: </a:t>
            </a:r>
            <a:r>
              <a:rPr lang="en-IE" sz="3600" dirty="0"/>
              <a:t>Implement the Callback Mechanisms in the Concrete Framework</a:t>
            </a:r>
            <a:r>
              <a:rPr lang="en-IE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772816"/>
            <a:ext cx="8507288" cy="4896544"/>
          </a:xfrm>
        </p:spPr>
        <p:txBody>
          <a:bodyPr>
            <a:normAutofit/>
          </a:bodyPr>
          <a:lstStyle/>
          <a:p>
            <a:r>
              <a:rPr lang="en-IE" dirty="0"/>
              <a:t>Use Observer Design Pattern</a:t>
            </a:r>
          </a:p>
          <a:p>
            <a:r>
              <a:rPr lang="en-IE" dirty="0"/>
              <a:t>Dispatchers register with the concrete framework.</a:t>
            </a:r>
          </a:p>
          <a:p>
            <a:r>
              <a:rPr lang="en-IE" dirty="0"/>
              <a:t>When an interception event occurs, the framework calls back to the designated method in the dispatcher.</a:t>
            </a:r>
          </a:p>
          <a:p>
            <a:r>
              <a:rPr lang="en-IE" dirty="0"/>
              <a:t>Can pass the context as a parameter, or use a preallocated singleton.</a:t>
            </a:r>
          </a:p>
          <a:p>
            <a:r>
              <a:rPr lang="en-IE" dirty="0"/>
              <a:t>Dispatcher can use strategy to allow applications to use different callback strategies – FIFO/LIFO, priority, Chain of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ECFF13E-C658-4156-B9C3-03FAD67A09E6}" type="slidenum">
              <a:rPr lang="en-US" altLang="en-US" smtClean="0"/>
              <a:pPr/>
              <a:t>28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833908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Step 6: </a:t>
            </a:r>
            <a:r>
              <a:rPr lang="en-IE" sz="3600" dirty="0"/>
              <a:t>Implement the Callback Mechanisms in the Concrete Framework.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700808"/>
            <a:ext cx="8640960" cy="515719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IE" sz="1800" dirty="0">
                <a:latin typeface="Lucida Fax" pitchFamily="18" charset="0"/>
              </a:rPr>
              <a:t>1. public class </a:t>
            </a:r>
            <a:r>
              <a:rPr lang="en-IE" sz="1800" b="1" dirty="0">
                <a:solidFill>
                  <a:srgbClr val="0000FF"/>
                </a:solidFill>
                <a:latin typeface="Lucida Fax" pitchFamily="18" charset="0"/>
              </a:rPr>
              <a:t>ClientRequestDispatcher</a:t>
            </a:r>
            <a:r>
              <a:rPr lang="en-IE" sz="1800" dirty="0">
                <a:latin typeface="Lucida Fax" pitchFamily="18" charset="0"/>
              </a:rPr>
              <a:t> {</a:t>
            </a:r>
          </a:p>
          <a:p>
            <a:pPr>
              <a:buNone/>
            </a:pPr>
            <a:r>
              <a:rPr lang="en-IE" sz="1800" dirty="0">
                <a:latin typeface="Lucida Fax" pitchFamily="18" charset="0"/>
              </a:rPr>
              <a:t>2.      // ......</a:t>
            </a:r>
          </a:p>
          <a:p>
            <a:pPr>
              <a:buNone/>
            </a:pPr>
            <a:r>
              <a:rPr lang="en-IE" sz="1800" dirty="0">
                <a:latin typeface="Lucida Fax" pitchFamily="18" charset="0"/>
              </a:rPr>
              <a:t>3.      public void </a:t>
            </a:r>
            <a:r>
              <a:rPr lang="en-IE" sz="1800" b="1" dirty="0">
                <a:latin typeface="Lucida Fax" pitchFamily="18" charset="0"/>
              </a:rPr>
              <a:t>dispatchClientRequestInterceptorPreMarshal</a:t>
            </a:r>
          </a:p>
          <a:p>
            <a:pPr>
              <a:buNone/>
            </a:pPr>
            <a:r>
              <a:rPr lang="en-IE" sz="1800" dirty="0">
                <a:latin typeface="Lucida Fax" pitchFamily="18" charset="0"/>
              </a:rPr>
              <a:t>4.                              ( </a:t>
            </a:r>
            <a:r>
              <a:rPr lang="en-IE" sz="1800" b="1" dirty="0">
                <a:latin typeface="Lucida Fax" pitchFamily="18" charset="0"/>
              </a:rPr>
              <a:t>UnMarshaledRequest</a:t>
            </a:r>
            <a:r>
              <a:rPr lang="en-IE" sz="1800" dirty="0">
                <a:latin typeface="Lucida Fax" pitchFamily="18" charset="0"/>
              </a:rPr>
              <a:t> context) {    </a:t>
            </a:r>
          </a:p>
          <a:p>
            <a:pPr>
              <a:buNone/>
            </a:pPr>
            <a:r>
              <a:rPr lang="en-IE" sz="1800" dirty="0">
                <a:latin typeface="Lucida Fax" pitchFamily="18" charset="0"/>
              </a:rPr>
              <a:t>5.         Vector interceptors;</a:t>
            </a:r>
          </a:p>
          <a:p>
            <a:pPr>
              <a:buNone/>
            </a:pPr>
            <a:r>
              <a:rPr lang="en-IE" sz="1800" dirty="0">
                <a:latin typeface="Lucida Fax" pitchFamily="18" charset="0"/>
              </a:rPr>
              <a:t>6.          synchronized (this) {</a:t>
            </a:r>
          </a:p>
          <a:p>
            <a:pPr>
              <a:buNone/>
            </a:pPr>
            <a:r>
              <a:rPr lang="en-IE" sz="1800" dirty="0">
                <a:latin typeface="Lucida Fax" pitchFamily="18" charset="0"/>
              </a:rPr>
              <a:t>7.                 interceptors = (Vector) interceptors.clone();</a:t>
            </a:r>
          </a:p>
          <a:p>
            <a:pPr>
              <a:buNone/>
            </a:pPr>
            <a:r>
              <a:rPr lang="en-IE" sz="1800" dirty="0">
                <a:latin typeface="Lucida Fax" pitchFamily="18" charset="0"/>
              </a:rPr>
              <a:t>8.          }</a:t>
            </a:r>
          </a:p>
          <a:p>
            <a:pPr>
              <a:buNone/>
            </a:pPr>
            <a:r>
              <a:rPr lang="en-IE" sz="1800" dirty="0">
                <a:latin typeface="Lucida Fax" pitchFamily="18" charset="0"/>
              </a:rPr>
              <a:t>9.         for(int i = 0; i &lt; interceptors.size(); i++) {</a:t>
            </a:r>
          </a:p>
          <a:p>
            <a:pPr>
              <a:buNone/>
            </a:pPr>
            <a:r>
              <a:rPr lang="en-IE" sz="1800" dirty="0">
                <a:latin typeface="Lucida Fax" pitchFamily="18" charset="0"/>
              </a:rPr>
              <a:t>10.              </a:t>
            </a:r>
            <a:r>
              <a:rPr lang="en-IE" sz="1800" b="1" dirty="0">
                <a:latin typeface="Lucida Fax" pitchFamily="18" charset="0"/>
              </a:rPr>
              <a:t>ClientRequestInterceptor</a:t>
            </a:r>
            <a:r>
              <a:rPr lang="en-IE" sz="1800" dirty="0">
                <a:latin typeface="Lucida Fax" pitchFamily="18" charset="0"/>
              </a:rPr>
              <a:t> ic =          </a:t>
            </a:r>
          </a:p>
          <a:p>
            <a:pPr>
              <a:buNone/>
            </a:pPr>
            <a:r>
              <a:rPr lang="en-IE" sz="1800" dirty="0">
                <a:latin typeface="Lucida Fax" pitchFamily="18" charset="0"/>
              </a:rPr>
              <a:t>11.                            (</a:t>
            </a:r>
            <a:r>
              <a:rPr lang="en-IE" sz="1800" b="1" dirty="0">
                <a:latin typeface="Lucida Fax" pitchFamily="18" charset="0"/>
              </a:rPr>
              <a:t>ClientRequestInterceptor</a:t>
            </a:r>
            <a:r>
              <a:rPr lang="en-IE" sz="1800" dirty="0">
                <a:latin typeface="Lucida Fax" pitchFamily="18" charset="0"/>
              </a:rPr>
              <a:t>)interceptors.elementAt(i);</a:t>
            </a:r>
          </a:p>
          <a:p>
            <a:pPr>
              <a:buNone/>
            </a:pPr>
            <a:r>
              <a:rPr lang="en-IE" sz="1800" dirty="0">
                <a:latin typeface="Lucida Fax" pitchFamily="18" charset="0"/>
              </a:rPr>
              <a:t>12.              ic.</a:t>
            </a:r>
            <a:r>
              <a:rPr lang="en-IE" sz="1800" b="1" dirty="0">
                <a:latin typeface="Lucida Fax" pitchFamily="18" charset="0"/>
              </a:rPr>
              <a:t>onPreMarshalRequest</a:t>
            </a:r>
            <a:r>
              <a:rPr lang="en-IE" sz="1800" dirty="0">
                <a:latin typeface="Lucida Fax" pitchFamily="18" charset="0"/>
              </a:rPr>
              <a:t>(context);</a:t>
            </a:r>
          </a:p>
          <a:p>
            <a:pPr>
              <a:buNone/>
            </a:pPr>
            <a:r>
              <a:rPr lang="en-IE" sz="1800" dirty="0">
                <a:latin typeface="Lucida Fax" pitchFamily="18" charset="0"/>
              </a:rPr>
              <a:t>13.        }</a:t>
            </a:r>
          </a:p>
          <a:p>
            <a:pPr>
              <a:buNone/>
            </a:pPr>
            <a:r>
              <a:rPr lang="en-IE" sz="1800" dirty="0">
                <a:latin typeface="Lucida Fax" pitchFamily="18" charset="0"/>
              </a:rPr>
              <a:t>14.    }</a:t>
            </a:r>
          </a:p>
          <a:p>
            <a:pPr>
              <a:buNone/>
            </a:pPr>
            <a:r>
              <a:rPr lang="en-IE" sz="1800" dirty="0">
                <a:latin typeface="Lucida Fax" pitchFamily="18" charset="0"/>
              </a:rPr>
              <a:t>15.    // ..............</a:t>
            </a:r>
          </a:p>
          <a:p>
            <a:pPr>
              <a:buNone/>
            </a:pPr>
            <a:r>
              <a:rPr lang="en-IE" sz="1800" dirty="0">
                <a:latin typeface="Lucida Fax" pitchFamily="18" charset="0"/>
              </a:rPr>
              <a:t>16. }</a:t>
            </a:r>
          </a:p>
          <a:p>
            <a:pPr>
              <a:buNone/>
            </a:pPr>
            <a:r>
              <a:rPr lang="en-IE" sz="1800" dirty="0">
                <a:latin typeface="Lucida Fax" pitchFamily="18" charset="0"/>
              </a:rPr>
              <a:t>  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ECFF13E-C658-4156-B9C3-03FAD67A09E6}" type="slidenum">
              <a:rPr lang="en-US" altLang="en-US" smtClean="0"/>
              <a:pPr/>
              <a:t>29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470599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Step 7: </a:t>
            </a:r>
            <a:r>
              <a:rPr lang="en-IE" sz="3200" dirty="0"/>
              <a:t>Implement the Concrete Interceptors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518457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IE" sz="1400" dirty="0">
                <a:latin typeface="Lucida Fax" pitchFamily="18" charset="0"/>
              </a:rPr>
              <a:t>1. public class Client {</a:t>
            </a:r>
          </a:p>
          <a:p>
            <a:pPr>
              <a:buNone/>
            </a:pPr>
            <a:r>
              <a:rPr lang="en-IE" sz="1400" dirty="0">
                <a:latin typeface="Lucida Fax" pitchFamily="18" charset="0"/>
              </a:rPr>
              <a:t>2.</a:t>
            </a:r>
          </a:p>
          <a:p>
            <a:pPr>
              <a:buNone/>
            </a:pPr>
            <a:r>
              <a:rPr lang="en-IE" sz="1400" dirty="0">
                <a:latin typeface="Lucida Fax" pitchFamily="18" charset="0"/>
              </a:rPr>
              <a:t>3.     static final void main(Strings args[]) {</a:t>
            </a:r>
          </a:p>
          <a:p>
            <a:pPr>
              <a:buNone/>
            </a:pPr>
            <a:r>
              <a:rPr lang="en-IE" sz="1400" dirty="0">
                <a:latin typeface="Lucida Fax" pitchFamily="18" charset="0"/>
              </a:rPr>
              <a:t>4.</a:t>
            </a:r>
          </a:p>
          <a:p>
            <a:pPr>
              <a:buNone/>
            </a:pPr>
            <a:r>
              <a:rPr lang="en-IE" sz="1400" dirty="0">
                <a:latin typeface="Lucida Fax" pitchFamily="18" charset="0"/>
              </a:rPr>
              <a:t>5</a:t>
            </a:r>
            <a:r>
              <a:rPr lang="en-IE" sz="1400" dirty="0">
                <a:solidFill>
                  <a:srgbClr val="0000FF"/>
                </a:solidFill>
                <a:latin typeface="Lucida Fax" pitchFamily="18" charset="0"/>
              </a:rPr>
              <a:t>.           </a:t>
            </a:r>
            <a:r>
              <a:rPr lang="en-IE" sz="1400" b="1" dirty="0">
                <a:solidFill>
                  <a:srgbClr val="0000FF"/>
                </a:solidFill>
                <a:latin typeface="Lucida Fax" pitchFamily="18" charset="0"/>
              </a:rPr>
              <a:t>ClientRequestInterceptor</a:t>
            </a:r>
            <a:r>
              <a:rPr lang="en-IE" sz="1400" dirty="0">
                <a:solidFill>
                  <a:srgbClr val="0000FF"/>
                </a:solidFill>
                <a:latin typeface="Lucida Fax" pitchFamily="18" charset="0"/>
              </a:rPr>
              <a:t> myInterceptor = new </a:t>
            </a:r>
            <a:r>
              <a:rPr lang="en-IE" sz="1400" b="1" dirty="0">
                <a:solidFill>
                  <a:srgbClr val="0000FF"/>
                </a:solidFill>
                <a:latin typeface="Lucida Fax" pitchFamily="18" charset="0"/>
              </a:rPr>
              <a:t>ClientRequestInterceptor</a:t>
            </a:r>
            <a:r>
              <a:rPr lang="en-IE" sz="1400" dirty="0">
                <a:solidFill>
                  <a:srgbClr val="0000FF"/>
                </a:solidFill>
                <a:latin typeface="Lucida Fax" pitchFamily="18" charset="0"/>
              </a:rPr>
              <a:t> () {</a:t>
            </a:r>
          </a:p>
          <a:p>
            <a:pPr>
              <a:buNone/>
            </a:pPr>
            <a:r>
              <a:rPr lang="en-IE" sz="1400" dirty="0">
                <a:solidFill>
                  <a:srgbClr val="0000FF"/>
                </a:solidFill>
                <a:latin typeface="Lucida Fax" pitchFamily="18" charset="0"/>
              </a:rPr>
              <a:t>6.                  public void </a:t>
            </a:r>
            <a:r>
              <a:rPr lang="en-IE" sz="1400" b="1" dirty="0">
                <a:solidFill>
                  <a:srgbClr val="0000FF"/>
                </a:solidFill>
                <a:latin typeface="Lucida Fax" pitchFamily="18" charset="0"/>
              </a:rPr>
              <a:t>onPreMarshalRequest</a:t>
            </a:r>
            <a:r>
              <a:rPr lang="en-IE" sz="1400" dirty="0">
                <a:solidFill>
                  <a:srgbClr val="0000FF"/>
                </a:solidFill>
                <a:latin typeface="Lucida Fax" pitchFamily="18" charset="0"/>
              </a:rPr>
              <a:t>(</a:t>
            </a:r>
            <a:r>
              <a:rPr lang="en-IE" sz="1400" b="1" dirty="0">
                <a:solidFill>
                  <a:srgbClr val="0000FF"/>
                </a:solidFill>
                <a:latin typeface="Lucida Fax" pitchFamily="18" charset="0"/>
              </a:rPr>
              <a:t>UnMarshaledRequest</a:t>
            </a:r>
            <a:r>
              <a:rPr lang="en-IE" sz="1400" dirty="0">
                <a:solidFill>
                  <a:srgbClr val="0000FF"/>
                </a:solidFill>
                <a:latin typeface="Lucida Fax" pitchFamily="18" charset="0"/>
              </a:rPr>
              <a:t> context) {</a:t>
            </a:r>
          </a:p>
          <a:p>
            <a:pPr>
              <a:buNone/>
            </a:pPr>
            <a:r>
              <a:rPr lang="en-IE" sz="1400" dirty="0">
                <a:solidFill>
                  <a:srgbClr val="0000FF"/>
                </a:solidFill>
                <a:latin typeface="Lucida Fax" pitchFamily="18" charset="0"/>
              </a:rPr>
              <a:t>7.                          System.out.println(context.getObj() + “called”);</a:t>
            </a:r>
          </a:p>
          <a:p>
            <a:pPr>
              <a:buNone/>
            </a:pPr>
            <a:r>
              <a:rPr lang="en-IE" sz="1400" dirty="0">
                <a:solidFill>
                  <a:srgbClr val="0000FF"/>
                </a:solidFill>
                <a:latin typeface="Lucida Fax" pitchFamily="18" charset="0"/>
              </a:rPr>
              <a:t>8.                          // .............</a:t>
            </a:r>
          </a:p>
          <a:p>
            <a:pPr>
              <a:buNone/>
            </a:pPr>
            <a:r>
              <a:rPr lang="en-IE" sz="1400" dirty="0">
                <a:solidFill>
                  <a:srgbClr val="0000FF"/>
                </a:solidFill>
                <a:latin typeface="Lucida Fax" pitchFamily="18" charset="0"/>
              </a:rPr>
              <a:t>9.                    }</a:t>
            </a:r>
          </a:p>
          <a:p>
            <a:pPr>
              <a:buNone/>
            </a:pPr>
            <a:r>
              <a:rPr lang="en-IE" sz="1400" dirty="0">
                <a:solidFill>
                  <a:srgbClr val="0000FF"/>
                </a:solidFill>
                <a:latin typeface="Lucida Fax" pitchFamily="18" charset="0"/>
              </a:rPr>
              <a:t>10.                  public void </a:t>
            </a:r>
            <a:r>
              <a:rPr lang="en-IE" sz="1400" b="1" dirty="0">
                <a:solidFill>
                  <a:srgbClr val="0000FF"/>
                </a:solidFill>
                <a:latin typeface="Lucida Fax" pitchFamily="18" charset="0"/>
              </a:rPr>
              <a:t>onPostMarshalRequest</a:t>
            </a:r>
            <a:r>
              <a:rPr lang="en-IE" sz="1400" dirty="0">
                <a:solidFill>
                  <a:srgbClr val="0000FF"/>
                </a:solidFill>
                <a:latin typeface="Lucida Fax" pitchFamily="18" charset="0"/>
              </a:rPr>
              <a:t>(</a:t>
            </a:r>
            <a:r>
              <a:rPr lang="en-IE" sz="1400" b="1" dirty="0">
                <a:solidFill>
                  <a:srgbClr val="0000FF"/>
                </a:solidFill>
                <a:latin typeface="Lucida Fax" pitchFamily="18" charset="0"/>
              </a:rPr>
              <a:t>MarshaledRequest</a:t>
            </a:r>
            <a:r>
              <a:rPr lang="en-IE" sz="1400" dirty="0">
                <a:solidFill>
                  <a:srgbClr val="0000FF"/>
                </a:solidFill>
                <a:latin typeface="Lucida Fax" pitchFamily="18" charset="0"/>
              </a:rPr>
              <a:t> context) {</a:t>
            </a:r>
          </a:p>
          <a:p>
            <a:pPr>
              <a:buNone/>
            </a:pPr>
            <a:r>
              <a:rPr lang="en-IE" sz="1400" dirty="0">
                <a:solidFill>
                  <a:srgbClr val="0000FF"/>
                </a:solidFill>
                <a:latin typeface="Lucida Fax" pitchFamily="18" charset="0"/>
              </a:rPr>
              <a:t>11.                        // ............</a:t>
            </a:r>
          </a:p>
          <a:p>
            <a:pPr>
              <a:buNone/>
            </a:pPr>
            <a:r>
              <a:rPr lang="en-IE" sz="1400" dirty="0">
                <a:solidFill>
                  <a:srgbClr val="0000FF"/>
                </a:solidFill>
                <a:latin typeface="Lucida Fax" pitchFamily="18" charset="0"/>
              </a:rPr>
              <a:t>12.                   }</a:t>
            </a:r>
          </a:p>
          <a:p>
            <a:pPr>
              <a:buNone/>
            </a:pPr>
            <a:r>
              <a:rPr lang="en-IE" sz="1400" dirty="0">
                <a:solidFill>
                  <a:srgbClr val="0000FF"/>
                </a:solidFill>
                <a:latin typeface="Lucida Fax" pitchFamily="18" charset="0"/>
              </a:rPr>
              <a:t>13.           };</a:t>
            </a:r>
          </a:p>
          <a:p>
            <a:pPr>
              <a:buNone/>
            </a:pPr>
            <a:r>
              <a:rPr lang="en-IE" sz="1400" dirty="0">
                <a:latin typeface="Lucida Fax" pitchFamily="18" charset="0"/>
              </a:rPr>
              <a:t>14.</a:t>
            </a:r>
          </a:p>
          <a:p>
            <a:pPr>
              <a:buNone/>
            </a:pPr>
            <a:r>
              <a:rPr lang="en-IE" sz="1400" dirty="0">
                <a:latin typeface="Lucida Fax" pitchFamily="18" charset="0"/>
              </a:rPr>
              <a:t>15.           </a:t>
            </a:r>
            <a:r>
              <a:rPr lang="en-IE" sz="1400" b="1" dirty="0">
                <a:latin typeface="Lucida Fax" pitchFamily="18" charset="0"/>
              </a:rPr>
              <a:t>ClientRequestDispatcher</a:t>
            </a:r>
            <a:r>
              <a:rPr lang="en-IE" sz="1400" dirty="0">
                <a:latin typeface="Lucida Fax" pitchFamily="18" charset="0"/>
              </a:rPr>
              <a:t>.theInstance().</a:t>
            </a:r>
            <a:r>
              <a:rPr lang="en-IE" sz="1400" b="1" dirty="0">
                <a:latin typeface="Lucida Fax" pitchFamily="18" charset="0"/>
              </a:rPr>
              <a:t>registerClientRequestInterceptor</a:t>
            </a:r>
          </a:p>
          <a:p>
            <a:pPr>
              <a:buNone/>
            </a:pPr>
            <a:r>
              <a:rPr lang="en-IE" sz="1400" dirty="0">
                <a:latin typeface="Lucida Fax" pitchFamily="18" charset="0"/>
              </a:rPr>
              <a:t>16.                             (myInterceptor);</a:t>
            </a:r>
          </a:p>
          <a:p>
            <a:pPr>
              <a:buNone/>
            </a:pPr>
            <a:r>
              <a:rPr lang="en-IE" sz="1400" dirty="0">
                <a:latin typeface="Lucida Fax" pitchFamily="18" charset="0"/>
              </a:rPr>
              <a:t>17.           // Do Work</a:t>
            </a:r>
          </a:p>
          <a:p>
            <a:pPr>
              <a:buNone/>
            </a:pPr>
            <a:r>
              <a:rPr lang="en-IE" sz="1400" dirty="0">
                <a:latin typeface="Lucida Fax" pitchFamily="18" charset="0"/>
              </a:rPr>
              <a:t>18.       }</a:t>
            </a:r>
          </a:p>
          <a:p>
            <a:pPr>
              <a:buNone/>
            </a:pPr>
            <a:r>
              <a:rPr lang="en-IE" sz="1400" dirty="0">
                <a:latin typeface="Lucida Fax" pitchFamily="18" charset="0"/>
              </a:rPr>
              <a:t>19. 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ECFF13E-C658-4156-B9C3-03FAD67A09E6}" type="slidenum">
              <a:rPr lang="en-US" altLang="en-US" smtClean="0"/>
              <a:pPr/>
              <a:t>30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010719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Interceptor Architectural Pattern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73F4E989-F763-4004-9F33-B18218F0D50C}" type="slidenum">
              <a:rPr lang="en-US" altLang="en-US" smtClean="0"/>
              <a:pPr>
                <a:defRPr/>
              </a:pPr>
              <a:t>31</a:t>
            </a:fld>
            <a:endParaRPr lang="en-US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691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E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Seven steps </a:t>
            </a:r>
            <a:r>
              <a:rPr lang="en-IE" sz="2800" dirty="0"/>
              <a:t>to implement the Interceptor Architectural Pattern: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IE" sz="2800" b="1" dirty="0"/>
              <a:t>Model the Internal Behaviour of the Framework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IE" sz="2800" b="1" dirty="0"/>
              <a:t>Identify and Model Interception Points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IE" sz="2800" b="1" dirty="0"/>
              <a:t>Specify the Context Objects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IE" sz="2800" b="1" dirty="0"/>
              <a:t>Specify the Interceptors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IE" sz="2800" b="1" dirty="0"/>
              <a:t>Specify the Dispatchers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IE" sz="2800" b="1" dirty="0"/>
              <a:t>Implement the Callback Mechanisms in the Concrete Framework.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IE" sz="2800" b="1" dirty="0"/>
              <a:t>Implement the Concrete Interceptors</a:t>
            </a:r>
          </a:p>
        </p:txBody>
      </p:sp>
    </p:spTree>
    <p:extLst>
      <p:ext uri="{BB962C8B-B14F-4D97-AF65-F5344CB8AC3E}">
        <p14:creationId xmlns:p14="http://schemas.microsoft.com/office/powerpoint/2010/main" val="21270641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Interceptor Architectural Pattern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0836A89-18F5-403F-94DB-55126B0CD674}" type="slidenum">
              <a:rPr lang="en-US" altLang="en-US" smtClean="0"/>
              <a:pPr/>
              <a:t>32</a:t>
            </a:fld>
            <a:endParaRPr lang="en-US" altLang="en-US" dirty="0"/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600200"/>
            <a:ext cx="8514528" cy="5357192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1200"/>
              </a:spcBef>
            </a:pPr>
            <a:r>
              <a:rPr lang="en-GB" dirty="0"/>
              <a:t>The dispatcher appears to play the role of a dynamic proxy </a:t>
            </a:r>
          </a:p>
          <a:p>
            <a:pPr lvl="1">
              <a:spcBef>
                <a:spcPts val="1200"/>
              </a:spcBef>
            </a:pPr>
            <a:r>
              <a:rPr lang="en-GB" dirty="0"/>
              <a:t>Introduces another level of indirection that decouples callers from callees that are linked through callbacks.</a:t>
            </a:r>
          </a:p>
          <a:p>
            <a:pPr>
              <a:spcBef>
                <a:spcPts val="1200"/>
              </a:spcBef>
            </a:pPr>
            <a:r>
              <a:rPr lang="en-GB" dirty="0"/>
              <a:t>This is found in the </a:t>
            </a:r>
            <a:r>
              <a:rPr lang="en-GB" b="1" dirty="0">
                <a:solidFill>
                  <a:srgbClr val="0000FF"/>
                </a:solidFill>
              </a:rPr>
              <a:t>Abstract Client </a:t>
            </a:r>
            <a:r>
              <a:rPr lang="en-GB" dirty="0"/>
              <a:t>pattern that supports callbacks. </a:t>
            </a:r>
          </a:p>
          <a:p>
            <a:pPr>
              <a:spcBef>
                <a:spcPts val="1200"/>
              </a:spcBef>
            </a:pPr>
            <a:r>
              <a:rPr lang="en-GB" dirty="0"/>
              <a:t>Patterns found in Gamma et al. including Bridge, Chain of Responsibility, Observer, and Strategy uses the Abstract Client. </a:t>
            </a:r>
          </a:p>
          <a:p>
            <a:pPr>
              <a:spcBef>
                <a:spcPts val="1200"/>
              </a:spcBef>
            </a:pPr>
            <a:r>
              <a:rPr lang="en-GB" dirty="0"/>
              <a:t>The Reactor pattern [Schmidt], the Completion Callback pattern [Lea], the Conduits+ framework [Huni] also use the Abstract Client.</a:t>
            </a:r>
          </a:p>
          <a:p>
            <a:pPr>
              <a:spcBef>
                <a:spcPts val="1200"/>
              </a:spcBef>
            </a:pPr>
            <a:r>
              <a:rPr lang="en-GB" dirty="0"/>
              <a:t>This pattern is central to OO programming, and is the easiest callback pattern to apply.</a:t>
            </a:r>
          </a:p>
          <a:p>
            <a:pPr>
              <a:spcBef>
                <a:spcPts val="1200"/>
              </a:spcBef>
            </a:pPr>
            <a:r>
              <a:rPr lang="en-GB" dirty="0"/>
              <a:t>Java provides an interface facility for specifying Abstract Client interfaces.</a:t>
            </a:r>
          </a:p>
          <a:p>
            <a:pPr>
              <a:spcBef>
                <a:spcPts val="1200"/>
              </a:spcBef>
            </a:pPr>
            <a:r>
              <a:rPr lang="en-GB" dirty="0"/>
              <a:t>In C, operational equivalence is facilitated by using pointers to functions.</a:t>
            </a:r>
          </a:p>
          <a:p>
            <a:pPr>
              <a:spcBef>
                <a:spcPts val="1200"/>
              </a:spcBef>
            </a:pPr>
            <a:r>
              <a:rPr lang="en-GB" dirty="0"/>
              <a:t>For a layman’s overview, see </a:t>
            </a:r>
            <a:r>
              <a:rPr lang="en-GB" b="1" dirty="0">
                <a:solidFill>
                  <a:srgbClr val="0000FF"/>
                </a:solidFill>
              </a:rPr>
              <a:t>Paul Jakubik (1997). Callback Implementations in C++</a:t>
            </a:r>
            <a:r>
              <a:rPr lang="en-GB" dirty="0"/>
              <a:t>.</a:t>
            </a:r>
          </a:p>
          <a:p>
            <a:pPr>
              <a:spcBef>
                <a:spcPts val="1200"/>
              </a:spcBef>
            </a:pPr>
            <a:r>
              <a:rPr lang="en-GB" dirty="0"/>
              <a:t>Abstract client is further generalised by the adapter pattern.</a:t>
            </a:r>
          </a:p>
        </p:txBody>
      </p:sp>
    </p:spTree>
    <p:extLst>
      <p:ext uri="{BB962C8B-B14F-4D97-AF65-F5344CB8AC3E}">
        <p14:creationId xmlns:p14="http://schemas.microsoft.com/office/powerpoint/2010/main" val="2266495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The Interceptor Architectural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28800"/>
            <a:ext cx="8784976" cy="5229200"/>
          </a:xfrm>
        </p:spPr>
        <p:txBody>
          <a:bodyPr>
            <a:normAutofit fontScale="85000" lnSpcReduction="10000"/>
          </a:bodyPr>
          <a:lstStyle/>
          <a:p>
            <a:r>
              <a:rPr lang="en-IE" dirty="0"/>
              <a:t>Interception is commonly used to handle security &amp; transactions transparently.</a:t>
            </a:r>
          </a:p>
          <a:p>
            <a:r>
              <a:rPr lang="en-IE" dirty="0"/>
              <a:t>It can also enable performance enhancement strategies </a:t>
            </a:r>
          </a:p>
          <a:p>
            <a:pPr lvl="1"/>
            <a:r>
              <a:rPr lang="en-IE" dirty="0"/>
              <a:t>e.g., just-in-time activation, object pooling, load balancing, &amp; caching </a:t>
            </a:r>
          </a:p>
          <a:p>
            <a:r>
              <a:rPr lang="en-IE" dirty="0"/>
              <a:t>Interceptor are a “</a:t>
            </a:r>
            <a:r>
              <a:rPr lang="en-IE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meta-programming mechanism</a:t>
            </a:r>
            <a:r>
              <a:rPr lang="en-IE" dirty="0"/>
              <a:t>,” along with</a:t>
            </a:r>
          </a:p>
          <a:p>
            <a:pPr lvl="1"/>
            <a:r>
              <a:rPr lang="en-IE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Smart proxies</a:t>
            </a:r>
          </a:p>
          <a:p>
            <a:pPr lvl="1"/>
            <a:r>
              <a:rPr lang="en-IE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Pluggable protocols</a:t>
            </a:r>
          </a:p>
          <a:p>
            <a:pPr lvl="1"/>
            <a:r>
              <a:rPr lang="en-IE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Gateways/bridges</a:t>
            </a:r>
          </a:p>
          <a:p>
            <a:pPr lvl="1"/>
            <a:r>
              <a:rPr lang="en-IE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Interface repositories </a:t>
            </a:r>
          </a:p>
          <a:p>
            <a:r>
              <a:rPr lang="en-IE" dirty="0"/>
              <a:t>Provide building-blocks to handle extensions, often unanticipated.</a:t>
            </a:r>
          </a:p>
          <a:p>
            <a:r>
              <a:rPr lang="en-IE" dirty="0"/>
              <a:t>More on meta-programming:</a:t>
            </a:r>
          </a:p>
          <a:p>
            <a:pPr lvl="1"/>
            <a:r>
              <a:rPr lang="en-IE" dirty="0"/>
              <a:t>http://www.dre.vanderbilt.edu/~schmidt/PDF/IEEE.pdf</a:t>
            </a:r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ECFF13E-C658-4156-B9C3-03FAD67A09E6}" type="slidenum">
              <a:rPr lang="en-US" altLang="en-US" smtClean="0"/>
              <a:pPr/>
              <a:t>33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894710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1A626DD8-6FD2-412D-B458-A57077043B9F}" type="slidenum">
              <a:rPr lang="en-US" altLang="en-US"/>
              <a:pPr>
                <a:defRPr/>
              </a:pPr>
              <a:t>34</a:t>
            </a:fld>
            <a:endParaRPr lang="en-US" altLang="en-US" dirty="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800" dirty="0"/>
              <a:t>The Interceptor Architectural Pattern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484784"/>
            <a:ext cx="8784976" cy="5256584"/>
          </a:xfrm>
        </p:spPr>
        <p:txBody>
          <a:bodyPr>
            <a:normAutofit/>
          </a:bodyPr>
          <a:lstStyle/>
          <a:p>
            <a:r>
              <a:rPr lang="en-GB" dirty="0"/>
              <a:t>Variants:</a:t>
            </a:r>
          </a:p>
          <a:p>
            <a:pPr lvl="1"/>
            <a:r>
              <a:rPr lang="en-GB" dirty="0"/>
              <a:t>Interceptor Proxy variant (also known as Delegator). </a:t>
            </a:r>
          </a:p>
          <a:p>
            <a:pPr lvl="1"/>
            <a:r>
              <a:rPr lang="en-GB" dirty="0"/>
              <a:t>Often used on the server side of a distributed system to intercept remote operations.</a:t>
            </a:r>
            <a:endParaRPr lang="en-GB" sz="3200" dirty="0"/>
          </a:p>
          <a:p>
            <a:pPr eaLnBrk="1" hangingPunct="1">
              <a:lnSpc>
                <a:spcPct val="90000"/>
              </a:lnSpc>
            </a:pPr>
            <a:r>
              <a:rPr lang="en-GB" sz="3200" dirty="0"/>
              <a:t>Interceptor facilitates service extensions to frameworks.</a:t>
            </a:r>
          </a:p>
          <a:p>
            <a:pPr eaLnBrk="1" hangingPunct="1">
              <a:lnSpc>
                <a:spcPct val="90000"/>
              </a:lnSpc>
            </a:pPr>
            <a:r>
              <a:rPr lang="en-GB" sz="3200" dirty="0"/>
              <a:t>Used with </a:t>
            </a:r>
            <a:r>
              <a:rPr lang="en-GB" sz="3200" b="1" u="sng" dirty="0">
                <a:solidFill>
                  <a:srgbClr val="0000FF"/>
                </a:solidFill>
              </a:rPr>
              <a:t>Acceptor-Connector</a:t>
            </a:r>
            <a:r>
              <a:rPr lang="en-GB" sz="3200" dirty="0"/>
              <a:t>, </a:t>
            </a:r>
            <a:r>
              <a:rPr lang="en-GB" sz="3200" b="1" u="sng" dirty="0">
                <a:solidFill>
                  <a:srgbClr val="0000FF"/>
                </a:solidFill>
              </a:rPr>
              <a:t>Component Configurator</a:t>
            </a:r>
            <a:r>
              <a:rPr lang="en-GB" sz="3200" dirty="0"/>
              <a:t>, </a:t>
            </a:r>
            <a:r>
              <a:rPr lang="en-GB" sz="3200" b="1" u="sng" dirty="0">
                <a:solidFill>
                  <a:srgbClr val="0000FF"/>
                </a:solidFill>
              </a:rPr>
              <a:t>Active-Object</a:t>
            </a:r>
            <a:r>
              <a:rPr lang="en-GB" sz="3200" dirty="0"/>
              <a:t>, </a:t>
            </a:r>
            <a:r>
              <a:rPr lang="en-GB" sz="3200" b="1" u="sng" dirty="0">
                <a:solidFill>
                  <a:srgbClr val="0000FF"/>
                </a:solidFill>
              </a:rPr>
              <a:t>Monitor Object</a:t>
            </a:r>
            <a:r>
              <a:rPr lang="en-GB" sz="3200" dirty="0"/>
              <a:t>, </a:t>
            </a:r>
            <a:r>
              <a:rPr lang="en-GB" sz="3200" b="1" u="sng" dirty="0">
                <a:solidFill>
                  <a:srgbClr val="0000FF"/>
                </a:solidFill>
              </a:rPr>
              <a:t>Wrapper façade </a:t>
            </a:r>
            <a:r>
              <a:rPr lang="en-GB" sz="3200" dirty="0"/>
              <a:t>and other design patterns.</a:t>
            </a:r>
          </a:p>
          <a:p>
            <a:pPr eaLnBrk="1" hangingPunct="1">
              <a:lnSpc>
                <a:spcPct val="90000"/>
              </a:lnSpc>
            </a:pPr>
            <a:r>
              <a:rPr lang="en-GB" sz="3200" dirty="0"/>
              <a:t>See Schmidt et al (2004). Pattern-Oriented Software Architecture – Volume 2:</a:t>
            </a:r>
          </a:p>
        </p:txBody>
      </p:sp>
    </p:spTree>
    <p:extLst>
      <p:ext uri="{BB962C8B-B14F-4D97-AF65-F5344CB8AC3E}">
        <p14:creationId xmlns:p14="http://schemas.microsoft.com/office/powerpoint/2010/main" val="34580362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POSA 2 Catalogue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ECFF13E-C658-4156-B9C3-03FAD67A09E6}" type="slidenum">
              <a:rPr lang="en-US" altLang="en-US" smtClean="0"/>
              <a:pPr/>
              <a:t>35</a:t>
            </a:fld>
            <a:endParaRPr lang="en-US" altLang="en-US" dirty="0"/>
          </a:p>
        </p:txBody>
      </p:sp>
      <p:pic>
        <p:nvPicPr>
          <p:cNvPr id="5" name="Picture 2" descr="Presentation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054031"/>
            <a:ext cx="7740352" cy="58052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62225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1A626DD8-6FD2-412D-B458-A57077043B9F}" type="slidenum">
              <a:rPr lang="en-US" altLang="en-US"/>
              <a:pPr>
                <a:defRPr/>
              </a:pPr>
              <a:t>36</a:t>
            </a:fld>
            <a:endParaRPr lang="en-US" altLang="en-US" dirty="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Architectural Patterns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628800"/>
            <a:ext cx="8640960" cy="4968551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sz="2800" dirty="0"/>
              <a:t>Architectural patterns weaved together in a pattern language for middleware and applications</a:t>
            </a:r>
          </a:p>
          <a:p>
            <a:pPr eaLnBrk="1" hangingPunct="1">
              <a:lnSpc>
                <a:spcPct val="90000"/>
              </a:lnSpc>
            </a:pPr>
            <a:r>
              <a:rPr lang="en-GB" sz="2800" dirty="0"/>
              <a:t>The </a:t>
            </a:r>
            <a:r>
              <a:rPr lang="en-GB" sz="2800" b="1" u="sng" dirty="0">
                <a:solidFill>
                  <a:srgbClr val="0000FF"/>
                </a:solidFill>
              </a:rPr>
              <a:t>Leader/Followers </a:t>
            </a:r>
            <a:r>
              <a:rPr lang="en-GB" sz="2800" dirty="0"/>
              <a:t>architectural pattern provides a concurrency model that allows multiple threads to share a set of event sources.</a:t>
            </a:r>
          </a:p>
          <a:p>
            <a:pPr eaLnBrk="1" hangingPunct="1">
              <a:lnSpc>
                <a:spcPct val="90000"/>
              </a:lnSpc>
            </a:pPr>
            <a:r>
              <a:rPr lang="en-GB" sz="2800" dirty="0"/>
              <a:t>The </a:t>
            </a:r>
            <a:r>
              <a:rPr lang="en-GB" sz="2800" b="1" u="sng" dirty="0">
                <a:solidFill>
                  <a:srgbClr val="0000FF"/>
                </a:solidFill>
              </a:rPr>
              <a:t>Reactor </a:t>
            </a:r>
            <a:r>
              <a:rPr lang="en-GB" sz="2800" dirty="0"/>
              <a:t>architectural pattern structures event–driven applications, particularly servers that receive requests from multiple clients concurrently, but processes them sequentially.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The </a:t>
            </a:r>
            <a:r>
              <a:rPr lang="en-GB" sz="2800" b="1" u="sng" dirty="0">
                <a:solidFill>
                  <a:srgbClr val="0000FF"/>
                </a:solidFill>
              </a:rPr>
              <a:t>Proactor</a:t>
            </a:r>
            <a:r>
              <a:rPr lang="en-GB" sz="2800" dirty="0"/>
              <a:t> architectural pattern structures event-driven applications </a:t>
            </a:r>
            <a:r>
              <a:rPr lang="en-IE" sz="2800" dirty="0"/>
              <a:t>with long running asynchronous activities </a:t>
            </a:r>
            <a:r>
              <a:rPr lang="en-GB" sz="2800" dirty="0"/>
              <a:t>that receive service requests from concurrent clients</a:t>
            </a:r>
          </a:p>
        </p:txBody>
      </p:sp>
    </p:spTree>
    <p:extLst>
      <p:ext uri="{BB962C8B-B14F-4D97-AF65-F5344CB8AC3E}">
        <p14:creationId xmlns:p14="http://schemas.microsoft.com/office/powerpoint/2010/main" val="24568099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7129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005336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pPr marL="0" marR="0" lvl="0" indent="0" algn="r" defTabSz="7129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5336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152" name="Rectangle"/>
          <p:cNvSpPr/>
          <p:nvPr/>
        </p:nvSpPr>
        <p:spPr>
          <a:xfrm>
            <a:off x="0" y="857251"/>
            <a:ext cx="762000" cy="5143500"/>
          </a:xfrm>
          <a:prstGeom prst="rect">
            <a:avLst/>
          </a:prstGeom>
          <a:solidFill>
            <a:srgbClr val="202329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7129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Helvetica Neue Medium"/>
            </a:endParaRPr>
          </a:p>
        </p:txBody>
      </p:sp>
      <p:sp>
        <p:nvSpPr>
          <p:cNvPr id="154" name="M Point"/>
          <p:cNvSpPr txBox="1"/>
          <p:nvPr/>
        </p:nvSpPr>
        <p:spPr>
          <a:xfrm rot="16200000">
            <a:off x="-110158" y="3616420"/>
            <a:ext cx="985847" cy="144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b="0">
                <a:solidFill>
                  <a:srgbClr val="F7F9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 marL="0" marR="0" lvl="0" indent="0" algn="l" defTabSz="7129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936" b="0" i="0" u="none" strike="noStrike" kern="1200" cap="none" spc="0" normalizeH="0" baseline="0" noProof="0" dirty="0">
                <a:ln>
                  <a:noFill/>
                </a:ln>
                <a:solidFill>
                  <a:srgbClr val="F7F9FF"/>
                </a:solidFill>
                <a:effectLst/>
                <a:uLnTx/>
                <a:uFillTx/>
                <a:latin typeface="Poppins Medium"/>
                <a:sym typeface="Poppins Medium"/>
              </a:rPr>
              <a:t>CS4227-CS5722</a:t>
            </a:r>
            <a:r>
              <a:rPr kumimoji="0" lang="ga-IE" sz="936" b="0" i="0" u="none" strike="noStrike" kern="1200" cap="none" spc="0" normalizeH="0" baseline="0" noProof="0" dirty="0">
                <a:ln>
                  <a:noFill/>
                </a:ln>
                <a:solidFill>
                  <a:srgbClr val="F7F9FF"/>
                </a:solidFill>
                <a:effectLst/>
                <a:uLnTx/>
                <a:uFillTx/>
                <a:latin typeface="Poppins Medium"/>
                <a:sym typeface="Poppins Medium"/>
              </a:rPr>
              <a:t> )</a:t>
            </a:r>
          </a:p>
        </p:txBody>
      </p:sp>
      <p:sp>
        <p:nvSpPr>
          <p:cNvPr id="155" name="Seamlessly develop orthogonal readiness before…"/>
          <p:cNvSpPr txBox="1"/>
          <p:nvPr/>
        </p:nvSpPr>
        <p:spPr>
          <a:xfrm>
            <a:off x="5076056" y="2166747"/>
            <a:ext cx="3880048" cy="3816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285750" marR="0" lvl="0" indent="-285750" algn="l" defTabSz="712984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q"/>
              <a:tabLst/>
              <a:defRPr sz="1800" b="0">
                <a:solidFill>
                  <a:srgbClr val="696E78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rPr kumimoji="0" lang="en-IE" sz="2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Poppins Light"/>
                <a:sym typeface="Poppins Light"/>
              </a:rPr>
              <a:t> </a:t>
            </a:r>
            <a:r>
              <a:rPr lang="en-IE" sz="2000" dirty="0">
                <a:solidFill>
                  <a:srgbClr val="E7E6E6">
                    <a:lumMod val="25000"/>
                  </a:srgbClr>
                </a:solidFill>
                <a:latin typeface="Poppins Light"/>
                <a:sym typeface="Poppins Light"/>
              </a:rPr>
              <a:t>Lookup metaprogramming</a:t>
            </a:r>
          </a:p>
          <a:p>
            <a:pPr marR="0" lvl="0" algn="l" defTabSz="712984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 sz="1800" b="0">
                <a:solidFill>
                  <a:srgbClr val="696E78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rPr lang="en-IE" sz="2000" dirty="0">
                <a:solidFill>
                  <a:srgbClr val="E7E6E6">
                    <a:lumMod val="25000"/>
                  </a:srgbClr>
                </a:solidFill>
                <a:latin typeface="Poppins Light"/>
                <a:sym typeface="Poppins Light"/>
              </a:rPr>
              <a:t>http://www.dre.vanderbilt.edu/~schmidt/PDF/IEEE.pdf</a:t>
            </a:r>
          </a:p>
          <a:p>
            <a:pPr marL="285750" marR="0" lvl="0" indent="-285750" algn="l" defTabSz="712984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q"/>
              <a:tabLst/>
              <a:defRPr sz="1800" b="0">
                <a:solidFill>
                  <a:srgbClr val="696E78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rPr lang="en-IE" sz="2000" dirty="0">
                <a:solidFill>
                  <a:srgbClr val="E7E6E6">
                    <a:lumMod val="25000"/>
                  </a:srgbClr>
                </a:solidFill>
                <a:latin typeface="Poppins Light"/>
                <a:sym typeface="Poppins Light"/>
              </a:rPr>
              <a:t>Lookup callbacks</a:t>
            </a:r>
          </a:p>
          <a:p>
            <a:pPr lvl="0" defTabSz="712984" fontAlgn="auto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defRPr sz="1800" b="0">
                <a:solidFill>
                  <a:srgbClr val="696E78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rPr lang="en-IE" sz="2000" dirty="0">
                <a:solidFill>
                  <a:srgbClr val="E7E6E6">
                    <a:lumMod val="25000"/>
                  </a:srgbClr>
                </a:solidFill>
                <a:latin typeface="Poppins Light"/>
                <a:sym typeface="Poppins Light"/>
              </a:rPr>
              <a:t>https://www.newty.de/jakubik/callback.pdf </a:t>
            </a:r>
          </a:p>
          <a:p>
            <a:pPr marL="285750" lvl="0" indent="-285750" defTabSz="712984" fontAlgn="auto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  <a:defRPr sz="1800" b="0">
                <a:solidFill>
                  <a:srgbClr val="696E78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rPr lang="en-IE" sz="2000" noProof="0" dirty="0">
                <a:solidFill>
                  <a:srgbClr val="E7E6E6">
                    <a:lumMod val="25000"/>
                  </a:srgbClr>
                </a:solidFill>
                <a:latin typeface="Poppins Light"/>
                <a:sym typeface="Poppins Light"/>
              </a:rPr>
              <a:t>Lookup interceptors versus filters in Spring Boot</a:t>
            </a:r>
            <a:endParaRPr kumimoji="0" sz="675" b="0" i="0" u="none" strike="noStrike" kern="1200" cap="none" spc="0" normalizeH="0" baseline="0" noProof="0" dirty="0">
              <a:ln>
                <a:noFill/>
              </a:ln>
              <a:solidFill>
                <a:srgbClr val="696E78"/>
              </a:solidFill>
              <a:effectLst/>
              <a:uLnTx/>
              <a:uFillTx/>
              <a:latin typeface="Poppins Light"/>
              <a:sym typeface="Poppins Light"/>
            </a:endParaRPr>
          </a:p>
        </p:txBody>
      </p:sp>
      <p:sp>
        <p:nvSpPr>
          <p:cNvPr id="156" name="The secret to creativity is…"/>
          <p:cNvSpPr txBox="1"/>
          <p:nvPr/>
        </p:nvSpPr>
        <p:spPr>
          <a:xfrm>
            <a:off x="5544108" y="1628800"/>
            <a:ext cx="2943944" cy="311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7129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>
                <a:solidFill>
                  <a:srgbClr val="3D3D3D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pPr>
            <a:r>
              <a:rPr lang="en-IE" sz="2025" dirty="0">
                <a:solidFill>
                  <a:srgbClr val="00B140"/>
                </a:solidFill>
                <a:latin typeface="Poppins Medium"/>
                <a:sym typeface="Poppins Medium"/>
              </a:rPr>
              <a:t>Homework</a:t>
            </a:r>
            <a:endParaRPr kumimoji="0" sz="2025" b="0" i="0" u="none" strike="noStrike" kern="1200" cap="none" spc="0" normalizeH="0" baseline="0" noProof="0" dirty="0">
              <a:ln>
                <a:noFill/>
              </a:ln>
              <a:solidFill>
                <a:srgbClr val="3D3D3D"/>
              </a:solidFill>
              <a:effectLst/>
              <a:uLnTx/>
              <a:uFillTx/>
              <a:latin typeface="Poppins Medium"/>
              <a:sym typeface="Poppins Mediu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1640" y="6347340"/>
            <a:ext cx="1689630" cy="3084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7129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404" b="1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© www.infoq.com</a:t>
            </a:r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2" r="828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98509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UL">
      <a:dk1>
        <a:srgbClr val="171616"/>
      </a:dk1>
      <a:lt1>
        <a:sysClr val="window" lastClr="FFFFFF"/>
      </a:lt1>
      <a:dk2>
        <a:srgbClr val="7F7F7F"/>
      </a:dk2>
      <a:lt2>
        <a:srgbClr val="E7E6E6"/>
      </a:lt2>
      <a:accent1>
        <a:srgbClr val="00B140"/>
      </a:accent1>
      <a:accent2>
        <a:srgbClr val="034638"/>
      </a:accent2>
      <a:accent3>
        <a:srgbClr val="00A3E0"/>
      </a:accent3>
      <a:accent4>
        <a:srgbClr val="FFC72C"/>
      </a:accent4>
      <a:accent5>
        <a:srgbClr val="E31C79"/>
      </a:accent5>
      <a:accent6>
        <a:srgbClr val="D45D00"/>
      </a:accent6>
      <a:hlink>
        <a:srgbClr val="00A3E0"/>
      </a:hlink>
      <a:folHlink>
        <a:srgbClr val="6F26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Presentation" id="{8C4FAECB-4FFE-514E-86E1-D19CB0E3BBD1}" vid="{3EB642C7-DB8F-A140-B2AB-5A42E3409E9F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0</TotalTime>
  <Words>2554</Words>
  <Application>Microsoft Office PowerPoint</Application>
  <PresentationFormat>On-screen Show (4:3)</PresentationFormat>
  <Paragraphs>393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52" baseType="lpstr">
      <vt:lpstr>Arial</vt:lpstr>
      <vt:lpstr>Calibri</vt:lpstr>
      <vt:lpstr>Courier New</vt:lpstr>
      <vt:lpstr>Georgia</vt:lpstr>
      <vt:lpstr>Helvetica</vt:lpstr>
      <vt:lpstr>Lucida Fax</vt:lpstr>
      <vt:lpstr>Poppins Light</vt:lpstr>
      <vt:lpstr>Poppins Medium</vt:lpstr>
      <vt:lpstr>Times New Roman</vt:lpstr>
      <vt:lpstr>Tw Cen MT</vt:lpstr>
      <vt:lpstr>Verdana</vt:lpstr>
      <vt:lpstr>Wingdings</vt:lpstr>
      <vt:lpstr>Wingdings 2</vt:lpstr>
      <vt:lpstr>Median</vt:lpstr>
      <vt:lpstr>Office Theme</vt:lpstr>
      <vt:lpstr>CS6451: Advanced Software Design  Lect J: The Interceptor Part 2   J.J. Collins Dept. of CSIS</vt:lpstr>
      <vt:lpstr>PowerPoint Presentation</vt:lpstr>
      <vt:lpstr>The Interceptor Architectural Pattern</vt:lpstr>
      <vt:lpstr>The Interceptor Architectural Pattern</vt:lpstr>
      <vt:lpstr>The Interceptor Architectural Pattern</vt:lpstr>
      <vt:lpstr>The Interceptor Architectural Pattern</vt:lpstr>
      <vt:lpstr>The Interceptor Architectural Pattern</vt:lpstr>
      <vt:lpstr>The Interceptor: Consequences</vt:lpstr>
      <vt:lpstr>The Interceptor: Consequences</vt:lpstr>
      <vt:lpstr>Known Uses</vt:lpstr>
      <vt:lpstr>The Interceptor Architectural Pattern</vt:lpstr>
      <vt:lpstr>Step 1: Model the Internal Behaviour of the Framework</vt:lpstr>
      <vt:lpstr>Step 2: Identify and Model Interception Points</vt:lpstr>
      <vt:lpstr>Step 2: Identify and Model Interception Points</vt:lpstr>
      <vt:lpstr>Step 2: Identify and Model Interception Points</vt:lpstr>
      <vt:lpstr>Step 2: Identify and Model Interception Points</vt:lpstr>
      <vt:lpstr>Step 2: Identify and Model Interception Points</vt:lpstr>
      <vt:lpstr>Step 2: Identify &amp; Model Interception Points</vt:lpstr>
      <vt:lpstr>Step 3: Specify the Context Objects</vt:lpstr>
      <vt:lpstr>Step 3: Specify the Context Objects</vt:lpstr>
      <vt:lpstr>Step 3: Specify the Context Objects</vt:lpstr>
      <vt:lpstr>Step 3: Specify the Context Objects</vt:lpstr>
      <vt:lpstr>Step 3: Specify the Context Objects </vt:lpstr>
      <vt:lpstr>Step 4: Specify the Interceptors</vt:lpstr>
      <vt:lpstr>Step 5: Specify the Dispatchers</vt:lpstr>
      <vt:lpstr>Step 5: Specify the Dispatchers</vt:lpstr>
      <vt:lpstr>Step 5: Specify the Dispatchers</vt:lpstr>
      <vt:lpstr>Step 6: Implement the Callback Mechanisms in the Concrete Framework.</vt:lpstr>
      <vt:lpstr>Step 6: Implement the Callback Mechanisms in the Concrete Framework.</vt:lpstr>
      <vt:lpstr>Step 7: Implement the Concrete Interceptors</vt:lpstr>
      <vt:lpstr>The Interceptor Architectural Pattern</vt:lpstr>
      <vt:lpstr>The Interceptor Architectural Pattern</vt:lpstr>
      <vt:lpstr>The Interceptor Architectural Pattern</vt:lpstr>
      <vt:lpstr>The Interceptor Architectural Pattern</vt:lpstr>
      <vt:lpstr>POSA 2 Catalogue</vt:lpstr>
      <vt:lpstr>Architectural Patterns</vt:lpstr>
      <vt:lpstr>PowerPoint Presentation</vt:lpstr>
    </vt:vector>
  </TitlesOfParts>
  <Company>University of Limerick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CS4135 Software Architecture</dc:title>
  <dc:creator>CSIS</dc:creator>
  <cp:lastModifiedBy>J.J.Collins</cp:lastModifiedBy>
  <cp:revision>127</cp:revision>
  <cp:lastPrinted>2019-02-18T09:37:59Z</cp:lastPrinted>
  <dcterms:created xsi:type="dcterms:W3CDTF">2008-09-09T07:32:24Z</dcterms:created>
  <dcterms:modified xsi:type="dcterms:W3CDTF">2026-10-21T08:49:18Z</dcterms:modified>
</cp:coreProperties>
</file>