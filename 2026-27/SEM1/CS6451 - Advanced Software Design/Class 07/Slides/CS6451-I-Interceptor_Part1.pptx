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  <p:sldMasterId id="2147483685" r:id="rId2"/>
  </p:sldMasterIdLst>
  <p:notesMasterIdLst>
    <p:notesMasterId r:id="rId26"/>
  </p:notesMasterIdLst>
  <p:handoutMasterIdLst>
    <p:handoutMasterId r:id="rId27"/>
  </p:handoutMasterIdLst>
  <p:sldIdLst>
    <p:sldId id="528" r:id="rId3"/>
    <p:sldId id="529" r:id="rId4"/>
    <p:sldId id="534" r:id="rId5"/>
    <p:sldId id="536" r:id="rId6"/>
    <p:sldId id="537" r:id="rId7"/>
    <p:sldId id="643" r:id="rId8"/>
    <p:sldId id="658" r:id="rId9"/>
    <p:sldId id="538" r:id="rId10"/>
    <p:sldId id="539" r:id="rId11"/>
    <p:sldId id="540" r:id="rId12"/>
    <p:sldId id="659" r:id="rId13"/>
    <p:sldId id="541" r:id="rId14"/>
    <p:sldId id="542" r:id="rId15"/>
    <p:sldId id="543" r:id="rId16"/>
    <p:sldId id="544" r:id="rId17"/>
    <p:sldId id="545" r:id="rId18"/>
    <p:sldId id="546" r:id="rId19"/>
    <p:sldId id="547" r:id="rId20"/>
    <p:sldId id="548" r:id="rId21"/>
    <p:sldId id="615" r:id="rId22"/>
    <p:sldId id="549" r:id="rId23"/>
    <p:sldId id="660" r:id="rId24"/>
    <p:sldId id="550" r:id="rId25"/>
  </p:sldIdLst>
  <p:sldSz cx="9144000" cy="6858000" type="screen4x3"/>
  <p:notesSz cx="6794500" cy="9906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809"/>
    <a:srgbClr val="0000FF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8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28"/>
    </p:cViewPr>
  </p:sorterViewPr>
  <p:notesViewPr>
    <p:cSldViewPr>
      <p:cViewPr varScale="1">
        <p:scale>
          <a:sx n="85" d="100"/>
          <a:sy n="85" d="100"/>
        </p:scale>
        <p:origin x="-3888" y="-78"/>
      </p:cViewPr>
      <p:guideLst>
        <p:guide orient="horz" pos="3120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.J.Collins" userId="936e7121-291b-49d4-83b2-aee52c8c8513" providerId="ADAL" clId="{985CE113-D73E-4FB9-A18D-351F89CF89A7}"/>
    <pc:docChg chg="modSld">
      <pc:chgData name="J.J.Collins" userId="936e7121-291b-49d4-83b2-aee52c8c8513" providerId="ADAL" clId="{985CE113-D73E-4FB9-A18D-351F89CF89A7}" dt="2026-10-21T08:48:05.240" v="20" actId="20577"/>
      <pc:docMkLst>
        <pc:docMk/>
      </pc:docMkLst>
      <pc:sldChg chg="modSp mod">
        <pc:chgData name="J.J.Collins" userId="936e7121-291b-49d4-83b2-aee52c8c8513" providerId="ADAL" clId="{985CE113-D73E-4FB9-A18D-351F89CF89A7}" dt="2026-10-21T08:48:05.240" v="20" actId="20577"/>
        <pc:sldMkLst>
          <pc:docMk/>
          <pc:sldMk cId="349198150" sldId="528"/>
        </pc:sldMkLst>
        <pc:spChg chg="mod">
          <ac:chgData name="J.J.Collins" userId="936e7121-291b-49d4-83b2-aee52c8c8513" providerId="ADAL" clId="{985CE113-D73E-4FB9-A18D-351F89CF89A7}" dt="2026-10-21T08:48:05.240" v="20" actId="20577"/>
          <ac:spMkLst>
            <pc:docMk/>
            <pc:sldMk cId="349198150" sldId="528"/>
            <ac:spMk id="2" creationId="{C7DFCB0A-7993-BA4C-8272-98FAE8DB736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ABC780-FF4F-4CC2-BC65-F84389FF52CF}" type="datetimeFigureOut">
              <a:rPr lang="en-IE" smtClean="0"/>
              <a:pPr/>
              <a:t>21/10/2026</a:t>
            </a:fld>
            <a:endParaRPr lang="en-I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09113"/>
            <a:ext cx="29448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100" y="9409113"/>
            <a:ext cx="29448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90B5D2-61FD-45B2-9AFC-6B33A435FC1B}" type="slidenum">
              <a:rPr lang="en-IE" smtClean="0"/>
              <a:pPr/>
              <a:t>‹#›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752642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4799" cy="495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94" tIns="46296" rIns="92594" bIns="46296" numCol="1" anchor="t" anchorCtr="0" compatLnSpc="1">
            <a:prstTxWarp prst="textNoShape">
              <a:avLst/>
            </a:prstTxWarp>
          </a:bodyPr>
          <a:lstStyle>
            <a:lvl1pPr defTabSz="925182">
              <a:defRPr sz="12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8158" y="1"/>
            <a:ext cx="2944799" cy="495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94" tIns="46296" rIns="92594" bIns="46296" numCol="1" anchor="t" anchorCtr="0" compatLnSpc="1">
            <a:prstTxWarp prst="textNoShape">
              <a:avLst/>
            </a:prstTxWarp>
          </a:bodyPr>
          <a:lstStyle>
            <a:lvl1pPr algn="r" defTabSz="925182">
              <a:defRPr sz="12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2950"/>
            <a:ext cx="4953000" cy="3714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04418"/>
            <a:ext cx="5435600" cy="4458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94" tIns="46296" rIns="92594" bIns="4629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08836"/>
            <a:ext cx="2944799" cy="495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94" tIns="46296" rIns="92594" bIns="46296" numCol="1" anchor="b" anchorCtr="0" compatLnSpc="1">
            <a:prstTxWarp prst="textNoShape">
              <a:avLst/>
            </a:prstTxWarp>
          </a:bodyPr>
          <a:lstStyle>
            <a:lvl1pPr defTabSz="925182">
              <a:defRPr sz="12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8158" y="9408836"/>
            <a:ext cx="2944799" cy="495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94" tIns="46296" rIns="92594" bIns="46296" numCol="1" anchor="b" anchorCtr="0" compatLnSpc="1">
            <a:prstTxWarp prst="textNoShape">
              <a:avLst/>
            </a:prstTxWarp>
          </a:bodyPr>
          <a:lstStyle>
            <a:lvl1pPr algn="r" defTabSz="925182">
              <a:defRPr sz="1200" smtClean="0"/>
            </a:lvl1pPr>
          </a:lstStyle>
          <a:p>
            <a:pPr>
              <a:defRPr/>
            </a:pPr>
            <a:fld id="{56460A59-BFF2-49B0-B928-C19206FAC3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7994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F67C853-57FE-4939-9628-185A638C34D2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598AF47-F08A-4DCA-93EF-939EDDD12EF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4D8614-AB12-4A7E-BF61-1147A919501C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3F4E989-F763-4004-9F33-B18218F0D50C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C433DB-BCFC-4310-9F7F-1C8F3AD45479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0A91BB6-497B-4839-967A-EA6D9914CFA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fld id="{4311D215-BA9E-4C20-90A9-31022DC4831D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0648E497-A616-4859-A0DF-4BA5CABE57E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fld id="{6216A2F4-1D3E-454D-B115-F51396D0BEBB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B94DC2D9-30B9-4049-9B86-2532513D9AF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744151-BB17-467B-B51D-7BFA18DA24BA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CF1C200-D0F8-4752-AD82-D25E5C4A565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7A9376-35A6-4B81-B949-DEB2AA0DF648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998C907-BED7-4BEF-86D0-11B8F47E0544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A730E3-A19B-4751-927C-7ABF6B086EFF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17E0547-DAE4-49F5-A8FA-DAE668C78A4A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>
              <a:defRPr/>
            </a:pPr>
            <a:fld id="{482A34AC-81F9-4F73-9A41-8235A23DA3FE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A7F3C2ED-DD26-476B-ABDC-43132E82FD6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E3DF63-345C-431A-8338-31C211883CF1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D8D015-45C9-4A2B-B88A-F38A471C24B3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>
              <a:defRPr/>
            </a:pPr>
            <a:fld id="{069A3530-A611-4295-8D44-41F8AFAC014D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pPr>
              <a:defRPr/>
            </a:pPr>
            <a:fld id="{14330123-D32A-4C19-864A-C31EED3A9E64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B72F0-795F-DC49-8A85-915BF0F26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953" y="5249620"/>
            <a:ext cx="5669446" cy="537713"/>
          </a:xfrm>
        </p:spPr>
        <p:txBody>
          <a:bodyPr anchor="t">
            <a:normAutofit/>
          </a:bodyPr>
          <a:lstStyle>
            <a:lvl1pPr algn="l">
              <a:defRPr sz="253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E1192D-1B69-A648-85CB-F16FFBDED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953" y="5787333"/>
            <a:ext cx="5669446" cy="537713"/>
          </a:xfrm>
        </p:spPr>
        <p:txBody>
          <a:bodyPr anchor="t">
            <a:normAutofit/>
          </a:bodyPr>
          <a:lstStyle>
            <a:lvl1pPr marL="0" indent="0" algn="l">
              <a:buNone/>
              <a:defRPr sz="1968">
                <a:solidFill>
                  <a:srgbClr val="00A956"/>
                </a:solidFill>
                <a:latin typeface="Georgia" panose="02040502050405020303" pitchFamily="18" charset="0"/>
              </a:defRPr>
            </a:lvl1pPr>
            <a:lvl2pPr marL="342879" indent="0" algn="ctr">
              <a:buNone/>
              <a:defRPr sz="1500"/>
            </a:lvl2pPr>
            <a:lvl3pPr marL="685758" indent="0" algn="ctr">
              <a:buNone/>
              <a:defRPr sz="1350"/>
            </a:lvl3pPr>
            <a:lvl4pPr marL="1028637" indent="0" algn="ctr">
              <a:buNone/>
              <a:defRPr sz="1200"/>
            </a:lvl4pPr>
            <a:lvl5pPr marL="1371516" indent="0" algn="ctr">
              <a:buNone/>
              <a:defRPr sz="1200"/>
            </a:lvl5pPr>
            <a:lvl6pPr marL="1714395" indent="0" algn="ctr">
              <a:buNone/>
              <a:defRPr sz="1200"/>
            </a:lvl6pPr>
            <a:lvl7pPr marL="2057274" indent="0" algn="ctr">
              <a:buNone/>
              <a:defRPr sz="1200"/>
            </a:lvl7pPr>
            <a:lvl8pPr marL="2400153" indent="0" algn="ctr">
              <a:buNone/>
              <a:defRPr sz="1200"/>
            </a:lvl8pPr>
            <a:lvl9pPr marL="2743033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3187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683AE-721B-8E45-86D0-EDEFBB6DA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52" y="2527595"/>
            <a:ext cx="6074407" cy="454274"/>
          </a:xfrm>
        </p:spPr>
        <p:txBody>
          <a:bodyPr anchor="t"/>
          <a:lstStyle>
            <a:lvl1pPr>
              <a:defRPr sz="25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79186-9A63-804D-B992-7A2615733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952" y="2981869"/>
            <a:ext cx="6074407" cy="447131"/>
          </a:xfrm>
        </p:spPr>
        <p:txBody>
          <a:bodyPr anchor="t"/>
          <a:lstStyle>
            <a:lvl1pPr marL="0" indent="0">
              <a:buNone/>
              <a:defRPr sz="1687">
                <a:solidFill>
                  <a:srgbClr val="005336"/>
                </a:solidFill>
              </a:defRPr>
            </a:lvl1pPr>
            <a:lvl2pPr marL="34287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58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3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1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39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5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3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03FE8-725B-C542-9752-0F0519FD7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A956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262716B-0319-2E48-8A4F-A486A8CCA02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03314" y="3645569"/>
            <a:ext cx="1336369" cy="5103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04787F-D361-3E40-984A-D6B2F134C9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953" y="3402531"/>
            <a:ext cx="1336369" cy="100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70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D57A8-4F44-A743-9523-4F882D6B3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F2297-C797-C746-BFFC-71DBB9070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BC500-FEB0-E34F-8384-75379BA52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23037-7A0A-9643-8F64-D23E831E5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CD8BA-88AE-0D4A-A7D5-B98698AD4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C47E-4B7D-1647-9F80-3037E352F9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0962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661D3-730A-F844-A2DE-9B4F97F8A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3EF49-F03E-114E-B38A-058193C2BD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5953" y="1628355"/>
            <a:ext cx="3886200" cy="12046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="1"/>
            </a:lvl1pPr>
            <a:lvl2pPr marL="342879" indent="0">
              <a:buNone/>
              <a:defRPr/>
            </a:lvl2pPr>
            <a:lvl3pPr marL="685759" indent="0">
              <a:buNone/>
              <a:defRPr/>
            </a:lvl3pPr>
            <a:lvl4pPr marL="1028637" indent="0">
              <a:buNone/>
              <a:defRPr/>
            </a:lvl4pPr>
            <a:lvl5pPr marL="137151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38C761-09FD-F940-A379-C15FF3112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628354"/>
            <a:ext cx="3743503" cy="4351338"/>
          </a:xfrm>
        </p:spPr>
        <p:txBody>
          <a:bodyPr/>
          <a:lstStyle>
            <a:lvl1pPr>
              <a:lnSpc>
                <a:spcPts val="2418"/>
              </a:lnSpc>
              <a:defRPr sz="1406" b="1"/>
            </a:lvl1pPr>
            <a:lvl2pPr>
              <a:lnSpc>
                <a:spcPts val="2418"/>
              </a:lnSpc>
              <a:defRPr sz="1406" b="1"/>
            </a:lvl2pPr>
            <a:lvl3pPr>
              <a:lnSpc>
                <a:spcPts val="2418"/>
              </a:lnSpc>
              <a:defRPr sz="1406" b="1"/>
            </a:lvl3pPr>
            <a:lvl4pPr>
              <a:lnSpc>
                <a:spcPts val="2418"/>
              </a:lnSpc>
              <a:defRPr sz="1406" b="1"/>
            </a:lvl4pPr>
            <a:lvl5pPr>
              <a:lnSpc>
                <a:spcPts val="2418"/>
              </a:lnSpc>
              <a:defRPr sz="1406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82B8F-8DDB-EA48-8C5E-1872A88E9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16B0F-AE69-BD45-95F8-32FB5910E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92152-6566-5E4A-89B9-969A87DF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C47E-4B7D-1647-9F80-3037E352F95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22E7E51-C183-8145-ABEB-A2DDF19FB9A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85953" y="2940152"/>
            <a:ext cx="3886200" cy="303954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0"/>
            </a:lvl1pPr>
            <a:lvl2pPr marL="342879" indent="0">
              <a:buNone/>
              <a:defRPr/>
            </a:lvl2pPr>
            <a:lvl3pPr marL="685759" indent="0">
              <a:buNone/>
              <a:defRPr/>
            </a:lvl3pPr>
            <a:lvl4pPr marL="1028637" indent="0">
              <a:buNone/>
              <a:defRPr/>
            </a:lvl4pPr>
            <a:lvl5pPr marL="137151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8678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&amp; Pictur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661D3-730A-F844-A2DE-9B4F97F8A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3EF49-F03E-114E-B38A-058193C2BD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5954" y="1628355"/>
            <a:ext cx="3644644" cy="12046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="1"/>
            </a:lvl1pPr>
            <a:lvl2pPr marL="342879" indent="0">
              <a:buNone/>
              <a:defRPr/>
            </a:lvl2pPr>
            <a:lvl3pPr marL="685759" indent="0">
              <a:buNone/>
              <a:defRPr/>
            </a:lvl3pPr>
            <a:lvl4pPr marL="1028637" indent="0">
              <a:buNone/>
              <a:defRPr/>
            </a:lvl4pPr>
            <a:lvl5pPr marL="137151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82B8F-8DDB-EA48-8C5E-1872A88E9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16B0F-AE69-BD45-95F8-32FB5910E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92152-6566-5E4A-89B9-969A87DF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C47E-4B7D-1647-9F80-3037E352F95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22E7E51-C183-8145-ABEB-A2DDF19FB9A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85954" y="2940152"/>
            <a:ext cx="3644644" cy="303954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0"/>
            </a:lvl1pPr>
            <a:lvl2pPr marL="342879" indent="0">
              <a:buNone/>
              <a:defRPr/>
            </a:lvl2pPr>
            <a:lvl3pPr marL="685759" indent="0">
              <a:buNone/>
              <a:defRPr/>
            </a:lvl3pPr>
            <a:lvl4pPr marL="1028637" indent="0">
              <a:buNone/>
              <a:defRPr/>
            </a:lvl4pPr>
            <a:lvl5pPr marL="137151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00852C3-1AE9-6D47-B34A-4970BBFD8C3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52085" y="1628355"/>
            <a:ext cx="4454565" cy="364556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423544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Bullet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68B0D1-E995-3245-959F-3166EEDDA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5760000"/>
          </a:xfrm>
        </p:spPr>
        <p:txBody>
          <a:bodyPr/>
          <a:lstStyle>
            <a:lvl1pPr marL="0" indent="0">
              <a:buNone/>
              <a:defRPr sz="2400"/>
            </a:lvl1pPr>
            <a:lvl2pPr marL="342879" indent="0">
              <a:buNone/>
              <a:defRPr sz="2100"/>
            </a:lvl2pPr>
            <a:lvl3pPr marL="685758" indent="0">
              <a:buNone/>
              <a:defRPr sz="1800"/>
            </a:lvl3pPr>
            <a:lvl4pPr marL="1028637" indent="0">
              <a:buNone/>
              <a:defRPr sz="1500"/>
            </a:lvl4pPr>
            <a:lvl5pPr marL="1371516" indent="0">
              <a:buNone/>
              <a:defRPr sz="1500"/>
            </a:lvl5pPr>
            <a:lvl6pPr marL="1714395" indent="0">
              <a:buNone/>
              <a:defRPr sz="1500"/>
            </a:lvl6pPr>
            <a:lvl7pPr marL="2057274" indent="0">
              <a:buNone/>
              <a:defRPr sz="1500"/>
            </a:lvl7pPr>
            <a:lvl8pPr marL="2400153" indent="0">
              <a:buNone/>
              <a:defRPr sz="1500"/>
            </a:lvl8pPr>
            <a:lvl9pPr marL="2743033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1F2900-C118-A14E-B938-836275F297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187" t="2468"/>
          <a:stretch/>
        </p:blipFill>
        <p:spPr>
          <a:xfrm>
            <a:off x="0" y="0"/>
            <a:ext cx="4304786" cy="57615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71DBFB-D718-9E4A-B9E5-3A856A8BD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53" y="826329"/>
            <a:ext cx="2949178" cy="961316"/>
          </a:xfrm>
        </p:spPr>
        <p:txBody>
          <a:bodyPr anchor="t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83F82-1B7B-8841-8682-164A9DAE0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5953" y="2057401"/>
            <a:ext cx="2949178" cy="3537030"/>
          </a:xfrm>
        </p:spPr>
        <p:txBody>
          <a:bodyPr/>
          <a:lstStyle>
            <a:lvl1pPr marL="192847" indent="-192847">
              <a:lnSpc>
                <a:spcPts val="225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6" b="1">
                <a:solidFill>
                  <a:schemeClr val="bg1"/>
                </a:solidFill>
              </a:defRPr>
            </a:lvl1pPr>
            <a:lvl2pPr marL="342879" indent="0">
              <a:buNone/>
              <a:defRPr sz="1050"/>
            </a:lvl2pPr>
            <a:lvl3pPr marL="685758" indent="0">
              <a:buNone/>
              <a:defRPr sz="900"/>
            </a:lvl3pPr>
            <a:lvl4pPr marL="1028637" indent="0">
              <a:buNone/>
              <a:defRPr sz="750"/>
            </a:lvl4pPr>
            <a:lvl5pPr marL="1371516" indent="0">
              <a:buNone/>
              <a:defRPr sz="750"/>
            </a:lvl5pPr>
            <a:lvl6pPr marL="1714395" indent="0">
              <a:buNone/>
              <a:defRPr sz="750"/>
            </a:lvl6pPr>
            <a:lvl7pPr marL="2057274" indent="0">
              <a:buNone/>
              <a:defRPr sz="750"/>
            </a:lvl7pPr>
            <a:lvl8pPr marL="2400153" indent="0">
              <a:buNone/>
              <a:defRPr sz="750"/>
            </a:lvl8pPr>
            <a:lvl9pPr marL="2743033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BE757-A7B3-EC49-B81F-E4004CBD0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DCB14-3FFF-4946-A910-04785284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811BA-6058-7E4C-BF7B-D24B11BC9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C47E-4B7D-1647-9F80-3037E352F9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9722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ransparent Picture with Bullet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68B0D1-E995-3245-959F-3166EEDDA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5760000"/>
          </a:xfrm>
        </p:spPr>
        <p:txBody>
          <a:bodyPr/>
          <a:lstStyle>
            <a:lvl1pPr marL="0" indent="0">
              <a:buNone/>
              <a:defRPr sz="2400"/>
            </a:lvl1pPr>
            <a:lvl2pPr marL="342879" indent="0">
              <a:buNone/>
              <a:defRPr sz="2100"/>
            </a:lvl2pPr>
            <a:lvl3pPr marL="685758" indent="0">
              <a:buNone/>
              <a:defRPr sz="1800"/>
            </a:lvl3pPr>
            <a:lvl4pPr marL="1028637" indent="0">
              <a:buNone/>
              <a:defRPr sz="1500"/>
            </a:lvl4pPr>
            <a:lvl5pPr marL="1371516" indent="0">
              <a:buNone/>
              <a:defRPr sz="1500"/>
            </a:lvl5pPr>
            <a:lvl6pPr marL="1714395" indent="0">
              <a:buNone/>
              <a:defRPr sz="1500"/>
            </a:lvl6pPr>
            <a:lvl7pPr marL="2057274" indent="0">
              <a:buNone/>
              <a:defRPr sz="1500"/>
            </a:lvl7pPr>
            <a:lvl8pPr marL="2400153" indent="0">
              <a:buNone/>
              <a:defRPr sz="1500"/>
            </a:lvl8pPr>
            <a:lvl9pPr marL="2743033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1F2900-C118-A14E-B938-836275F297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187" t="2468"/>
          <a:stretch/>
        </p:blipFill>
        <p:spPr>
          <a:xfrm>
            <a:off x="0" y="0"/>
            <a:ext cx="4304786" cy="57615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71DBFB-D718-9E4A-B9E5-3A856A8BD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53" y="826329"/>
            <a:ext cx="2949178" cy="961316"/>
          </a:xfrm>
        </p:spPr>
        <p:txBody>
          <a:bodyPr anchor="t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83F82-1B7B-8841-8682-164A9DAE0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5953" y="2057401"/>
            <a:ext cx="2949178" cy="3537030"/>
          </a:xfrm>
        </p:spPr>
        <p:txBody>
          <a:bodyPr/>
          <a:lstStyle>
            <a:lvl1pPr marL="192847" indent="-192847">
              <a:lnSpc>
                <a:spcPts val="225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6" b="1">
                <a:solidFill>
                  <a:schemeClr val="bg1"/>
                </a:solidFill>
              </a:defRPr>
            </a:lvl1pPr>
            <a:lvl2pPr marL="342879" indent="0">
              <a:buNone/>
              <a:defRPr sz="1050"/>
            </a:lvl2pPr>
            <a:lvl3pPr marL="685758" indent="0">
              <a:buNone/>
              <a:defRPr sz="900"/>
            </a:lvl3pPr>
            <a:lvl4pPr marL="1028637" indent="0">
              <a:buNone/>
              <a:defRPr sz="750"/>
            </a:lvl4pPr>
            <a:lvl5pPr marL="1371516" indent="0">
              <a:buNone/>
              <a:defRPr sz="750"/>
            </a:lvl5pPr>
            <a:lvl6pPr marL="1714395" indent="0">
              <a:buNone/>
              <a:defRPr sz="750"/>
            </a:lvl6pPr>
            <a:lvl7pPr marL="2057274" indent="0">
              <a:buNone/>
              <a:defRPr sz="750"/>
            </a:lvl7pPr>
            <a:lvl8pPr marL="2400153" indent="0">
              <a:buNone/>
              <a:defRPr sz="750"/>
            </a:lvl8pPr>
            <a:lvl9pPr marL="2743033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BE757-A7B3-EC49-B81F-E4004CBD0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DCB14-3FFF-4946-A910-04785284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811BA-6058-7E4C-BF7B-D24B11BC9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C47E-4B7D-1647-9F80-3037E352F9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789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68B0D1-E995-3245-959F-3166EEDDA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5760000"/>
          </a:xfrm>
        </p:spPr>
        <p:txBody>
          <a:bodyPr/>
          <a:lstStyle>
            <a:lvl1pPr marL="0" indent="0">
              <a:buNone/>
              <a:defRPr sz="2400"/>
            </a:lvl1pPr>
            <a:lvl2pPr marL="342879" indent="0">
              <a:buNone/>
              <a:defRPr sz="2100"/>
            </a:lvl2pPr>
            <a:lvl3pPr marL="685758" indent="0">
              <a:buNone/>
              <a:defRPr sz="1800"/>
            </a:lvl3pPr>
            <a:lvl4pPr marL="1028637" indent="0">
              <a:buNone/>
              <a:defRPr sz="1500"/>
            </a:lvl4pPr>
            <a:lvl5pPr marL="1371516" indent="0">
              <a:buNone/>
              <a:defRPr sz="1500"/>
            </a:lvl5pPr>
            <a:lvl6pPr marL="1714395" indent="0">
              <a:buNone/>
              <a:defRPr sz="1500"/>
            </a:lvl6pPr>
            <a:lvl7pPr marL="2057274" indent="0">
              <a:buNone/>
              <a:defRPr sz="1500"/>
            </a:lvl7pPr>
            <a:lvl8pPr marL="2400153" indent="0">
              <a:buNone/>
              <a:defRPr sz="1500"/>
            </a:lvl8pPr>
            <a:lvl9pPr marL="2743033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6267A8-E11A-BC4B-ABF0-35302C5B76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187" t="2468"/>
          <a:stretch/>
        </p:blipFill>
        <p:spPr>
          <a:xfrm>
            <a:off x="0" y="-1553"/>
            <a:ext cx="4304786" cy="57615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71DBFB-D718-9E4A-B9E5-3A856A8BD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53" y="826329"/>
            <a:ext cx="2949178" cy="961316"/>
          </a:xfrm>
        </p:spPr>
        <p:txBody>
          <a:bodyPr anchor="t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83F82-1B7B-8841-8682-164A9DAE0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5953" y="2057401"/>
            <a:ext cx="2949178" cy="3537030"/>
          </a:xfrm>
        </p:spPr>
        <p:txBody>
          <a:bodyPr/>
          <a:lstStyle>
            <a:lvl1pPr marL="0" indent="0">
              <a:lnSpc>
                <a:spcPts val="2250"/>
              </a:lnSpc>
              <a:spcBef>
                <a:spcPts val="0"/>
              </a:spcBef>
              <a:buFont typeface="Arial" panose="020B0604020202020204" pitchFamily="34" charset="0"/>
              <a:buNone/>
              <a:defRPr sz="1406" b="1">
                <a:solidFill>
                  <a:schemeClr val="bg1"/>
                </a:solidFill>
              </a:defRPr>
            </a:lvl1pPr>
            <a:lvl2pPr marL="342879" indent="0">
              <a:buNone/>
              <a:defRPr sz="1050"/>
            </a:lvl2pPr>
            <a:lvl3pPr marL="685758" indent="0">
              <a:buNone/>
              <a:defRPr sz="900"/>
            </a:lvl3pPr>
            <a:lvl4pPr marL="1028637" indent="0">
              <a:buNone/>
              <a:defRPr sz="750"/>
            </a:lvl4pPr>
            <a:lvl5pPr marL="1371516" indent="0">
              <a:buNone/>
              <a:defRPr sz="750"/>
            </a:lvl5pPr>
            <a:lvl6pPr marL="1714395" indent="0">
              <a:buNone/>
              <a:defRPr sz="750"/>
            </a:lvl6pPr>
            <a:lvl7pPr marL="2057274" indent="0">
              <a:buNone/>
              <a:defRPr sz="750"/>
            </a:lvl7pPr>
            <a:lvl8pPr marL="2400153" indent="0">
              <a:buNone/>
              <a:defRPr sz="750"/>
            </a:lvl8pPr>
            <a:lvl9pPr marL="2743033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BE757-A7B3-EC49-B81F-E4004CBD0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DCB14-3FFF-4946-A910-04785284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811BA-6058-7E4C-BF7B-D24B11BC9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C47E-4B7D-1647-9F80-3037E352F9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5087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ransparent Picture with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68B0D1-E995-3245-959F-3166EEDDA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5760000"/>
          </a:xfrm>
        </p:spPr>
        <p:txBody>
          <a:bodyPr/>
          <a:lstStyle>
            <a:lvl1pPr marL="0" indent="0">
              <a:buNone/>
              <a:defRPr sz="2400"/>
            </a:lvl1pPr>
            <a:lvl2pPr marL="342879" indent="0">
              <a:buNone/>
              <a:defRPr sz="2100"/>
            </a:lvl2pPr>
            <a:lvl3pPr marL="685758" indent="0">
              <a:buNone/>
              <a:defRPr sz="1800"/>
            </a:lvl3pPr>
            <a:lvl4pPr marL="1028637" indent="0">
              <a:buNone/>
              <a:defRPr sz="1500"/>
            </a:lvl4pPr>
            <a:lvl5pPr marL="1371516" indent="0">
              <a:buNone/>
              <a:defRPr sz="1500"/>
            </a:lvl5pPr>
            <a:lvl6pPr marL="1714395" indent="0">
              <a:buNone/>
              <a:defRPr sz="1500"/>
            </a:lvl6pPr>
            <a:lvl7pPr marL="2057274" indent="0">
              <a:buNone/>
              <a:defRPr sz="1500"/>
            </a:lvl7pPr>
            <a:lvl8pPr marL="2400153" indent="0">
              <a:buNone/>
              <a:defRPr sz="1500"/>
            </a:lvl8pPr>
            <a:lvl9pPr marL="2743033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82D14D-EFB8-194E-9283-741A4DB5D3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187" t="2468"/>
          <a:stretch/>
        </p:blipFill>
        <p:spPr>
          <a:xfrm>
            <a:off x="0" y="-1553"/>
            <a:ext cx="4304786" cy="57615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71DBFB-D718-9E4A-B9E5-3A856A8BD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53" y="826329"/>
            <a:ext cx="2949178" cy="961316"/>
          </a:xfrm>
        </p:spPr>
        <p:txBody>
          <a:bodyPr anchor="t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83F82-1B7B-8841-8682-164A9DAE0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5953" y="2057401"/>
            <a:ext cx="2949178" cy="3537030"/>
          </a:xfrm>
        </p:spPr>
        <p:txBody>
          <a:bodyPr/>
          <a:lstStyle>
            <a:lvl1pPr marL="0" indent="0">
              <a:lnSpc>
                <a:spcPts val="2250"/>
              </a:lnSpc>
              <a:spcBef>
                <a:spcPts val="0"/>
              </a:spcBef>
              <a:buFont typeface="Arial" panose="020B0604020202020204" pitchFamily="34" charset="0"/>
              <a:buNone/>
              <a:defRPr sz="1406" b="1">
                <a:solidFill>
                  <a:schemeClr val="bg1"/>
                </a:solidFill>
              </a:defRPr>
            </a:lvl1pPr>
            <a:lvl2pPr marL="342879" indent="0">
              <a:buNone/>
              <a:defRPr sz="1050"/>
            </a:lvl2pPr>
            <a:lvl3pPr marL="685758" indent="0">
              <a:buNone/>
              <a:defRPr sz="900"/>
            </a:lvl3pPr>
            <a:lvl4pPr marL="1028637" indent="0">
              <a:buNone/>
              <a:defRPr sz="750"/>
            </a:lvl4pPr>
            <a:lvl5pPr marL="1371516" indent="0">
              <a:buNone/>
              <a:defRPr sz="750"/>
            </a:lvl5pPr>
            <a:lvl6pPr marL="1714395" indent="0">
              <a:buNone/>
              <a:defRPr sz="750"/>
            </a:lvl6pPr>
            <a:lvl7pPr marL="2057274" indent="0">
              <a:buNone/>
              <a:defRPr sz="750"/>
            </a:lvl7pPr>
            <a:lvl8pPr marL="2400153" indent="0">
              <a:buNone/>
              <a:defRPr sz="750"/>
            </a:lvl8pPr>
            <a:lvl9pPr marL="2743033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BE757-A7B3-EC49-B81F-E4004CBD0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DCB14-3FFF-4946-A910-04785284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811BA-6058-7E4C-BF7B-D24B11BC9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C47E-4B7D-1647-9F80-3037E352F9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1768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D19D5-0F85-CB4E-B0A9-93B988A6B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A9A43A-A3AB-9641-9E5A-9DA8B2CC0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B5666-28FF-9F4F-8C5C-D50684398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6F1F43-8673-9348-80A9-029FC3617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C47E-4B7D-1647-9F80-3037E352F9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3112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8995B1-CE25-1148-9140-B20A1F189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C093B2-889C-3D45-91E5-6ABBE19F1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78FF8-B193-9B4D-A0D1-BDFE4CDC2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CC47E-4B7D-1647-9F80-3037E352F9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3612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B72F0-795F-DC49-8A85-915BF0F26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953" y="4374684"/>
            <a:ext cx="5669446" cy="1220748"/>
          </a:xfrm>
        </p:spPr>
        <p:txBody>
          <a:bodyPr anchor="t">
            <a:normAutofit/>
          </a:bodyPr>
          <a:lstStyle>
            <a:lvl1pPr algn="l">
              <a:defRPr sz="2643" b="1">
                <a:solidFill>
                  <a:srgbClr val="00A956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0012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7694BF6F-83FF-9C44-AD1D-8718C81723F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C16A9B-903B-D449-9421-7BC9258461D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1377707500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0E4EAE5D-52BB-9147-BA7E-A01CD851FC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8390" y="0"/>
            <a:ext cx="381361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4286520307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11B72E5B-8070-C94A-B29F-389B200D8F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534046" y="3426519"/>
            <a:ext cx="303628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A06B3AF-3A09-CD40-BBDA-4DA1A3132BC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84056" y="-4962"/>
            <a:ext cx="303628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3462417953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268CFD98-33F7-294B-80A9-1CCE5CB489C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8996" y="1010487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313E9116-BB6D-B642-A83F-3A63A87B6B2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662842" y="1010487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C2803E21-B05F-5A41-9058-C077C75579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74358" y="1010487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72DDECA1-C03C-D84B-B622-99F2229B913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78782" y="1010487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4132292857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Main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ine"/>
          <p:cNvSpPr/>
          <p:nvPr/>
        </p:nvSpPr>
        <p:spPr>
          <a:xfrm>
            <a:off x="1" y="5847539"/>
            <a:ext cx="8383228" cy="1"/>
          </a:xfrm>
          <a:prstGeom prst="line">
            <a:avLst/>
          </a:prstGeom>
          <a:ln w="12700">
            <a:solidFill>
              <a:srgbClr val="C8CBD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200" dirty="0"/>
          </a:p>
        </p:txBody>
      </p:sp>
      <p:sp>
        <p:nvSpPr>
          <p:cNvPr id="24" name="Line"/>
          <p:cNvSpPr/>
          <p:nvPr/>
        </p:nvSpPr>
        <p:spPr>
          <a:xfrm flipH="1" flipV="1">
            <a:off x="760773" y="1013520"/>
            <a:ext cx="8383228" cy="1"/>
          </a:xfrm>
          <a:prstGeom prst="line">
            <a:avLst/>
          </a:prstGeom>
          <a:ln w="12700">
            <a:solidFill>
              <a:srgbClr val="C8CBD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200" dirty="0"/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xfrm flipV="1">
            <a:off x="8298742" y="5847540"/>
            <a:ext cx="558643" cy="42245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18206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B18F44F-B3D5-9342-A903-AF3B2312ABD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72000" y="0"/>
            <a:ext cx="3810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468387229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EB24606-476E-6048-B1F2-4C75CD26FA6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523666" y="3429000"/>
            <a:ext cx="609667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1996284443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76C428E-561C-5549-ACE8-B30AB9D1D1E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108490688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5AD3A910-CEE4-8D40-A151-4D93E936656E}"/>
              </a:ext>
            </a:extLst>
          </p:cNvPr>
          <p:cNvSpPr/>
          <p:nvPr userDrawn="1"/>
        </p:nvSpPr>
        <p:spPr>
          <a:xfrm>
            <a:off x="764958" y="1013520"/>
            <a:ext cx="3810001" cy="4826001"/>
          </a:xfrm>
          <a:prstGeom prst="rect">
            <a:avLst/>
          </a:prstGeom>
          <a:solidFill>
            <a:srgbClr val="6059F7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200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BA6C238-6E3D-3B49-A9E4-0017224EA26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74358" y="1010487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4B08D2E-A2EE-3E46-B5E5-750BF8A369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78782" y="1010487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A5F5D9F-2868-3642-BD2D-B14E29ACDA9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568419" y="3433714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352C6001-6469-424C-A423-CBC1852A541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472842" y="3433714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3172057257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0462577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AE3BD92-E199-6045-A6A2-4374A993C2C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8996" y="1010487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D23FCE7-07B4-F44B-BEB5-DC99F0E0E59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662842" y="1010487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EEABA380-8C0F-D04D-9588-C590453A8BC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74358" y="1010487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C08B1669-B1A2-2146-BC71-12421EDFFBE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78782" y="1010487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99598DDA-AD37-8A4C-A3F9-CB771EC1D0C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3057" y="3433714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C7A218F5-F9DC-4947-9202-0D86A98E645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656902" y="3433714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73ABFB21-2628-5146-BE69-45B8EEFE44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568419" y="3433714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B754BE93-E890-BA4C-8B02-CFB08B408A9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472842" y="3433714"/>
            <a:ext cx="1906200" cy="241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2140170555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3364EA-CC53-7640-BCBC-33A54EE849F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72000" y="1"/>
            <a:ext cx="3050009" cy="5841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200"/>
            </a:lvl1pPr>
          </a:lstStyle>
          <a:p>
            <a:r>
              <a:rPr lang="en-US" dirty="0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1748762942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1662" cy="113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913" tIns="150913" rIns="150913" bIns="150913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10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10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10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10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10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24438" marR="0" lvl="5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10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848875" marR="0" lvl="6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10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273313" marR="0" lvl="7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10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697751" marR="0" lvl="8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10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>
            <a:off x="457201" y="1600201"/>
            <a:ext cx="4033838" cy="451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913" tIns="150913" rIns="150913" bIns="150913" anchor="t" anchorCtr="0"/>
          <a:lstStyle>
            <a:lvl1pPr marL="424438" marR="0" lvl="0" indent="-377278" algn="l" rtl="0">
              <a:lnSpc>
                <a:spcPct val="100000"/>
              </a:lnSpc>
              <a:spcBef>
                <a:spcPts val="743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5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48875" marR="0" lvl="1" indent="-353698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sz="22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73313" marR="0" lvl="2" indent="-330118" algn="l" rtl="0">
              <a:lnSpc>
                <a:spcPct val="100000"/>
              </a:lnSpc>
              <a:spcBef>
                <a:spcPts val="557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18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97751" marR="0" lvl="3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122188" marR="0" lvl="4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46626" marR="0" lvl="5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064" marR="0" lvl="6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395501" marR="0" lvl="7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9938" marR="0" lvl="8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body" idx="2"/>
          </p:nvPr>
        </p:nvSpPr>
        <p:spPr>
          <a:xfrm>
            <a:off x="4643444" y="1600201"/>
            <a:ext cx="4035425" cy="451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913" tIns="150913" rIns="150913" bIns="150913" anchor="t" anchorCtr="0"/>
          <a:lstStyle>
            <a:lvl1pPr marL="424438" marR="0" lvl="0" indent="-377278" algn="l" rtl="0">
              <a:lnSpc>
                <a:spcPct val="100000"/>
              </a:lnSpc>
              <a:spcBef>
                <a:spcPts val="743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5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48875" marR="0" lvl="1" indent="-353698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sz="22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73313" marR="0" lvl="2" indent="-330118" algn="l" rtl="0">
              <a:lnSpc>
                <a:spcPct val="100000"/>
              </a:lnSpc>
              <a:spcBef>
                <a:spcPts val="557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185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97751" marR="0" lvl="3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122188" marR="0" lvl="4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46626" marR="0" lvl="5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064" marR="0" lvl="6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395501" marR="0" lvl="7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9938" marR="0" lvl="8" indent="-318329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68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dt" idx="10"/>
          </p:nvPr>
        </p:nvSpPr>
        <p:spPr>
          <a:xfrm>
            <a:off x="457200" y="6356361"/>
            <a:ext cx="2125662" cy="35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913" tIns="150913" rIns="150913" bIns="150913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sz="168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24438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sz="168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48875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sz="168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73313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sz="168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697751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sz="168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122188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sz="168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064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sz="168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244377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sz="168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942127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sz="168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6553200" y="6356361"/>
            <a:ext cx="2125662" cy="35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561" tIns="77252" rIns="148561" bIns="77252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sz="1125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sz="1125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sz="1125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sz="1125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sz="1125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sz="1125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sz="1125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sz="1125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00"/>
              <a:buFont typeface="Calibri"/>
              <a:buNone/>
              <a:defRPr sz="1125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911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837C1AC-9B80-47AA-BBDA-A73033D19A50}" type="datetime1">
              <a:rPr lang="en-IE" altLang="en-US" smtClean="0"/>
              <a:pPr>
                <a:defRPr/>
              </a:pPr>
              <a:t>21/10/2026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C94075C-AE6C-4302-B61F-E41CAEFC7B6F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7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A7FBCA-0170-A045-A7B9-C21077D8E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53" y="826329"/>
            <a:ext cx="7886700" cy="7041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E127D-E475-0447-ABE5-C831EB30D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953" y="1628354"/>
            <a:ext cx="7886700" cy="322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1DA5F-71C7-C24D-A60E-69D381002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5953" y="631898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>
                <a:solidFill>
                  <a:srgbClr val="005336"/>
                </a:solidFill>
                <a:latin typeface="Helvetica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6C108-9FF4-4247-BF63-31A399B9D0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43352" y="6318987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900">
                <a:solidFill>
                  <a:srgbClr val="005336"/>
                </a:solidFill>
                <a:latin typeface="Helvetica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FD07C-4D6A-8244-A552-36C15D64DC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629453" y="6318987"/>
            <a:ext cx="167789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>
                <a:solidFill>
                  <a:srgbClr val="005336"/>
                </a:solidFill>
                <a:latin typeface="Helvetica" pitchFamily="2" charset="0"/>
              </a:defRPr>
            </a:lvl1pPr>
          </a:lstStyle>
          <a:p>
            <a:fld id="{78BCC47E-4B7D-1647-9F80-3037E352F95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512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8" r:id="rId22"/>
    <p:sldLayoutId id="2147483709" r:id="rId23"/>
    <p:sldLayoutId id="2147483710" r:id="rId24"/>
    <p:sldLayoutId id="2147483711" r:id="rId25"/>
  </p:sldLayoutIdLst>
  <p:hf hdr="0" ftr="0" dt="0"/>
  <p:txStyles>
    <p:titleStyle>
      <a:lvl1pPr algn="l" defTabSz="685758" rtl="0" eaLnBrk="1" latinLnBrk="0" hangingPunct="1">
        <a:lnSpc>
          <a:spcPct val="90000"/>
        </a:lnSpc>
        <a:spcBef>
          <a:spcPct val="0"/>
        </a:spcBef>
        <a:buNone/>
        <a:defRPr sz="2531" b="0" kern="1200">
          <a:solidFill>
            <a:srgbClr val="005336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171439" indent="-171439" algn="l" defTabSz="68575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294" kern="1200">
          <a:solidFill>
            <a:srgbClr val="005336"/>
          </a:solidFill>
          <a:latin typeface="Helvetica" pitchFamily="2" charset="0"/>
          <a:ea typeface="+mn-ea"/>
          <a:cs typeface="+mn-cs"/>
        </a:defRPr>
      </a:lvl1pPr>
      <a:lvl2pPr marL="514318" indent="-171439" algn="l" defTabSz="68575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94" kern="1200">
          <a:solidFill>
            <a:srgbClr val="005336"/>
          </a:solidFill>
          <a:latin typeface="Helvetica" pitchFamily="2" charset="0"/>
          <a:ea typeface="+mn-ea"/>
          <a:cs typeface="+mn-cs"/>
        </a:defRPr>
      </a:lvl2pPr>
      <a:lvl3pPr marL="857198" indent="-171439" algn="l" defTabSz="68575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94" kern="1200">
          <a:solidFill>
            <a:srgbClr val="005336"/>
          </a:solidFill>
          <a:latin typeface="Helvetica" pitchFamily="2" charset="0"/>
          <a:ea typeface="+mn-ea"/>
          <a:cs typeface="+mn-cs"/>
        </a:defRPr>
      </a:lvl3pPr>
      <a:lvl4pPr marL="1200077" indent="-171439" algn="l" defTabSz="68575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94" kern="1200">
          <a:solidFill>
            <a:srgbClr val="005336"/>
          </a:solidFill>
          <a:latin typeface="Helvetica" pitchFamily="2" charset="0"/>
          <a:ea typeface="+mn-ea"/>
          <a:cs typeface="+mn-cs"/>
        </a:defRPr>
      </a:lvl4pPr>
      <a:lvl5pPr marL="1542956" indent="-171439" algn="l" defTabSz="68575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94" kern="1200">
          <a:solidFill>
            <a:srgbClr val="005336"/>
          </a:solidFill>
          <a:latin typeface="Helvetica" pitchFamily="2" charset="0"/>
          <a:ea typeface="+mn-ea"/>
          <a:cs typeface="+mn-cs"/>
        </a:defRPr>
      </a:lvl5pPr>
      <a:lvl6pPr marL="1885835" indent="-171439" algn="l" defTabSz="68575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14" indent="-171439" algn="l" defTabSz="68575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93" indent="-171439" algn="l" defTabSz="68575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72" indent="-171439" algn="l" defTabSz="685758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5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9" algn="l" defTabSz="68575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58" algn="l" defTabSz="68575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37" algn="l" defTabSz="68575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16" algn="l" defTabSz="68575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95" algn="l" defTabSz="68575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74" algn="l" defTabSz="68575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53" algn="l" defTabSz="68575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33" algn="l" defTabSz="685758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FCB0A-7993-BA4C-8272-98FAE8DB7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552" y="1844824"/>
            <a:ext cx="8455070" cy="446449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br>
              <a:rPr lang="en-US" sz="3374" dirty="0"/>
            </a:br>
            <a:r>
              <a:rPr lang="en-US" sz="3374" dirty="0"/>
              <a:t>CS6451: Advanced Software Design </a:t>
            </a:r>
            <a:br>
              <a:rPr lang="en-US" sz="3100" dirty="0"/>
            </a:br>
            <a:r>
              <a:rPr lang="en-US" sz="3100"/>
              <a:t>Lecture I: </a:t>
            </a:r>
            <a:r>
              <a:rPr lang="en-IE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Interceptor Part 1</a:t>
            </a:r>
            <a:br>
              <a:rPr lang="en-IE" sz="3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2200" dirty="0"/>
            </a:br>
            <a:r>
              <a:rPr lang="en-US" sz="2475" dirty="0"/>
              <a:t>J.J. Collins</a:t>
            </a:r>
            <a:br>
              <a:rPr lang="en-US" sz="2475" dirty="0"/>
            </a:br>
            <a:r>
              <a:rPr lang="en-US" sz="2475" dirty="0"/>
              <a:t>Dept. of CSIS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4919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defTabSz="712984" fontAlgn="auto">
              <a:spcBef>
                <a:spcPts val="0"/>
              </a:spcBef>
              <a:spcAft>
                <a:spcPts val="0"/>
              </a:spcAft>
            </a:pPr>
            <a:fld id="{86CB4B4D-7CA3-9044-876B-883B54F8677D}" type="slidenum">
              <a:rPr/>
              <a:pPr defTabSz="712984" fontAlgn="auto">
                <a:spcBef>
                  <a:spcPts val="0"/>
                </a:spcBef>
                <a:spcAft>
                  <a:spcPts val="0"/>
                </a:spcAft>
              </a:pPr>
              <a:t>2</a:t>
            </a:fld>
            <a:endParaRPr dirty="0"/>
          </a:p>
        </p:txBody>
      </p:sp>
      <p:sp>
        <p:nvSpPr>
          <p:cNvPr id="152" name="Rectangle"/>
          <p:cNvSpPr/>
          <p:nvPr/>
        </p:nvSpPr>
        <p:spPr>
          <a:xfrm>
            <a:off x="0" y="857251"/>
            <a:ext cx="762000" cy="5143500"/>
          </a:xfrm>
          <a:prstGeom prst="rect">
            <a:avLst/>
          </a:prstGeom>
          <a:solidFill>
            <a:srgbClr val="202329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712984" fontAlgn="auto"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200" dirty="0">
              <a:solidFill>
                <a:srgbClr val="FFFFFF"/>
              </a:solidFill>
              <a:latin typeface="Arial" panose="020B0604020202020204"/>
              <a:sym typeface="Helvetica Neue Medium"/>
            </a:endParaRPr>
          </a:p>
        </p:txBody>
      </p:sp>
      <p:sp>
        <p:nvSpPr>
          <p:cNvPr id="154" name="M Point"/>
          <p:cNvSpPr txBox="1"/>
          <p:nvPr/>
        </p:nvSpPr>
        <p:spPr>
          <a:xfrm rot="16200000">
            <a:off x="-433966" y="3616420"/>
            <a:ext cx="1633460" cy="144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b="0">
                <a:solidFill>
                  <a:srgbClr val="F7F9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 defTabSz="712984" fontAlgn="auto">
              <a:spcBef>
                <a:spcPts val="0"/>
              </a:spcBef>
              <a:spcAft>
                <a:spcPts val="0"/>
              </a:spcAft>
            </a:pPr>
            <a:r>
              <a:rPr lang="en-IE" sz="936" dirty="0"/>
              <a:t>Advanced Software Design</a:t>
            </a:r>
            <a:endParaRPr lang="ga-IE" sz="936" dirty="0"/>
          </a:p>
        </p:txBody>
      </p:sp>
      <p:sp>
        <p:nvSpPr>
          <p:cNvPr id="155" name="Seamlessly develop orthogonal readiness before…"/>
          <p:cNvSpPr txBox="1"/>
          <p:nvPr/>
        </p:nvSpPr>
        <p:spPr>
          <a:xfrm>
            <a:off x="5076056" y="2166747"/>
            <a:ext cx="3880048" cy="1972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285750" indent="-285750" defTabSz="712984" fontAlgn="auto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q"/>
              <a:defRPr sz="1800" b="0">
                <a:solidFill>
                  <a:srgbClr val="696E78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rPr lang="en-IE" sz="2000">
                <a:solidFill>
                  <a:srgbClr val="E7E6E6">
                    <a:lumMod val="25000"/>
                  </a:srgbClr>
                </a:solidFill>
                <a:latin typeface="Poppins Light"/>
                <a:sym typeface="Poppins Light"/>
              </a:rPr>
              <a:t> Understand </a:t>
            </a:r>
            <a:r>
              <a:rPr lang="en-IE" sz="2000" dirty="0">
                <a:solidFill>
                  <a:srgbClr val="E7E6E6">
                    <a:lumMod val="25000"/>
                  </a:srgbClr>
                </a:solidFill>
                <a:latin typeface="Poppins Light"/>
                <a:sym typeface="Poppins Light"/>
              </a:rPr>
              <a:t>the intent, structure, collaboration, and consequences of the Interceptor architectural pattern</a:t>
            </a:r>
            <a:endParaRPr sz="2000" dirty="0">
              <a:solidFill>
                <a:srgbClr val="696E78"/>
              </a:solidFill>
              <a:latin typeface="Poppins Light"/>
              <a:sym typeface="Poppins Light"/>
            </a:endParaRPr>
          </a:p>
        </p:txBody>
      </p:sp>
      <p:sp>
        <p:nvSpPr>
          <p:cNvPr id="156" name="The secret to creativity is…"/>
          <p:cNvSpPr txBox="1"/>
          <p:nvPr/>
        </p:nvSpPr>
        <p:spPr>
          <a:xfrm>
            <a:off x="6012160" y="1412776"/>
            <a:ext cx="2943944" cy="311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defTabSz="712984" fontAlgn="auto">
              <a:spcBef>
                <a:spcPts val="0"/>
              </a:spcBef>
              <a:spcAft>
                <a:spcPts val="0"/>
              </a:spcAft>
              <a:defRPr b="0">
                <a:solidFill>
                  <a:srgbClr val="3D3D3D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pPr>
            <a:r>
              <a:rPr lang="en-IE" sz="2025" dirty="0">
                <a:solidFill>
                  <a:srgbClr val="00B140"/>
                </a:solidFill>
                <a:latin typeface="Poppins Medium"/>
                <a:sym typeface="Poppins Medium"/>
              </a:rPr>
              <a:t>Objectives</a:t>
            </a:r>
            <a:endParaRPr sz="2025" dirty="0">
              <a:solidFill>
                <a:srgbClr val="3D3D3D"/>
              </a:solidFill>
              <a:latin typeface="Poppins Medium"/>
              <a:sym typeface="Poppins Medium"/>
            </a:endParaRP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65" r="24965"/>
          <a:stretch>
            <a:fillRect/>
          </a:stretch>
        </p:blipFill>
        <p:spPr>
          <a:xfrm>
            <a:off x="775626" y="340282"/>
            <a:ext cx="4123240" cy="6177437"/>
          </a:xfrm>
        </p:spPr>
      </p:pic>
      <p:sp>
        <p:nvSpPr>
          <p:cNvPr id="5" name="TextBox 4"/>
          <p:cNvSpPr txBox="1"/>
          <p:nvPr/>
        </p:nvSpPr>
        <p:spPr>
          <a:xfrm>
            <a:off x="1331640" y="6347340"/>
            <a:ext cx="1689630" cy="3084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12984" fontAlgn="auto">
              <a:spcBef>
                <a:spcPts val="0"/>
              </a:spcBef>
              <a:spcAft>
                <a:spcPts val="0"/>
              </a:spcAft>
            </a:pPr>
            <a:r>
              <a:rPr lang="en-IE" sz="1404" b="1" dirty="0">
                <a:solidFill>
                  <a:srgbClr val="17161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</a:rPr>
              <a:t>© www.infoq.com</a:t>
            </a:r>
          </a:p>
        </p:txBody>
      </p:sp>
    </p:spTree>
    <p:extLst>
      <p:ext uri="{BB962C8B-B14F-4D97-AF65-F5344CB8AC3E}">
        <p14:creationId xmlns:p14="http://schemas.microsoft.com/office/powerpoint/2010/main" val="3881382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defTabSz="712984" fontAlgn="auto">
              <a:spcBef>
                <a:spcPts val="0"/>
              </a:spcBef>
              <a:spcAft>
                <a:spcPts val="0"/>
              </a:spcAft>
            </a:pPr>
            <a:fld id="{86CB4B4D-7CA3-9044-876B-883B54F8677D}" type="slidenum">
              <a:rPr lang="en-IE"/>
              <a:pPr defTabSz="712984" fontAlgn="auto">
                <a:spcBef>
                  <a:spcPts val="0"/>
                </a:spcBef>
                <a:spcAft>
                  <a:spcPts val="0"/>
                </a:spcAft>
              </a:pPr>
              <a:t>3</a:t>
            </a:fld>
            <a:endParaRPr lang="en-I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749"/>
            <a:ext cx="9093553" cy="592397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51762" y="2845969"/>
            <a:ext cx="4248229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12984" fontAlgn="auto">
              <a:spcBef>
                <a:spcPts val="0"/>
              </a:spcBef>
              <a:spcAft>
                <a:spcPts val="0"/>
              </a:spcAft>
            </a:pPr>
            <a:r>
              <a:rPr lang="en-IE" sz="2000" dirty="0">
                <a:solidFill>
                  <a:prstClr val="white"/>
                </a:solidFill>
                <a:latin typeface="Arial" panose="020B0604020202020204"/>
              </a:rPr>
              <a:t>Work clever </a:t>
            </a:r>
            <a:r>
              <a:rPr lang="en-IE" sz="2000" dirty="0">
                <a:solidFill>
                  <a:prstClr val="white"/>
                </a:solidFill>
                <a:latin typeface="Arial" panose="020B0604020202020204"/>
                <a:sym typeface="Wingdings" panose="05000000000000000000" pitchFamily="2" charset="2"/>
              </a:rPr>
              <a:t> s</a:t>
            </a:r>
            <a:r>
              <a:rPr lang="en-IE" sz="2000" dirty="0">
                <a:solidFill>
                  <a:prstClr val="white"/>
                </a:solidFill>
                <a:latin typeface="Arial" panose="020B0604020202020204"/>
              </a:rPr>
              <a:t>tay engaged</a:t>
            </a:r>
          </a:p>
          <a:p>
            <a:pPr marL="192847" indent="-192847" defTabSz="712984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E" sz="2000" dirty="0">
              <a:solidFill>
                <a:prstClr val="white"/>
              </a:solidFill>
              <a:latin typeface="Arial" panose="020B0604020202020204"/>
            </a:endParaRPr>
          </a:p>
          <a:p>
            <a:pPr defTabSz="712984" fontAlgn="auto">
              <a:spcBef>
                <a:spcPts val="0"/>
              </a:spcBef>
              <a:spcAft>
                <a:spcPts val="0"/>
              </a:spcAft>
            </a:pPr>
            <a:r>
              <a:rPr lang="en-IE" sz="2000" dirty="0">
                <a:solidFill>
                  <a:prstClr val="white"/>
                </a:solidFill>
                <a:latin typeface="Arial" panose="020B0604020202020204"/>
              </a:rPr>
              <a:t>Good Practice</a:t>
            </a:r>
          </a:p>
          <a:p>
            <a:pPr marL="192847" indent="-192847" defTabSz="712984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E" sz="2000" dirty="0">
                <a:solidFill>
                  <a:prstClr val="white"/>
                </a:solidFill>
                <a:latin typeface="Arial" panose="020B0604020202020204"/>
              </a:rPr>
              <a:t>Attend  lectures</a:t>
            </a:r>
          </a:p>
          <a:p>
            <a:pPr marL="650047" lvl="1" indent="-192847" defTabSz="712984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E" sz="2000" dirty="0">
                <a:solidFill>
                  <a:prstClr val="white"/>
                </a:solidFill>
                <a:latin typeface="Arial" panose="020B0604020202020204"/>
              </a:rPr>
              <a:t>And stay awake </a:t>
            </a:r>
          </a:p>
          <a:p>
            <a:pPr marL="192847" indent="-192847" defTabSz="712984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E" sz="2000" dirty="0">
                <a:solidFill>
                  <a:prstClr val="white"/>
                </a:solidFill>
                <a:latin typeface="Arial" panose="020B0604020202020204"/>
              </a:rPr>
              <a:t>Keep up to date</a:t>
            </a:r>
          </a:p>
          <a:p>
            <a:pPr marL="192847" indent="-192847" defTabSz="712984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E" sz="2000" dirty="0">
                <a:solidFill>
                  <a:prstClr val="white"/>
                </a:solidFill>
                <a:latin typeface="Arial" panose="020B0604020202020204"/>
              </a:rPr>
              <a:t>Stop working to submission deadlines</a:t>
            </a:r>
          </a:p>
          <a:p>
            <a:pPr marL="650047" lvl="1" indent="-192847" defTabSz="712984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E" sz="2000" dirty="0">
                <a:solidFill>
                  <a:prstClr val="white"/>
                </a:solidFill>
                <a:latin typeface="Arial" panose="020B0604020202020204"/>
              </a:rPr>
              <a:t>Effective time management</a:t>
            </a:r>
          </a:p>
          <a:p>
            <a:pPr marL="192847" indent="-192847" defTabSz="712984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white"/>
                </a:solidFill>
                <a:latin typeface="Arial" panose="020B0604020202020204"/>
              </a:rPr>
              <a:t>Reach out if in trouble</a:t>
            </a:r>
          </a:p>
        </p:txBody>
      </p:sp>
      <p:sp>
        <p:nvSpPr>
          <p:cNvPr id="6" name="TextBox 5"/>
          <p:cNvSpPr txBox="1"/>
          <p:nvPr/>
        </p:nvSpPr>
        <p:spPr>
          <a:xfrm flipH="1">
            <a:off x="395536" y="1916832"/>
            <a:ext cx="88669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12984" fontAlgn="auto">
              <a:spcBef>
                <a:spcPts val="0"/>
              </a:spcBef>
              <a:spcAft>
                <a:spcPts val="0"/>
              </a:spcAft>
            </a:pPr>
            <a:r>
              <a:rPr lang="en-IE" sz="4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</a:rPr>
              <a:t>Oh No!  NOT HIM AGAIN ….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052" y="2902079"/>
            <a:ext cx="4723108" cy="327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4667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marL="0" marR="0" lvl="0" indent="0" algn="r" defTabSz="7129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005336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pPr marL="0" marR="0" lvl="0" indent="0" algn="r" defTabSz="7129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5336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152" name="Rectangle"/>
          <p:cNvSpPr/>
          <p:nvPr/>
        </p:nvSpPr>
        <p:spPr>
          <a:xfrm>
            <a:off x="0" y="857251"/>
            <a:ext cx="762000" cy="5143500"/>
          </a:xfrm>
          <a:prstGeom prst="rect">
            <a:avLst/>
          </a:prstGeom>
          <a:solidFill>
            <a:srgbClr val="202329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7129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Helvetica Neue Medium"/>
            </a:endParaRPr>
          </a:p>
        </p:txBody>
      </p:sp>
      <p:sp>
        <p:nvSpPr>
          <p:cNvPr id="154" name="M Point"/>
          <p:cNvSpPr txBox="1"/>
          <p:nvPr/>
        </p:nvSpPr>
        <p:spPr>
          <a:xfrm rot="16200000">
            <a:off x="-433966" y="3616420"/>
            <a:ext cx="1633460" cy="144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b="0">
                <a:solidFill>
                  <a:srgbClr val="F7F9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 marL="0" marR="0" lvl="0" indent="0" algn="l" defTabSz="7129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936" b="0" i="0" u="none" strike="noStrike" kern="1200" cap="none" spc="0" normalizeH="0" baseline="0" noProof="0" dirty="0">
                <a:ln>
                  <a:noFill/>
                </a:ln>
                <a:solidFill>
                  <a:srgbClr val="F7F9FF"/>
                </a:solidFill>
                <a:effectLst/>
                <a:uLnTx/>
                <a:uFillTx/>
                <a:latin typeface="Poppins Medium"/>
                <a:sym typeface="Poppins Medium"/>
              </a:rPr>
              <a:t>Advanced Software Design</a:t>
            </a:r>
            <a:endParaRPr kumimoji="0" lang="ga-IE" sz="936" b="0" i="0" u="none" strike="noStrike" kern="1200" cap="none" spc="0" normalizeH="0" baseline="0" noProof="0" dirty="0">
              <a:ln>
                <a:noFill/>
              </a:ln>
              <a:solidFill>
                <a:srgbClr val="F7F9FF"/>
              </a:solidFill>
              <a:effectLst/>
              <a:uLnTx/>
              <a:uFillTx/>
              <a:latin typeface="Poppins Medium"/>
              <a:sym typeface="Poppins Medium"/>
            </a:endParaRPr>
          </a:p>
        </p:txBody>
      </p:sp>
      <p:sp>
        <p:nvSpPr>
          <p:cNvPr id="155" name="Seamlessly develop orthogonal readiness before…"/>
          <p:cNvSpPr txBox="1"/>
          <p:nvPr/>
        </p:nvSpPr>
        <p:spPr>
          <a:xfrm>
            <a:off x="4882489" y="1696823"/>
            <a:ext cx="3880048" cy="5530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GB" sz="2400" b="1" u="sng" dirty="0"/>
              <a:t>This lecture is based on</a:t>
            </a:r>
            <a:r>
              <a:rPr lang="en-GB" sz="2400" b="1" dirty="0"/>
              <a:t>  excerpts from: </a:t>
            </a:r>
          </a:p>
          <a:p>
            <a:endParaRPr lang="en-GB" sz="2400" b="1" dirty="0"/>
          </a:p>
          <a:p>
            <a:pPr marL="0" indent="0">
              <a:buNone/>
            </a:pPr>
            <a:r>
              <a:rPr lang="en-GB" sz="2400" b="1" dirty="0">
                <a:solidFill>
                  <a:srgbClr val="0000FF"/>
                </a:solidFill>
              </a:rPr>
              <a:t>Douglas C. Schmidt, Michael Stal, Hans Rohnert, and Frank Buschmann. Pattern-Oriented Software Architecture , Volume 2: Patterns for Concurrent and Networked Objects. 2000. Wiley.</a:t>
            </a:r>
          </a:p>
          <a:p>
            <a:pPr lvl="1"/>
            <a:r>
              <a:rPr lang="en-GB" sz="2400" dirty="0"/>
              <a:t>Text referred to as POSA2</a:t>
            </a:r>
          </a:p>
          <a:p>
            <a:pPr marL="0" marR="0" lvl="0" indent="0" algn="l" defTabSz="712984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696E78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endParaRPr kumimoji="0" b="0" i="0" u="none" strike="noStrike" kern="1200" cap="none" spc="0" normalizeH="0" baseline="0" noProof="0" dirty="0">
              <a:ln>
                <a:noFill/>
              </a:ln>
              <a:solidFill>
                <a:srgbClr val="696E78"/>
              </a:solidFill>
              <a:effectLst/>
              <a:uLnTx/>
              <a:uFillTx/>
              <a:latin typeface="Poppins Light"/>
              <a:sym typeface="Poppins Light"/>
            </a:endParaRPr>
          </a:p>
        </p:txBody>
      </p:sp>
      <p:sp>
        <p:nvSpPr>
          <p:cNvPr id="156" name="The secret to creativity is…"/>
          <p:cNvSpPr txBox="1"/>
          <p:nvPr/>
        </p:nvSpPr>
        <p:spPr>
          <a:xfrm>
            <a:off x="5350541" y="1025124"/>
            <a:ext cx="2943944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7129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>
                <a:solidFill>
                  <a:srgbClr val="3D3D3D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pPr>
            <a:r>
              <a:rPr kumimoji="0" lang="en-IE" sz="2400" b="0" i="0" u="none" strike="noStrike" kern="1200" cap="none" spc="0" normalizeH="0" baseline="0" noProof="0" dirty="0">
                <a:ln>
                  <a:noFill/>
                </a:ln>
                <a:solidFill>
                  <a:srgbClr val="00B140"/>
                </a:solidFill>
                <a:effectLst/>
                <a:uLnTx/>
                <a:uFillTx/>
                <a:latin typeface="Poppins Medium"/>
                <a:sym typeface="Poppins Medium"/>
              </a:rPr>
              <a:t>The Interceptor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Poppins Medium"/>
              <a:sym typeface="Poppins Mediu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1640" y="6347340"/>
            <a:ext cx="1689630" cy="3084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7129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404" b="1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© www.infoq.com</a:t>
            </a: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4" r="560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25740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109231"/>
            <a:ext cx="7886700" cy="704101"/>
          </a:xfrm>
        </p:spPr>
        <p:txBody>
          <a:bodyPr>
            <a:normAutofit/>
          </a:bodyPr>
          <a:lstStyle/>
          <a:p>
            <a:r>
              <a:rPr lang="en-GB" dirty="0"/>
              <a:t>The Interceptor Architectural Pattern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1001830"/>
            <a:ext cx="8784976" cy="3384376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sz="2200" dirty="0"/>
              <a:t>A software house developing an Object Request Broker (ORB) </a:t>
            </a:r>
            <a:r>
              <a:rPr lang="en-GB" sz="2200" b="1" dirty="0">
                <a:solidFill>
                  <a:srgbClr val="0070C0"/>
                </a:solidFill>
              </a:rPr>
              <a:t>middleware framework</a:t>
            </a:r>
            <a:r>
              <a:rPr lang="en-GB" sz="2200" dirty="0"/>
              <a:t>, based on broker architectural framework.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sz="2200" dirty="0"/>
              <a:t>In addition to </a:t>
            </a:r>
            <a:r>
              <a:rPr lang="en-GB" sz="2200" b="1" dirty="0">
                <a:solidFill>
                  <a:srgbClr val="0070C0"/>
                </a:solidFill>
              </a:rPr>
              <a:t>marshalling and unmarshalling </a:t>
            </a:r>
            <a:r>
              <a:rPr lang="en-GB" sz="2200" dirty="0"/>
              <a:t>service requests, middleware provides a basic set of services such as connection management and security.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sz="2200" dirty="0"/>
              <a:t>Applications using the framework may require </a:t>
            </a:r>
            <a:r>
              <a:rPr lang="en-GB" sz="2200" b="1" dirty="0">
                <a:solidFill>
                  <a:srgbClr val="0070C0"/>
                </a:solidFill>
              </a:rPr>
              <a:t>additional services</a:t>
            </a:r>
            <a:r>
              <a:rPr lang="en-GB" sz="2200" dirty="0"/>
              <a:t> such transaction support, load balancing, trader, logging, etc.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6B00107C-DDD3-4577-95F6-17961ECF3BA0}" type="slidenum">
              <a:rPr lang="en-US" altLang="en-US" smtClean="0"/>
              <a:pPr/>
              <a:t>5</a:t>
            </a:fld>
            <a:endParaRPr lang="en-US" altLang="en-US" dirty="0"/>
          </a:p>
        </p:txBody>
      </p:sp>
      <p:pic>
        <p:nvPicPr>
          <p:cNvPr id="4101" name="Picture 4" descr="interceptor-fig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59" y="3933056"/>
            <a:ext cx="4980009" cy="2775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89362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507288" cy="1139825"/>
          </a:xfrm>
        </p:spPr>
        <p:txBody>
          <a:bodyPr>
            <a:normAutofit/>
          </a:bodyPr>
          <a:lstStyle/>
          <a:p>
            <a:r>
              <a:rPr lang="en-GB" sz="3600" dirty="0"/>
              <a:t>The Interceptor Architectural Pattern</a:t>
            </a:r>
            <a:endParaRPr lang="en-IE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3F4E989-F763-4004-9F33-B18218F0D50C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118748" y="1516698"/>
            <a:ext cx="4717992" cy="419971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E" b="1" dirty="0">
                <a:solidFill>
                  <a:srgbClr val="0000FF"/>
                </a:solidFill>
              </a:rPr>
              <a:t>Middleware Frameworks</a:t>
            </a:r>
          </a:p>
          <a:p>
            <a:r>
              <a:rPr lang="en-IE" b="1" dirty="0">
                <a:solidFill>
                  <a:srgbClr val="0000FF"/>
                </a:solidFill>
              </a:rPr>
              <a:t>Compiler generates stubs and skeletons</a:t>
            </a:r>
          </a:p>
          <a:p>
            <a:pPr lvl="1"/>
            <a:r>
              <a:rPr lang="en-IE" b="1" dirty="0">
                <a:solidFill>
                  <a:srgbClr val="0000FF"/>
                </a:solidFill>
              </a:rPr>
              <a:t>As long as there is a language binding</a:t>
            </a:r>
          </a:p>
          <a:p>
            <a:r>
              <a:rPr lang="en-IE" b="1" dirty="0">
                <a:solidFill>
                  <a:srgbClr val="0000FF"/>
                </a:solidFill>
              </a:rPr>
              <a:t>Client makes a “local” call</a:t>
            </a:r>
          </a:p>
          <a:p>
            <a:r>
              <a:rPr lang="en-IE" b="1" dirty="0">
                <a:solidFill>
                  <a:srgbClr val="0000FF"/>
                </a:solidFill>
              </a:rPr>
              <a:t>Proxies, ORBs, and Broker do the heavy lifting</a:t>
            </a:r>
          </a:p>
          <a:p>
            <a:pPr lvl="1"/>
            <a:r>
              <a:rPr lang="en-IE" b="1" dirty="0">
                <a:solidFill>
                  <a:srgbClr val="0000FF"/>
                </a:solidFill>
              </a:rPr>
              <a:t>Using an Interface Definition Language (IDL)</a:t>
            </a:r>
          </a:p>
          <a:p>
            <a:r>
              <a:rPr lang="en-IE" b="1" dirty="0">
                <a:solidFill>
                  <a:srgbClr val="0000FF"/>
                </a:solidFill>
              </a:rPr>
              <a:t>ORB is a kernel with core services</a:t>
            </a:r>
          </a:p>
          <a:p>
            <a:r>
              <a:rPr lang="en-IE" b="1" dirty="0">
                <a:solidFill>
                  <a:srgbClr val="0000FF"/>
                </a:solidFill>
              </a:rPr>
              <a:t>How can additional  / out-of-band  services be supported?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467544" y="2420888"/>
            <a:ext cx="914400" cy="914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Client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3462" y="4077072"/>
            <a:ext cx="1368152" cy="9144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Stub (Client Side Proxy)</a:t>
            </a:r>
          </a:p>
        </p:txBody>
      </p:sp>
      <p:sp>
        <p:nvSpPr>
          <p:cNvPr id="7" name="Rectangle 6"/>
          <p:cNvSpPr/>
          <p:nvPr/>
        </p:nvSpPr>
        <p:spPr>
          <a:xfrm>
            <a:off x="179512" y="5733256"/>
            <a:ext cx="1800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w Cen MT"/>
                <a:ea typeface="+mn-ea"/>
                <a:cs typeface="+mn-cs"/>
              </a:rPr>
              <a:t>ORB on client machine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235208" y="2442592"/>
            <a:ext cx="1296144" cy="914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(Remote) 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6911172" y="4068628"/>
            <a:ext cx="1944216" cy="9144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Skeleton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(Server Side Proxy)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5168" y="5736344"/>
            <a:ext cx="201622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w Cen MT"/>
                <a:ea typeface="+mn-ea"/>
                <a:cs typeface="+mn-cs"/>
              </a:rPr>
              <a:t>ORB on server machine</a:t>
            </a:r>
          </a:p>
        </p:txBody>
      </p:sp>
      <p:sp>
        <p:nvSpPr>
          <p:cNvPr id="14" name="Right Arrow 13"/>
          <p:cNvSpPr/>
          <p:nvPr/>
        </p:nvSpPr>
        <p:spPr>
          <a:xfrm rot="5400000">
            <a:off x="539552" y="5229200"/>
            <a:ext cx="720080" cy="2880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6" name="Right Arrow 15"/>
          <p:cNvSpPr/>
          <p:nvPr/>
        </p:nvSpPr>
        <p:spPr>
          <a:xfrm rot="5400000">
            <a:off x="539552" y="3573016"/>
            <a:ext cx="720080" cy="2880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7" name="Right Arrow 16"/>
          <p:cNvSpPr/>
          <p:nvPr/>
        </p:nvSpPr>
        <p:spPr>
          <a:xfrm rot="16200000">
            <a:off x="7523240" y="3552176"/>
            <a:ext cx="720080" cy="2880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8" name="Right Arrow 17"/>
          <p:cNvSpPr/>
          <p:nvPr/>
        </p:nvSpPr>
        <p:spPr>
          <a:xfrm rot="16200000">
            <a:off x="7524708" y="5207496"/>
            <a:ext cx="720080" cy="2880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32" name="Left-Right Arrow 31"/>
          <p:cNvSpPr/>
          <p:nvPr/>
        </p:nvSpPr>
        <p:spPr>
          <a:xfrm>
            <a:off x="2051720" y="5877272"/>
            <a:ext cx="1224136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384058" y="5711553"/>
            <a:ext cx="201622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Broker</a:t>
            </a:r>
          </a:p>
        </p:txBody>
      </p:sp>
      <p:sp>
        <p:nvSpPr>
          <p:cNvPr id="23" name="Left-Right Arrow 22"/>
          <p:cNvSpPr/>
          <p:nvPr/>
        </p:nvSpPr>
        <p:spPr>
          <a:xfrm>
            <a:off x="5436476" y="5848539"/>
            <a:ext cx="1368152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7205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Interceptor Architectural Pattern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3F4E989-F763-4004-9F33-B18218F0D50C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51520" y="1600200"/>
            <a:ext cx="8712968" cy="3629476"/>
          </a:xfrm>
        </p:spPr>
        <p:txBody>
          <a:bodyPr>
            <a:normAutofit/>
          </a:bodyPr>
          <a:lstStyle/>
          <a:p>
            <a:r>
              <a:rPr lang="en-IE" dirty="0"/>
              <a:t>Does not have to be a middleware framework</a:t>
            </a:r>
          </a:p>
          <a:p>
            <a:r>
              <a:rPr lang="en-IE" dirty="0"/>
              <a:t>You release/sell an application</a:t>
            </a:r>
          </a:p>
          <a:p>
            <a:r>
              <a:rPr lang="en-IE" dirty="0"/>
              <a:t>Client needs a bespoke logging service</a:t>
            </a:r>
          </a:p>
          <a:p>
            <a:r>
              <a:rPr lang="en-IE" dirty="0"/>
              <a:t>Allow them to implement this out-of-band service by </a:t>
            </a:r>
          </a:p>
          <a:p>
            <a:pPr lvl="1"/>
            <a:r>
              <a:rPr lang="en-IE" dirty="0">
                <a:sym typeface="Wingdings" panose="05000000000000000000" pitchFamily="2" charset="2"/>
              </a:rPr>
              <a:t> </a:t>
            </a:r>
            <a:r>
              <a:rPr lang="en-IE" dirty="0"/>
              <a:t>building interceptor architectural pattern into application</a:t>
            </a:r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1907704" y="5846578"/>
            <a:ext cx="27363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w Cen MT"/>
                <a:ea typeface="+mn-ea"/>
                <a:cs typeface="+mn-cs"/>
              </a:rPr>
              <a:t>Application without logging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08304" y="4932178"/>
            <a:ext cx="914400" cy="9144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Logging Service</a:t>
            </a:r>
          </a:p>
        </p:txBody>
      </p:sp>
      <p:sp>
        <p:nvSpPr>
          <p:cNvPr id="7" name="Down Arrow 6"/>
          <p:cNvSpPr/>
          <p:nvPr/>
        </p:nvSpPr>
        <p:spPr>
          <a:xfrm rot="14926642">
            <a:off x="5546612" y="4582252"/>
            <a:ext cx="432048" cy="2232248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899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716" y="116632"/>
            <a:ext cx="7886700" cy="704101"/>
          </a:xfrm>
        </p:spPr>
        <p:txBody>
          <a:bodyPr/>
          <a:lstStyle/>
          <a:p>
            <a:r>
              <a:rPr lang="en-IE" dirty="0"/>
              <a:t>Extending the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68760"/>
            <a:ext cx="8640960" cy="496855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None/>
            </a:pPr>
            <a:r>
              <a:rPr lang="en-GB" sz="3200" u="sng" dirty="0"/>
              <a:t>Options</a:t>
            </a:r>
          </a:p>
          <a:p>
            <a:pPr eaLnBrk="1" hangingPunct="1">
              <a:lnSpc>
                <a:spcPct val="80000"/>
              </a:lnSpc>
              <a:buNone/>
            </a:pPr>
            <a:endParaRPr lang="en-GB" sz="3200" u="sng" dirty="0"/>
          </a:p>
          <a:p>
            <a:pPr marL="514350" indent="-514350" eaLnBrk="1" hangingPunct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200" dirty="0"/>
              <a:t>Framework developers </a:t>
            </a:r>
            <a:r>
              <a:rPr lang="en-GB" sz="2200" b="1" dirty="0">
                <a:solidFill>
                  <a:srgbClr val="0070C0"/>
                </a:solidFill>
              </a:rPr>
              <a:t>include all possible services </a:t>
            </a:r>
          </a:p>
          <a:p>
            <a:pPr marL="841375" lvl="1" indent="-514350" eaLnBrk="1" hangingPunct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GB" sz="2200" b="1" dirty="0">
                <a:solidFill>
                  <a:srgbClr val="FF0000"/>
                </a:solidFill>
              </a:rPr>
              <a:t>Problem </a:t>
            </a:r>
            <a:r>
              <a:rPr lang="en-GB" sz="2200" b="1" dirty="0">
                <a:solidFill>
                  <a:srgbClr val="FF0000"/>
                </a:solidFill>
                <a:sym typeface="Wingdings" pitchFamily="2" charset="2"/>
              </a:rPr>
              <a:t> </a:t>
            </a:r>
            <a:r>
              <a:rPr lang="en-GB" sz="2200" b="1" dirty="0">
                <a:solidFill>
                  <a:srgbClr val="FF0000"/>
                </a:solidFill>
              </a:rPr>
              <a:t>Infeasible to integrate all services at design time.</a:t>
            </a:r>
          </a:p>
          <a:p>
            <a:pPr marL="514350" indent="-514350" eaLnBrk="1" hangingPunct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200" b="1" dirty="0">
                <a:solidFill>
                  <a:srgbClr val="0070C0"/>
                </a:solidFill>
              </a:rPr>
              <a:t>Client developers include these additional/out-of-band services in their application </a:t>
            </a:r>
            <a:r>
              <a:rPr lang="en-GB" sz="2200" dirty="0"/>
              <a:t>that uses the framework API</a:t>
            </a:r>
          </a:p>
          <a:p>
            <a:pPr marL="841375" lvl="1" indent="-514350" eaLnBrk="1" hangingPunct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GB" sz="2200" b="1" dirty="0">
                <a:solidFill>
                  <a:srgbClr val="C00000"/>
                </a:solidFill>
              </a:rPr>
              <a:t>Problem ??? </a:t>
            </a:r>
          </a:p>
          <a:p>
            <a:pPr marL="514350" indent="-514350" eaLnBrk="1" hangingPunct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Alternatively, middleware framework is a kernel supporting core (basic) services that also facilitates transparent extension </a:t>
            </a:r>
          </a:p>
          <a:p>
            <a:pPr marL="841375" lvl="1" indent="-51435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GB" sz="2200" dirty="0"/>
              <a:t>Through integration of services from 3</a:t>
            </a:r>
            <a:r>
              <a:rPr lang="en-GB" sz="2200" baseline="30000" dirty="0"/>
              <a:t>rd</a:t>
            </a:r>
            <a:r>
              <a:rPr lang="en-GB" sz="2200" dirty="0"/>
              <a:t> parties.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IE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C5DEE43C-A2B2-4ED3-80FC-3263ECAC7A8C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32630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12381BDC-A7EB-4D4A-A459-165A0EFF1016}" type="slidenum">
              <a:rPr lang="en-US" altLang="en-US"/>
              <a:pPr>
                <a:defRPr/>
              </a:pPr>
              <a:t>9</a:t>
            </a:fld>
            <a:endParaRPr lang="en-US" altLang="en-US" dirty="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16632"/>
            <a:ext cx="8352928" cy="704101"/>
          </a:xfrm>
        </p:spPr>
        <p:txBody>
          <a:bodyPr/>
          <a:lstStyle/>
          <a:p>
            <a:pPr eaLnBrk="1" hangingPunct="1"/>
            <a:r>
              <a:rPr lang="en-GB" sz="3800" dirty="0"/>
              <a:t>The Interceptor Architectural Pattern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308323"/>
            <a:ext cx="8964488" cy="5229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2400" b="1" u="sng" dirty="0">
                <a:solidFill>
                  <a:srgbClr val="0070C0"/>
                </a:solidFill>
              </a:rPr>
              <a:t>Context:</a:t>
            </a:r>
            <a:r>
              <a:rPr lang="en-GB" sz="2400" dirty="0"/>
              <a:t> developing frameworks that can be extended transparently</a:t>
            </a:r>
          </a:p>
          <a:p>
            <a:pPr eaLnBrk="1" hangingPunct="1"/>
            <a:endParaRPr lang="en-GB" sz="2400" b="1" dirty="0"/>
          </a:p>
          <a:p>
            <a:pPr eaLnBrk="1" hangingPunct="1"/>
            <a:r>
              <a:rPr lang="en-GB" sz="2400" b="1" u="sng" dirty="0">
                <a:solidFill>
                  <a:srgbClr val="0070C0"/>
                </a:solidFill>
              </a:rPr>
              <a:t>Problem: </a:t>
            </a:r>
            <a:endParaRPr lang="en-GB" sz="2400" u="sng" dirty="0">
              <a:solidFill>
                <a:srgbClr val="0070C0"/>
              </a:solidFill>
            </a:endParaRPr>
          </a:p>
          <a:p>
            <a:pPr lvl="1" eaLnBrk="1" hangingPunct="1">
              <a:spcBef>
                <a:spcPts val="1200"/>
              </a:spcBef>
            </a:pPr>
            <a:r>
              <a:rPr lang="en-GB" sz="2000" dirty="0"/>
              <a:t>A framework should allow for the integration of additional services without requiring a restructuring of the system architecture.</a:t>
            </a:r>
          </a:p>
          <a:p>
            <a:pPr lvl="1" eaLnBrk="1" hangingPunct="1">
              <a:spcBef>
                <a:spcPts val="1200"/>
              </a:spcBef>
            </a:pPr>
            <a:r>
              <a:rPr lang="en-GB" sz="2000" dirty="0"/>
              <a:t>Should not impact existing services or applications that use the framework</a:t>
            </a:r>
          </a:p>
          <a:p>
            <a:pPr lvl="1" eaLnBrk="1" hangingPunct="1">
              <a:spcBef>
                <a:spcPts val="1200"/>
              </a:spcBef>
            </a:pPr>
            <a:r>
              <a:rPr lang="en-GB" sz="2000" dirty="0"/>
              <a:t>Applications using a framework may need to monitor and control the behaviour of the framework platform</a:t>
            </a:r>
          </a:p>
          <a:p>
            <a:pPr lvl="2" eaLnBrk="1" hangingPunct="1">
              <a:spcBef>
                <a:spcPts val="1200"/>
              </a:spcBef>
            </a:pPr>
            <a:r>
              <a:rPr lang="en-GB" sz="2000" dirty="0"/>
              <a:t>For example, some applications may use the Reflection pattern to monitor fault tolerance strategies, and modify these strategies using the Strategy pattern.</a:t>
            </a:r>
          </a:p>
        </p:txBody>
      </p:sp>
    </p:spTree>
    <p:extLst>
      <p:ext uri="{BB962C8B-B14F-4D97-AF65-F5344CB8AC3E}">
        <p14:creationId xmlns:p14="http://schemas.microsoft.com/office/powerpoint/2010/main" val="987085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6EEB0654-AC5C-448E-B7BC-97DA3A24F33A}" type="slidenum">
              <a:rPr lang="en-US" altLang="en-US"/>
              <a:pPr>
                <a:defRPr/>
              </a:pPr>
              <a:t>10</a:t>
            </a:fld>
            <a:endParaRPr lang="en-US" altLang="en-US" dirty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0648"/>
            <a:ext cx="8460432" cy="704101"/>
          </a:xfrm>
        </p:spPr>
        <p:txBody>
          <a:bodyPr/>
          <a:lstStyle/>
          <a:p>
            <a:pPr eaLnBrk="1" hangingPunct="1"/>
            <a:r>
              <a:rPr lang="en-GB" sz="3800" dirty="0"/>
              <a:t>The Interceptor Architectural Pattern</a:t>
            </a:r>
          </a:p>
        </p:txBody>
      </p:sp>
      <p:pic>
        <p:nvPicPr>
          <p:cNvPr id="13316" name="Picture 4" descr="Document2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51520" y="2276872"/>
            <a:ext cx="8773235" cy="4325651"/>
          </a:xfrm>
          <a:noFill/>
        </p:spPr>
      </p:pic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3419872" y="1052736"/>
            <a:ext cx="18598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FF"/>
                </a:solidFill>
                <a:latin typeface="Verdana" pitchFamily="32" charset="0"/>
              </a:rPr>
              <a:t>Dynamics</a:t>
            </a:r>
          </a:p>
        </p:txBody>
      </p:sp>
    </p:spTree>
    <p:extLst>
      <p:ext uri="{BB962C8B-B14F-4D97-AF65-F5344CB8AC3E}">
        <p14:creationId xmlns:p14="http://schemas.microsoft.com/office/powerpoint/2010/main" val="3805305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Interceptor Architectural Pattern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3F4E989-F763-4004-9F33-B18218F0D50C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79512" y="1600200"/>
            <a:ext cx="8586536" cy="5141168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Framework (ORB) creates dispatcher(s)</a:t>
            </a:r>
          </a:p>
          <a:p>
            <a:pPr marL="834390" lvl="1" indent="-514350">
              <a:buFont typeface="Wingdings" panose="05000000000000000000" pitchFamily="2" charset="2"/>
              <a:buChar char="§"/>
            </a:pPr>
            <a:r>
              <a:rPr lang="en-IE" dirty="0">
                <a:solidFill>
                  <a:srgbClr val="0000FF"/>
                </a:solidFill>
              </a:rPr>
              <a:t>One or many?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Application creates concrete interceptors (out-of-band services) and registers them with dispatcher</a:t>
            </a:r>
          </a:p>
          <a:p>
            <a:pPr marL="834390" lvl="1" indent="-514350">
              <a:buFont typeface="Wingdings" panose="05000000000000000000" pitchFamily="2" charset="2"/>
              <a:buChar char="§"/>
            </a:pPr>
            <a:r>
              <a:rPr lang="en-IE" dirty="0">
                <a:solidFill>
                  <a:srgbClr val="0000FF"/>
                </a:solidFill>
              </a:rPr>
              <a:t>What is the interceptor interface?</a:t>
            </a:r>
          </a:p>
          <a:p>
            <a:pPr marL="834390" lvl="1" indent="-514350">
              <a:buFont typeface="Wingdings" panose="05000000000000000000" pitchFamily="2" charset="2"/>
              <a:buChar char="§"/>
            </a:pPr>
            <a:r>
              <a:rPr lang="en-IE" dirty="0">
                <a:solidFill>
                  <a:srgbClr val="0000FF"/>
                </a:solidFill>
              </a:rPr>
              <a:t>Who implements the interceptor?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In response to an event the framework</a:t>
            </a:r>
          </a:p>
          <a:p>
            <a:pPr marL="834390" lvl="1" indent="-514350">
              <a:buFont typeface="+mj-lt"/>
              <a:buAutoNum type="arabicPeriod" startAt="4"/>
            </a:pPr>
            <a:r>
              <a:rPr lang="en-IE" dirty="0"/>
              <a:t>Creates a Context Object – a handle that allows the out-of-band service to query and control the framework</a:t>
            </a:r>
          </a:p>
          <a:p>
            <a:pPr marL="1108710" lvl="2" indent="-514350">
              <a:buFont typeface="Wingdings" panose="05000000000000000000" pitchFamily="2" charset="2"/>
              <a:buChar char="§"/>
            </a:pPr>
            <a:r>
              <a:rPr lang="en-IE" dirty="0">
                <a:solidFill>
                  <a:srgbClr val="0000FF"/>
                </a:solidFill>
              </a:rPr>
              <a:t>What is the API for the Context Object?</a:t>
            </a:r>
          </a:p>
          <a:p>
            <a:pPr marL="834390" lvl="1" indent="-514350">
              <a:buFont typeface="+mj-lt"/>
              <a:buAutoNum type="arabicPeriod" startAt="4"/>
            </a:pPr>
            <a:r>
              <a:rPr lang="en-IE" dirty="0"/>
              <a:t>The frameworks CALLS BACK to the dispatcher passing a reference to the context object</a:t>
            </a:r>
          </a:p>
          <a:p>
            <a:pPr marL="1108710" lvl="2" indent="-514350">
              <a:buFont typeface="Wingdings" panose="05000000000000000000" pitchFamily="2" charset="2"/>
              <a:buChar char="§"/>
            </a:pPr>
            <a:r>
              <a:rPr lang="en-IE" dirty="0">
                <a:solidFill>
                  <a:srgbClr val="0000FF"/>
                </a:solidFill>
              </a:rPr>
              <a:t>How is the callback implemented?</a:t>
            </a:r>
          </a:p>
          <a:p>
            <a:pPr marL="834390" lvl="1" indent="-514350">
              <a:buFont typeface="+mj-lt"/>
              <a:buAutoNum type="arabicPeriod" startAt="4"/>
            </a:pPr>
            <a:r>
              <a:rPr lang="en-IE" dirty="0"/>
              <a:t>The dispatcher CALLS BACK to its registered concrete interceptors passing a reference to the Context Object</a:t>
            </a:r>
          </a:p>
          <a:p>
            <a:pPr marL="834390" lvl="1" indent="-514350">
              <a:buFont typeface="+mj-lt"/>
              <a:buAutoNum type="arabicPeriod" startAt="4"/>
            </a:pPr>
            <a:r>
              <a:rPr lang="en-IE" dirty="0"/>
              <a:t>The concrete interceptor can then query the framework and invoke framework services via the Context Object</a:t>
            </a:r>
          </a:p>
        </p:txBody>
      </p:sp>
    </p:spTree>
    <p:extLst>
      <p:ext uri="{BB962C8B-B14F-4D97-AF65-F5344CB8AC3E}">
        <p14:creationId xmlns:p14="http://schemas.microsoft.com/office/powerpoint/2010/main" val="2260465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EBFA6F30-7B1F-4D35-862C-55A489EB8870}" type="slidenum">
              <a:rPr lang="en-US" altLang="en-US"/>
              <a:pPr>
                <a:defRPr/>
              </a:pPr>
              <a:t>12</a:t>
            </a:fld>
            <a:endParaRPr lang="en-US" altLang="en-US" dirty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16632"/>
            <a:ext cx="8388424" cy="704101"/>
          </a:xfrm>
        </p:spPr>
        <p:txBody>
          <a:bodyPr/>
          <a:lstStyle/>
          <a:p>
            <a:pPr eaLnBrk="1" hangingPunct="1"/>
            <a:r>
              <a:rPr lang="en-GB" sz="3800" dirty="0"/>
              <a:t>The Interceptor Architectural Pattern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820733"/>
            <a:ext cx="8435280" cy="5498254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Font typeface="Wingdings" charset="2"/>
              <a:buNone/>
            </a:pPr>
            <a:r>
              <a:rPr lang="en-GB" sz="2100" b="1" u="sng" dirty="0">
                <a:solidFill>
                  <a:srgbClr val="0070C0"/>
                </a:solidFill>
              </a:rPr>
              <a:t>Solution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GB" sz="2800" dirty="0"/>
              <a:t>“</a:t>
            </a:r>
            <a:r>
              <a:rPr lang="en-GB" sz="2800" b="1" u="sng" dirty="0">
                <a:solidFill>
                  <a:srgbClr val="0000FF"/>
                </a:solidFill>
              </a:rPr>
              <a:t>Out-of-band</a:t>
            </a:r>
            <a:r>
              <a:rPr lang="en-GB" sz="2800" dirty="0"/>
              <a:t>” services register with the framework by predefined interfaces.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GB" sz="2800" dirty="0"/>
              <a:t>Framework triggers these out-of-band services when certain events fire.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GB" sz="2800" dirty="0"/>
              <a:t>Open the framework’s implementation so that </a:t>
            </a:r>
            <a:r>
              <a:rPr lang="en-GB" sz="2800" b="1" u="sng" dirty="0">
                <a:solidFill>
                  <a:srgbClr val="0000FF"/>
                </a:solidFill>
              </a:rPr>
              <a:t>out-of-band services can access and control certain aspects of the framework’s behaviour</a:t>
            </a:r>
            <a:r>
              <a:rPr lang="en-GB" sz="2800" dirty="0"/>
              <a:t>.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GB" sz="2800" dirty="0"/>
              <a:t>For a specified set of events that are processed by framework, define and expose an interceptor callback interface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GB" sz="2800" dirty="0"/>
              <a:t>Applications can derive concrete interceptors from this interface to implement out-of-band services that process these said events.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GB" sz="2800" dirty="0"/>
              <a:t>Provide a dispatcher that allows applications to register their concrete interceptors with the framework.</a:t>
            </a:r>
          </a:p>
        </p:txBody>
      </p:sp>
    </p:spTree>
    <p:extLst>
      <p:ext uri="{BB962C8B-B14F-4D97-AF65-F5344CB8AC3E}">
        <p14:creationId xmlns:p14="http://schemas.microsoft.com/office/powerpoint/2010/main" val="651610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188640"/>
            <a:ext cx="7886700" cy="704101"/>
          </a:xfrm>
        </p:spPr>
        <p:txBody>
          <a:bodyPr>
            <a:normAutofit/>
          </a:bodyPr>
          <a:lstStyle/>
          <a:p>
            <a:r>
              <a:rPr lang="en-GB" sz="3200" dirty="0"/>
              <a:t>The Interceptor Architectural Pattern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196752"/>
            <a:ext cx="8229600" cy="504056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sz="2400" dirty="0"/>
              <a:t>When an event occurs, the framework notifies the appropriate dispatcher to invoke the callback of the registered concrete interceptor.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sz="2400" dirty="0"/>
              <a:t>The Command design pattern (behaviour) is an object-oriented pattern for callbacks.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sz="2400" dirty="0"/>
              <a:t>Define context objects to allow a concrete interceptor to introspect and control certain aspects of the framework.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sz="2400" dirty="0"/>
              <a:t>Context objects provide methods to access and modify a framework’s internal state.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sz="2400" dirty="0"/>
              <a:t>Can be passed to concrete interceptors when they are dispatched by the framework.</a:t>
            </a:r>
          </a:p>
          <a:p>
            <a:endParaRPr lang="en-GB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7B13B24-B1A1-4E4B-9BFA-B0D2FBDF4D36}" type="slidenum">
              <a:rPr lang="en-US" altLang="en-US" smtClean="0"/>
              <a:pPr/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64780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AE682F6D-3383-406F-B14E-243BE64D0B5B}" type="slidenum">
              <a:rPr lang="en-US" altLang="en-US"/>
              <a:pPr>
                <a:defRPr/>
              </a:pPr>
              <a:t>14</a:t>
            </a:fld>
            <a:endParaRPr lang="en-US" altLang="en-US" dirty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800" dirty="0"/>
              <a:t>The Interceptor Architectural Pattern</a:t>
            </a:r>
          </a:p>
        </p:txBody>
      </p:sp>
      <p:sp>
        <p:nvSpPr>
          <p:cNvPr id="14340" name="Text Box 5"/>
          <p:cNvSpPr txBox="1">
            <a:spLocks noChangeArrowheads="1"/>
          </p:cNvSpPr>
          <p:nvPr/>
        </p:nvSpPr>
        <p:spPr bwMode="auto">
          <a:xfrm>
            <a:off x="468312" y="1125538"/>
            <a:ext cx="359963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800" b="1" u="sng" dirty="0">
                <a:solidFill>
                  <a:srgbClr val="0000FF"/>
                </a:solidFill>
                <a:latin typeface="Verdana" pitchFamily="32" charset="0"/>
              </a:rPr>
              <a:t>STRUCTURE</a:t>
            </a:r>
          </a:p>
        </p:txBody>
      </p:sp>
      <p:pic>
        <p:nvPicPr>
          <p:cNvPr id="14341" name="Picture 6" descr="interceptor-fig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24100" y="1700808"/>
            <a:ext cx="4357688" cy="4967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89972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547A7C1-C45C-44DA-AC71-A2354FA5523E}" type="slidenum">
              <a:rPr lang="en-US" altLang="en-US"/>
              <a:pPr>
                <a:defRPr/>
              </a:pPr>
              <a:t>15</a:t>
            </a:fld>
            <a:endParaRPr lang="en-US" altLang="en-US" dirty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88640"/>
            <a:ext cx="8208912" cy="704101"/>
          </a:xfrm>
        </p:spPr>
        <p:txBody>
          <a:bodyPr/>
          <a:lstStyle/>
          <a:p>
            <a:pPr eaLnBrk="1" hangingPunct="1"/>
            <a:r>
              <a:rPr lang="en-GB" sz="3800" dirty="0"/>
              <a:t>The Interceptor Architectural Pattern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137706"/>
            <a:ext cx="8229600" cy="5184576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2800" b="1" dirty="0"/>
              <a:t>Class: </a:t>
            </a:r>
            <a:r>
              <a:rPr lang="en-GB" sz="2800" b="1" dirty="0">
                <a:solidFill>
                  <a:srgbClr val="0000FF"/>
                </a:solidFill>
              </a:rPr>
              <a:t>Concrete Framework</a:t>
            </a:r>
          </a:p>
          <a:p>
            <a:pPr eaLnBrk="1" hangingPunct="1">
              <a:lnSpc>
                <a:spcPct val="90000"/>
              </a:lnSpc>
            </a:pPr>
            <a:r>
              <a:rPr lang="en-GB" sz="2800" b="1" dirty="0"/>
              <a:t>Collaborator: </a:t>
            </a:r>
            <a:r>
              <a:rPr lang="en-GB" sz="2800" dirty="0"/>
              <a:t>Dispatcher</a:t>
            </a:r>
          </a:p>
          <a:p>
            <a:pPr eaLnBrk="1" hangingPunct="1">
              <a:lnSpc>
                <a:spcPct val="90000"/>
              </a:lnSpc>
            </a:pPr>
            <a:r>
              <a:rPr lang="en-GB" sz="2800" b="1" dirty="0"/>
              <a:t>Responsibility: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dirty="0"/>
              <a:t>Defines application services.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dirty="0"/>
              <a:t>Integrates Dispatchers that allow applications to intercept events.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dirty="0"/>
              <a:t>Delegates events to associated dispatchers.</a:t>
            </a:r>
          </a:p>
          <a:p>
            <a:pPr lvl="1" eaLnBrk="1" hangingPunct="1">
              <a:lnSpc>
                <a:spcPct val="90000"/>
              </a:lnSpc>
            </a:pPr>
            <a:endParaRPr lang="en-GB" sz="2400" dirty="0"/>
          </a:p>
          <a:p>
            <a:pPr eaLnBrk="1" hangingPunct="1">
              <a:lnSpc>
                <a:spcPct val="90000"/>
              </a:lnSpc>
            </a:pPr>
            <a:r>
              <a:rPr lang="en-GB" sz="2800" b="1" dirty="0"/>
              <a:t>Class: </a:t>
            </a:r>
            <a:r>
              <a:rPr lang="en-GB" sz="2800" b="1" dirty="0">
                <a:solidFill>
                  <a:srgbClr val="0000FF"/>
                </a:solidFill>
              </a:rPr>
              <a:t>Interceptor</a:t>
            </a:r>
          </a:p>
          <a:p>
            <a:pPr eaLnBrk="1" hangingPunct="1">
              <a:lnSpc>
                <a:spcPct val="90000"/>
              </a:lnSpc>
            </a:pPr>
            <a:r>
              <a:rPr lang="en-GB" sz="2800" b="1" dirty="0"/>
              <a:t>Collaborator:</a:t>
            </a:r>
          </a:p>
          <a:p>
            <a:pPr eaLnBrk="1" hangingPunct="1">
              <a:lnSpc>
                <a:spcPct val="90000"/>
              </a:lnSpc>
            </a:pPr>
            <a:r>
              <a:rPr lang="en-GB" sz="2800" b="1" dirty="0"/>
              <a:t>Responsibility: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dirty="0"/>
              <a:t>Defines an interface for out-of-band services.</a:t>
            </a:r>
          </a:p>
        </p:txBody>
      </p:sp>
    </p:spTree>
    <p:extLst>
      <p:ext uri="{BB962C8B-B14F-4D97-AF65-F5344CB8AC3E}">
        <p14:creationId xmlns:p14="http://schemas.microsoft.com/office/powerpoint/2010/main" val="987909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6D3FEBFF-A31A-48E2-8F09-8C830B8FB615}" type="slidenum">
              <a:rPr lang="en-US" altLang="en-US"/>
              <a:pPr>
                <a:defRPr/>
              </a:pPr>
              <a:t>16</a:t>
            </a:fld>
            <a:endParaRPr lang="en-US" altLang="en-US" dirty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204072" y="188640"/>
            <a:ext cx="8328367" cy="704101"/>
          </a:xfrm>
        </p:spPr>
        <p:txBody>
          <a:bodyPr/>
          <a:lstStyle/>
          <a:p>
            <a:pPr eaLnBrk="1" hangingPunct="1"/>
            <a:r>
              <a:rPr lang="en-GB" sz="3800" dirty="0"/>
              <a:t>The Interceptor Architectural Pattern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013575"/>
            <a:ext cx="8964488" cy="5184577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2800" b="1" dirty="0"/>
              <a:t>Class: </a:t>
            </a:r>
            <a:r>
              <a:rPr lang="en-GB" sz="2800" b="1" dirty="0">
                <a:solidFill>
                  <a:srgbClr val="0000FF"/>
                </a:solidFill>
              </a:rPr>
              <a:t>Concrete Interceptor</a:t>
            </a:r>
          </a:p>
          <a:p>
            <a:pPr eaLnBrk="1" hangingPunct="1">
              <a:lnSpc>
                <a:spcPct val="90000"/>
              </a:lnSpc>
            </a:pPr>
            <a:r>
              <a:rPr lang="en-GB" sz="2800" b="1" dirty="0"/>
              <a:t>Collaborator: </a:t>
            </a:r>
            <a:r>
              <a:rPr lang="en-GB" sz="2800" dirty="0"/>
              <a:t>Context Object</a:t>
            </a:r>
          </a:p>
          <a:p>
            <a:pPr eaLnBrk="1" hangingPunct="1">
              <a:lnSpc>
                <a:spcPct val="90000"/>
              </a:lnSpc>
            </a:pPr>
            <a:r>
              <a:rPr lang="en-GB" sz="2800" b="1" dirty="0"/>
              <a:t>Responsibility: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dirty="0"/>
              <a:t>Implements a specific out-of-band service.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dirty="0"/>
              <a:t>Uses context object to control the concrete framework.</a:t>
            </a:r>
          </a:p>
          <a:p>
            <a:pPr lvl="1" eaLnBrk="1" hangingPunct="1">
              <a:lnSpc>
                <a:spcPct val="90000"/>
              </a:lnSpc>
            </a:pPr>
            <a:endParaRPr lang="en-GB" sz="1200" dirty="0"/>
          </a:p>
          <a:p>
            <a:pPr eaLnBrk="1" hangingPunct="1">
              <a:lnSpc>
                <a:spcPct val="90000"/>
              </a:lnSpc>
            </a:pPr>
            <a:r>
              <a:rPr lang="en-GB" sz="2800" b="1" dirty="0"/>
              <a:t>Class: </a:t>
            </a:r>
            <a:r>
              <a:rPr lang="en-GB" sz="2800" b="1" dirty="0">
                <a:solidFill>
                  <a:srgbClr val="0000FF"/>
                </a:solidFill>
              </a:rPr>
              <a:t>Dispatcher</a:t>
            </a:r>
          </a:p>
          <a:p>
            <a:pPr eaLnBrk="1" hangingPunct="1">
              <a:lnSpc>
                <a:spcPct val="90000"/>
              </a:lnSpc>
            </a:pPr>
            <a:r>
              <a:rPr lang="en-GB" sz="2800" b="1" dirty="0"/>
              <a:t>Collaborator: </a:t>
            </a:r>
            <a:r>
              <a:rPr lang="en-GB" sz="2800" dirty="0"/>
              <a:t>Interceptor, Application</a:t>
            </a:r>
          </a:p>
          <a:p>
            <a:pPr eaLnBrk="1" hangingPunct="1">
              <a:lnSpc>
                <a:spcPct val="90000"/>
              </a:lnSpc>
            </a:pPr>
            <a:r>
              <a:rPr lang="en-GB" sz="2800" b="1" dirty="0"/>
              <a:t>Responsibility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dirty="0"/>
              <a:t>Allows applications to register and remove concrete interceptors.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400" dirty="0"/>
              <a:t>Dispatches registered concrete interceptor callbacks when events occur.</a:t>
            </a:r>
          </a:p>
        </p:txBody>
      </p:sp>
    </p:spTree>
    <p:extLst>
      <p:ext uri="{BB962C8B-B14F-4D97-AF65-F5344CB8AC3E}">
        <p14:creationId xmlns:p14="http://schemas.microsoft.com/office/powerpoint/2010/main" val="1719078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9DCC642A-6337-43DC-8CF1-65F5DD7C880D}" type="slidenum">
              <a:rPr lang="en-US" altLang="en-US"/>
              <a:pPr>
                <a:defRPr/>
              </a:pPr>
              <a:t>17</a:t>
            </a:fld>
            <a:endParaRPr lang="en-US" altLang="en-US" dirty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188640"/>
            <a:ext cx="8208912" cy="704101"/>
          </a:xfrm>
        </p:spPr>
        <p:txBody>
          <a:bodyPr/>
          <a:lstStyle/>
          <a:p>
            <a:pPr eaLnBrk="1" hangingPunct="1"/>
            <a:r>
              <a:rPr lang="en-GB" sz="3800" dirty="0"/>
              <a:t>The Interceptor Architectural Pattern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4099" y="1049550"/>
            <a:ext cx="8856984" cy="5184576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sz="2600" b="1" dirty="0"/>
              <a:t>Class: </a:t>
            </a:r>
            <a:r>
              <a:rPr lang="en-GB" sz="2600" b="1" dirty="0">
                <a:solidFill>
                  <a:srgbClr val="0000FF"/>
                </a:solidFill>
              </a:rPr>
              <a:t>Context Object</a:t>
            </a:r>
          </a:p>
          <a:p>
            <a:pPr eaLnBrk="1" hangingPunct="1">
              <a:lnSpc>
                <a:spcPct val="90000"/>
              </a:lnSpc>
            </a:pPr>
            <a:r>
              <a:rPr lang="en-GB" sz="2600" b="1" dirty="0"/>
              <a:t>Collaborator: </a:t>
            </a:r>
            <a:r>
              <a:rPr lang="en-GB" sz="2600" dirty="0"/>
              <a:t>Concrete Framework</a:t>
            </a:r>
          </a:p>
          <a:p>
            <a:pPr eaLnBrk="1" hangingPunct="1">
              <a:lnSpc>
                <a:spcPct val="90000"/>
              </a:lnSpc>
            </a:pPr>
            <a:r>
              <a:rPr lang="en-GB" sz="2600" b="1" dirty="0"/>
              <a:t>Responsibility: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200" dirty="0"/>
              <a:t>Allows services to obtain state information from the concrete framework.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200" dirty="0"/>
              <a:t>Allows services to control certain behaviours in the concrete framework.</a:t>
            </a:r>
          </a:p>
          <a:p>
            <a:pPr lvl="1" eaLnBrk="1" hangingPunct="1">
              <a:lnSpc>
                <a:spcPct val="90000"/>
              </a:lnSpc>
            </a:pPr>
            <a:endParaRPr lang="en-GB" sz="2200" dirty="0"/>
          </a:p>
          <a:p>
            <a:pPr lvl="1" eaLnBrk="1" hangingPunct="1">
              <a:lnSpc>
                <a:spcPct val="90000"/>
              </a:lnSpc>
            </a:pPr>
            <a:endParaRPr lang="en-GB" sz="1050" dirty="0"/>
          </a:p>
          <a:p>
            <a:pPr eaLnBrk="1" hangingPunct="1">
              <a:lnSpc>
                <a:spcPct val="90000"/>
              </a:lnSpc>
            </a:pPr>
            <a:r>
              <a:rPr lang="en-GB" sz="2600" b="1" dirty="0"/>
              <a:t>Class: </a:t>
            </a:r>
            <a:r>
              <a:rPr lang="en-GB" sz="2600" b="1" dirty="0">
                <a:solidFill>
                  <a:srgbClr val="0000FF"/>
                </a:solidFill>
              </a:rPr>
              <a:t>Application</a:t>
            </a:r>
          </a:p>
          <a:p>
            <a:pPr eaLnBrk="1" hangingPunct="1">
              <a:lnSpc>
                <a:spcPct val="90000"/>
              </a:lnSpc>
            </a:pPr>
            <a:r>
              <a:rPr lang="en-GB" sz="2600" b="1" dirty="0"/>
              <a:t>Collaborator: </a:t>
            </a:r>
            <a:r>
              <a:rPr lang="en-GB" sz="2600" dirty="0"/>
              <a:t>Dispatcher, Concrete Interceptor</a:t>
            </a:r>
          </a:p>
          <a:p>
            <a:pPr eaLnBrk="1" hangingPunct="1">
              <a:lnSpc>
                <a:spcPct val="90000"/>
              </a:lnSpc>
            </a:pPr>
            <a:r>
              <a:rPr lang="en-GB" sz="2600" b="1" dirty="0"/>
              <a:t>Responsibility: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200" dirty="0"/>
              <a:t>Runs on top of the concrete framework.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200" dirty="0"/>
              <a:t>Instantiates concrete interceptors and registers them with dispatchers.</a:t>
            </a:r>
          </a:p>
        </p:txBody>
      </p:sp>
    </p:spTree>
    <p:extLst>
      <p:ext uri="{BB962C8B-B14F-4D97-AF65-F5344CB8AC3E}">
        <p14:creationId xmlns:p14="http://schemas.microsoft.com/office/powerpoint/2010/main" val="1665787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770" y="332656"/>
            <a:ext cx="7886700" cy="704101"/>
          </a:xfrm>
        </p:spPr>
        <p:txBody>
          <a:bodyPr/>
          <a:lstStyle/>
          <a:p>
            <a:r>
              <a:rPr lang="en-IE" sz="3200" dirty="0"/>
              <a:t>The Interceptor: Consequences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770" y="1036757"/>
            <a:ext cx="8435280" cy="504056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  <a:buNone/>
            </a:pPr>
            <a:r>
              <a:rPr lang="en-IE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Benefits:</a:t>
            </a:r>
          </a:p>
          <a:p>
            <a:pPr>
              <a:spcBef>
                <a:spcPts val="1200"/>
              </a:spcBef>
            </a:pPr>
            <a:r>
              <a:rPr lang="en-IE" sz="2000" b="1" dirty="0">
                <a:solidFill>
                  <a:srgbClr val="0000FF"/>
                </a:solidFill>
              </a:rPr>
              <a:t>Extensibility &amp; flexibility</a:t>
            </a:r>
          </a:p>
          <a:p>
            <a:pPr lvl="1">
              <a:spcBef>
                <a:spcPts val="1200"/>
              </a:spcBef>
            </a:pPr>
            <a:r>
              <a:rPr lang="en-IE" sz="2000" dirty="0"/>
              <a:t>Interceptors allow an application to evolve without breaking existing APIs &amp; components</a:t>
            </a:r>
          </a:p>
          <a:p>
            <a:pPr>
              <a:spcBef>
                <a:spcPts val="1200"/>
              </a:spcBef>
            </a:pPr>
            <a:r>
              <a:rPr lang="en-IE" sz="2000" b="1" dirty="0">
                <a:solidFill>
                  <a:srgbClr val="0000FF"/>
                </a:solidFill>
              </a:rPr>
              <a:t>Separation of concerns</a:t>
            </a:r>
          </a:p>
          <a:p>
            <a:pPr lvl="1">
              <a:spcBef>
                <a:spcPts val="1200"/>
              </a:spcBef>
            </a:pPr>
            <a:r>
              <a:rPr lang="en-IE" sz="2000" dirty="0"/>
              <a:t>Interceptors decouple the “functional” path from the “meta” path</a:t>
            </a:r>
          </a:p>
          <a:p>
            <a:pPr>
              <a:spcBef>
                <a:spcPts val="1200"/>
              </a:spcBef>
            </a:pPr>
            <a:r>
              <a:rPr lang="en-IE" sz="2000" b="1" dirty="0">
                <a:solidFill>
                  <a:srgbClr val="0000FF"/>
                </a:solidFill>
              </a:rPr>
              <a:t>Support for monitoring &amp; control of frameworks</a:t>
            </a:r>
          </a:p>
          <a:p>
            <a:pPr lvl="1">
              <a:spcBef>
                <a:spcPts val="1200"/>
              </a:spcBef>
            </a:pPr>
            <a:r>
              <a:rPr lang="en-IE" sz="2000" dirty="0"/>
              <a:t>e.g., generic logging mechanisms can be used to unobtrusively track application behaviour</a:t>
            </a:r>
          </a:p>
          <a:p>
            <a:pPr>
              <a:spcBef>
                <a:spcPts val="1200"/>
              </a:spcBef>
            </a:pPr>
            <a:r>
              <a:rPr lang="en-IE" sz="2000" b="1" dirty="0">
                <a:solidFill>
                  <a:srgbClr val="0000FF"/>
                </a:solidFill>
              </a:rPr>
              <a:t>Layer symmetry</a:t>
            </a:r>
          </a:p>
          <a:p>
            <a:pPr lvl="1">
              <a:spcBef>
                <a:spcPts val="1200"/>
              </a:spcBef>
            </a:pPr>
            <a:r>
              <a:rPr lang="en-IE" sz="2000" dirty="0"/>
              <a:t>Interceptors can perform transformations on a client-side whose inverse are performed on the server-side</a:t>
            </a:r>
          </a:p>
          <a:p>
            <a:pPr>
              <a:spcBef>
                <a:spcPts val="1200"/>
              </a:spcBef>
            </a:pPr>
            <a:r>
              <a:rPr lang="en-IE" sz="2000" b="1" dirty="0">
                <a:solidFill>
                  <a:srgbClr val="0000FF"/>
                </a:solidFill>
              </a:rPr>
              <a:t>Reusability</a:t>
            </a:r>
          </a:p>
          <a:p>
            <a:pPr lvl="1">
              <a:spcBef>
                <a:spcPts val="1200"/>
              </a:spcBef>
            </a:pPr>
            <a:r>
              <a:rPr lang="en-IE" sz="2000" dirty="0"/>
              <a:t>Interceptors can be reused for various general-purpose behaviours</a:t>
            </a:r>
          </a:p>
          <a:p>
            <a:pPr>
              <a:spcBef>
                <a:spcPts val="1200"/>
              </a:spcBef>
            </a:pPr>
            <a:endParaRPr lang="en-IE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ECFF13E-C658-4156-B9C3-03FAD67A09E6}" type="slidenum">
              <a:rPr lang="en-US" altLang="en-US" smtClean="0"/>
              <a:pPr/>
              <a:t>18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35824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AE4CC651-2229-4F2A-A42E-038862D33C67}" type="slidenum">
              <a:rPr lang="en-US" altLang="en-US"/>
              <a:pPr>
                <a:defRPr/>
              </a:pPr>
              <a:t>19</a:t>
            </a:fld>
            <a:endParaRPr lang="en-US" altLang="en-US" dirty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332656"/>
            <a:ext cx="7886700" cy="704101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/>
              <a:t>The Interceptor: Consequences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00807"/>
            <a:ext cx="8229600" cy="4896545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Liabilities: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IE" sz="2000" b="1" dirty="0">
                <a:solidFill>
                  <a:srgbClr val="0000FF"/>
                </a:solidFill>
              </a:rPr>
              <a:t>Complex design issues</a:t>
            </a:r>
          </a:p>
          <a:p>
            <a:pPr marL="841375" lvl="1" indent="-514350">
              <a:spcBef>
                <a:spcPts val="1200"/>
              </a:spcBef>
              <a:spcAft>
                <a:spcPts val="600"/>
              </a:spcAft>
            </a:pPr>
            <a:r>
              <a:rPr lang="en-IE" sz="2000" dirty="0"/>
              <a:t>Determining interceptor APIs &amp; semantics is non-trivial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IE" sz="2000" b="1" dirty="0">
                <a:solidFill>
                  <a:srgbClr val="0000FF"/>
                </a:solidFill>
              </a:rPr>
              <a:t>Malicious or erroneous interceptors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IE" sz="2000" b="1" dirty="0">
                <a:solidFill>
                  <a:srgbClr val="0000FF"/>
                </a:solidFill>
              </a:rPr>
              <a:t>Potential interception cascades</a:t>
            </a:r>
          </a:p>
          <a:p>
            <a:pPr marL="841375" lvl="1" indent="-514350">
              <a:spcBef>
                <a:spcPts val="1200"/>
              </a:spcBef>
              <a:spcAft>
                <a:spcPts val="600"/>
              </a:spcAft>
            </a:pPr>
            <a:r>
              <a:rPr lang="en-IE" sz="2000" dirty="0"/>
              <a:t>Interceptors can result in infinite recursion</a:t>
            </a:r>
          </a:p>
        </p:txBody>
      </p:sp>
    </p:spTree>
    <p:extLst>
      <p:ext uri="{BB962C8B-B14F-4D97-AF65-F5344CB8AC3E}">
        <p14:creationId xmlns:p14="http://schemas.microsoft.com/office/powerpoint/2010/main" val="3809183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Interceptor: Consequences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28800"/>
            <a:ext cx="8435280" cy="504056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E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Benefits:</a:t>
            </a:r>
          </a:p>
          <a:p>
            <a:r>
              <a:rPr lang="en-IE" b="1" dirty="0">
                <a:solidFill>
                  <a:srgbClr val="0000FF"/>
                </a:solidFill>
              </a:rPr>
              <a:t>Extensibility &amp; flexibility</a:t>
            </a:r>
          </a:p>
          <a:p>
            <a:pPr lvl="1"/>
            <a:r>
              <a:rPr lang="en-IE" dirty="0"/>
              <a:t>Interceptors allow an application to evolve without breaking existing APIs &amp; components</a:t>
            </a:r>
          </a:p>
          <a:p>
            <a:r>
              <a:rPr lang="en-IE" b="1" dirty="0">
                <a:solidFill>
                  <a:srgbClr val="0000FF"/>
                </a:solidFill>
              </a:rPr>
              <a:t>Separation of concerns</a:t>
            </a:r>
          </a:p>
          <a:p>
            <a:pPr lvl="1"/>
            <a:r>
              <a:rPr lang="en-IE" dirty="0"/>
              <a:t>Interceptors decouple the “functional” path from the “meta” path</a:t>
            </a:r>
          </a:p>
          <a:p>
            <a:r>
              <a:rPr lang="en-IE" b="1" dirty="0">
                <a:solidFill>
                  <a:srgbClr val="0000FF"/>
                </a:solidFill>
              </a:rPr>
              <a:t>Support for monitoring &amp; control of frameworks</a:t>
            </a:r>
          </a:p>
          <a:p>
            <a:pPr lvl="1"/>
            <a:r>
              <a:rPr lang="en-IE" dirty="0"/>
              <a:t>e.g., generic logging mechanisms can be used to unobtrusively track application behaviour</a:t>
            </a:r>
          </a:p>
          <a:p>
            <a:r>
              <a:rPr lang="en-IE" b="1" dirty="0">
                <a:solidFill>
                  <a:srgbClr val="0000FF"/>
                </a:solidFill>
              </a:rPr>
              <a:t>Layer symmetry</a:t>
            </a:r>
          </a:p>
          <a:p>
            <a:pPr lvl="1"/>
            <a:r>
              <a:rPr lang="en-IE" dirty="0"/>
              <a:t>Interceptors can perform transformations on a client-side whose inverse are performed on the server-side</a:t>
            </a:r>
          </a:p>
          <a:p>
            <a:r>
              <a:rPr lang="en-IE" b="1" dirty="0">
                <a:solidFill>
                  <a:srgbClr val="0000FF"/>
                </a:solidFill>
              </a:rPr>
              <a:t>Reusability</a:t>
            </a:r>
          </a:p>
          <a:p>
            <a:pPr lvl="1"/>
            <a:r>
              <a:rPr lang="en-IE" dirty="0"/>
              <a:t>Interceptors can be reused for various general-purpose behaviours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CFF13E-C658-4156-B9C3-03FAD67A09E6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554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7886700" cy="704101"/>
          </a:xfrm>
        </p:spPr>
        <p:txBody>
          <a:bodyPr/>
          <a:lstStyle/>
          <a:p>
            <a:r>
              <a:rPr lang="en-IE" sz="3200" dirty="0"/>
              <a:t>Known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118233"/>
            <a:ext cx="8229600" cy="4968552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sz="2000" b="1" dirty="0">
                <a:solidFill>
                  <a:srgbClr val="0000FF"/>
                </a:solidFill>
              </a:rPr>
              <a:t>All middleware platforms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sz="2000" dirty="0"/>
              <a:t>Glassfish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GB" sz="2000" dirty="0"/>
              <a:t>https://glassfish.java.net/docs/v3/api/javax/interceptor/package-summary.html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sz="2000" dirty="0">
                <a:hlinkClick r:id="" action="ppaction://noaction"/>
              </a:rPr>
              <a:t>Apache Tomcat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GB" sz="2000" dirty="0">
                <a:hlinkClick r:id="" action="ppaction://noaction"/>
              </a:rPr>
              <a:t>http://tomcat.apache.org/tomcat-6.0-doc/config/cluster-interceptor.html</a:t>
            </a:r>
            <a:endParaRPr lang="en-GB" sz="2000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sz="2000" dirty="0"/>
              <a:t>Document Interceptor for Sharepoint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GB" sz="2000" dirty="0"/>
              <a:t>http://www.archibus.com/ai/abizfiles/v19.3_help/system-management-help/Content/web_services/webservices_example7.htm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sz="2000" dirty="0"/>
              <a:t>Microsoft Internet Explorer to register plugins for specific media types.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DEE43C-A2B2-4ED3-80FC-3263ECAC7A8C}" type="slidenum">
              <a:rPr lang="en-US" altLang="en-US" smtClean="0"/>
              <a:pPr/>
              <a:t>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203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Interceptor Architectural Pattern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3F4E989-F763-4004-9F33-B18218F0D50C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691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E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Seven steps </a:t>
            </a:r>
            <a:r>
              <a:rPr lang="en-IE" sz="2800" dirty="0"/>
              <a:t>to implement the Interceptor Architectural Pattern: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IE" sz="2800" b="1" dirty="0"/>
              <a:t>Model the Internal Behaviour of the Framework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IE" sz="2800" b="1" dirty="0"/>
              <a:t>Identify and Model Interception Points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IE" sz="2800" b="1" dirty="0"/>
              <a:t>Specify the Context Objects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IE" sz="2800" b="1" dirty="0"/>
              <a:t>Specify the Interceptors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IE" sz="2800" b="1" dirty="0"/>
              <a:t>Specify the Dispatchers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IE" sz="2800" b="1" dirty="0"/>
              <a:t>Implement the Callback Mechanisms in the Concrete Framework.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IE" sz="2800" b="1" dirty="0"/>
              <a:t>Implement the Concrete Interceptors</a:t>
            </a:r>
          </a:p>
        </p:txBody>
      </p:sp>
    </p:spTree>
    <p:extLst>
      <p:ext uri="{BB962C8B-B14F-4D97-AF65-F5344CB8AC3E}">
        <p14:creationId xmlns:p14="http://schemas.microsoft.com/office/powerpoint/2010/main" val="999565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marL="0" marR="0" lvl="0" indent="0" algn="r" defTabSz="7129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005336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pPr marL="0" marR="0" lvl="0" indent="0" algn="r" defTabSz="7129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5336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sp>
        <p:nvSpPr>
          <p:cNvPr id="152" name="Rectangle"/>
          <p:cNvSpPr/>
          <p:nvPr/>
        </p:nvSpPr>
        <p:spPr>
          <a:xfrm>
            <a:off x="0" y="857251"/>
            <a:ext cx="762000" cy="5143500"/>
          </a:xfrm>
          <a:prstGeom prst="rect">
            <a:avLst/>
          </a:prstGeom>
          <a:solidFill>
            <a:srgbClr val="202329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7129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Helvetica Neue Medium"/>
            </a:endParaRPr>
          </a:p>
        </p:txBody>
      </p:sp>
      <p:sp>
        <p:nvSpPr>
          <p:cNvPr id="154" name="M Point"/>
          <p:cNvSpPr txBox="1"/>
          <p:nvPr/>
        </p:nvSpPr>
        <p:spPr>
          <a:xfrm rot="16200000">
            <a:off x="-449194" y="3616420"/>
            <a:ext cx="1663917" cy="144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b="0">
                <a:solidFill>
                  <a:srgbClr val="F7F9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 marL="0" marR="0" lvl="0" indent="0" algn="l" defTabSz="7129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936" b="0" i="0" u="none" strike="noStrike" kern="1200" cap="none" spc="0" normalizeH="0" baseline="0" noProof="0" dirty="0">
                <a:ln>
                  <a:noFill/>
                </a:ln>
                <a:solidFill>
                  <a:srgbClr val="F7F9FF"/>
                </a:solidFill>
                <a:effectLst/>
                <a:uLnTx/>
                <a:uFillTx/>
                <a:latin typeface="Poppins Medium"/>
                <a:sym typeface="Poppins Medium"/>
              </a:rPr>
              <a:t>Advanced Software Design</a:t>
            </a:r>
            <a:r>
              <a:rPr kumimoji="0" lang="ga-IE" sz="936" b="0" i="0" u="none" strike="noStrike" kern="1200" cap="none" spc="0" normalizeH="0" baseline="0" noProof="0" dirty="0">
                <a:ln>
                  <a:noFill/>
                </a:ln>
                <a:solidFill>
                  <a:srgbClr val="F7F9FF"/>
                </a:solidFill>
                <a:effectLst/>
                <a:uLnTx/>
                <a:uFillTx/>
                <a:latin typeface="Poppins Medium"/>
                <a:sym typeface="Poppins Medium"/>
              </a:rPr>
              <a:t> </a:t>
            </a:r>
          </a:p>
        </p:txBody>
      </p:sp>
      <p:sp>
        <p:nvSpPr>
          <p:cNvPr id="155" name="Seamlessly develop orthogonal readiness before…"/>
          <p:cNvSpPr txBox="1"/>
          <p:nvPr/>
        </p:nvSpPr>
        <p:spPr>
          <a:xfrm>
            <a:off x="5076056" y="2166747"/>
            <a:ext cx="3880048" cy="298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285750" marR="0" lvl="0" indent="-285750" algn="l" defTabSz="712984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q"/>
              <a:tabLst/>
              <a:defRPr sz="1800" b="0">
                <a:solidFill>
                  <a:srgbClr val="696E78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rPr kumimoji="0" lang="en-IE" sz="2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Poppins Light"/>
                <a:sym typeface="Poppins Light"/>
              </a:rPr>
              <a:t> </a:t>
            </a:r>
            <a:r>
              <a:rPr lang="en-IE" sz="2000" dirty="0">
                <a:solidFill>
                  <a:srgbClr val="E7E6E6">
                    <a:lumMod val="25000"/>
                  </a:srgbClr>
                </a:solidFill>
                <a:latin typeface="Poppins Light"/>
                <a:sym typeface="Poppins Light"/>
              </a:rPr>
              <a:t>Lookup the interceptor.</a:t>
            </a:r>
          </a:p>
          <a:p>
            <a:pPr marL="285750" marR="0" lvl="0" indent="-285750" algn="l" defTabSz="712984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q"/>
              <a:tabLst/>
              <a:defRPr sz="1800" b="0">
                <a:solidFill>
                  <a:srgbClr val="696E78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rPr lang="en-IE" sz="2000" dirty="0">
                <a:solidFill>
                  <a:srgbClr val="E7E6E6">
                    <a:lumMod val="25000"/>
                  </a:srgbClr>
                </a:solidFill>
                <a:latin typeface="Poppins Light"/>
                <a:sym typeface="Poppins Light"/>
              </a:rPr>
              <a:t>Study lecture notes on interceptor.</a:t>
            </a:r>
          </a:p>
          <a:p>
            <a:pPr marL="285750" marR="0" lvl="0" indent="-285750" algn="l" defTabSz="712984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q"/>
              <a:tabLst/>
              <a:defRPr sz="1800" b="0">
                <a:solidFill>
                  <a:srgbClr val="696E78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r>
              <a:rPr lang="en-IE" sz="2000" dirty="0">
                <a:solidFill>
                  <a:srgbClr val="E7E6E6">
                    <a:lumMod val="25000"/>
                  </a:srgbClr>
                </a:solidFill>
                <a:latin typeface="Poppins Light"/>
                <a:sym typeface="Poppins Light"/>
              </a:rPr>
              <a:t>Draw sequence diagram without referring to the notes.</a:t>
            </a:r>
          </a:p>
          <a:p>
            <a:pPr marL="0" marR="0" lvl="0" indent="0" algn="l" defTabSz="712984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696E78"/>
                </a:solidFill>
                <a:latin typeface="Poppins Light"/>
                <a:ea typeface="Poppins Light"/>
                <a:cs typeface="Poppins Light"/>
                <a:sym typeface="Poppins Light"/>
              </a:defRPr>
            </a:pPr>
            <a:endParaRPr kumimoji="0" sz="675" b="0" i="0" u="none" strike="noStrike" kern="1200" cap="none" spc="0" normalizeH="0" baseline="0" noProof="0" dirty="0">
              <a:ln>
                <a:noFill/>
              </a:ln>
              <a:solidFill>
                <a:srgbClr val="696E78"/>
              </a:solidFill>
              <a:effectLst/>
              <a:uLnTx/>
              <a:uFillTx/>
              <a:latin typeface="Poppins Light"/>
              <a:sym typeface="Poppins Light"/>
            </a:endParaRPr>
          </a:p>
        </p:txBody>
      </p:sp>
      <p:sp>
        <p:nvSpPr>
          <p:cNvPr id="156" name="The secret to creativity is…"/>
          <p:cNvSpPr txBox="1"/>
          <p:nvPr/>
        </p:nvSpPr>
        <p:spPr>
          <a:xfrm>
            <a:off x="6012160" y="1412776"/>
            <a:ext cx="2943944" cy="311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7129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>
                <a:solidFill>
                  <a:srgbClr val="3D3D3D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pPr>
            <a:r>
              <a:rPr lang="en-IE" sz="2025" dirty="0">
                <a:solidFill>
                  <a:srgbClr val="00B140"/>
                </a:solidFill>
                <a:latin typeface="Poppins Medium"/>
                <a:sym typeface="Poppins Medium"/>
              </a:rPr>
              <a:t>Homework</a:t>
            </a:r>
            <a:endParaRPr kumimoji="0" sz="2025" b="0" i="0" u="none" strike="noStrike" kern="1200" cap="none" spc="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Poppins Medium"/>
              <a:sym typeface="Poppins Mediu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1640" y="6347340"/>
            <a:ext cx="1689630" cy="3084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7129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404" b="1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© www.infoq.com</a:t>
            </a:r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2" r="828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8566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UL">
      <a:dk1>
        <a:srgbClr val="171616"/>
      </a:dk1>
      <a:lt1>
        <a:sysClr val="window" lastClr="FFFFFF"/>
      </a:lt1>
      <a:dk2>
        <a:srgbClr val="7F7F7F"/>
      </a:dk2>
      <a:lt2>
        <a:srgbClr val="E7E6E6"/>
      </a:lt2>
      <a:accent1>
        <a:srgbClr val="00B140"/>
      </a:accent1>
      <a:accent2>
        <a:srgbClr val="034638"/>
      </a:accent2>
      <a:accent3>
        <a:srgbClr val="00A3E0"/>
      </a:accent3>
      <a:accent4>
        <a:srgbClr val="FFC72C"/>
      </a:accent4>
      <a:accent5>
        <a:srgbClr val="E31C79"/>
      </a:accent5>
      <a:accent6>
        <a:srgbClr val="D45D00"/>
      </a:accent6>
      <a:hlink>
        <a:srgbClr val="00A3E0"/>
      </a:hlink>
      <a:folHlink>
        <a:srgbClr val="6F26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Presentation" id="{8C4FAECB-4FFE-514E-86E1-D19CB0E3BBD1}" vid="{3EB642C7-DB8F-A140-B2AB-5A42E3409E9F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0</TotalTime>
  <Words>1366</Words>
  <Application>Microsoft Office PowerPoint</Application>
  <PresentationFormat>On-screen Show (4:3)</PresentationFormat>
  <Paragraphs>213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5" baseType="lpstr">
      <vt:lpstr>Arial</vt:lpstr>
      <vt:lpstr>Calibri</vt:lpstr>
      <vt:lpstr>Georgia</vt:lpstr>
      <vt:lpstr>Helvetica</vt:lpstr>
      <vt:lpstr>Poppins Light</vt:lpstr>
      <vt:lpstr>Poppins Medium</vt:lpstr>
      <vt:lpstr>Tw Cen MT</vt:lpstr>
      <vt:lpstr>Verdana</vt:lpstr>
      <vt:lpstr>Wingdings</vt:lpstr>
      <vt:lpstr>Wingdings 2</vt:lpstr>
      <vt:lpstr>Median</vt:lpstr>
      <vt:lpstr>Office Theme</vt:lpstr>
      <vt:lpstr> CS6451: Advanced Software Design  Lecture I: Interceptor Part 1  J.J. Collins Dept. of CSIS</vt:lpstr>
      <vt:lpstr>PowerPoint Presentation</vt:lpstr>
      <vt:lpstr>PowerPoint Presentation</vt:lpstr>
      <vt:lpstr>PowerPoint Presentation</vt:lpstr>
      <vt:lpstr>The Interceptor Architectural Pattern</vt:lpstr>
      <vt:lpstr>The Interceptor Architectural Pattern</vt:lpstr>
      <vt:lpstr>The Interceptor Architectural Pattern</vt:lpstr>
      <vt:lpstr>Extending the Framework</vt:lpstr>
      <vt:lpstr>The Interceptor Architectural Pattern</vt:lpstr>
      <vt:lpstr>The Interceptor Architectural Pattern</vt:lpstr>
      <vt:lpstr>The Interceptor Architectural Pattern</vt:lpstr>
      <vt:lpstr>The Interceptor Architectural Pattern</vt:lpstr>
      <vt:lpstr>The Interceptor Architectural Pattern</vt:lpstr>
      <vt:lpstr>The Interceptor Architectural Pattern</vt:lpstr>
      <vt:lpstr>The Interceptor Architectural Pattern</vt:lpstr>
      <vt:lpstr>The Interceptor Architectural Pattern</vt:lpstr>
      <vt:lpstr>The Interceptor Architectural Pattern</vt:lpstr>
      <vt:lpstr>The Interceptor: Consequences</vt:lpstr>
      <vt:lpstr>The Interceptor: Consequences</vt:lpstr>
      <vt:lpstr>The Interceptor: Consequences</vt:lpstr>
      <vt:lpstr>Known Uses</vt:lpstr>
      <vt:lpstr>The Interceptor Architectural Pattern</vt:lpstr>
      <vt:lpstr>PowerPoint Presentation</vt:lpstr>
    </vt:vector>
  </TitlesOfParts>
  <Company>University of Limerick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JJC</dc:title>
  <dc:creator>CSIS</dc:creator>
  <cp:lastModifiedBy>J.J.Collins</cp:lastModifiedBy>
  <cp:revision>125</cp:revision>
  <cp:lastPrinted>2020-01-31T10:26:06Z</cp:lastPrinted>
  <dcterms:created xsi:type="dcterms:W3CDTF">2008-09-09T07:32:24Z</dcterms:created>
  <dcterms:modified xsi:type="dcterms:W3CDTF">2026-10-21T08:48:05Z</dcterms:modified>
</cp:coreProperties>
</file>